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y="10287000" cx="18288000"/>
  <p:notesSz cx="6858000" cy="9144000"/>
  <p:embeddedFontLst>
    <p:embeddedFont>
      <p:font typeface="Montserrat"/>
      <p:regular r:id="rId65"/>
      <p:bold r:id="rId66"/>
      <p:italic r:id="rId67"/>
      <p:boldItalic r:id="rId68"/>
    </p:embeddedFont>
    <p:embeddedFont>
      <p:font typeface="Roboto Mono"/>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16">
          <p15:clr>
            <a:srgbClr val="000000"/>
          </p15:clr>
        </p15:guide>
        <p15:guide id="2" pos="5784">
          <p15:clr>
            <a:srgbClr val="000000"/>
          </p15:clr>
        </p15:guide>
      </p15:sldGuideLst>
    </p:ext>
    <p:ext uri="GoogleSlidesCustomDataVersion2">
      <go:slidesCustomData xmlns:go="http://customooxmlschemas.google.com/" r:id="rId73" roundtripDataSignature="AMtx7miAB3igk64A0xnSjGLCVrs7KSbT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16" orient="horz"/>
        <p:guide pos="578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customschemas.google.com/relationships/presentationmetadata" Target="metadata"/><Relationship Id="rId72" Type="http://schemas.openxmlformats.org/officeDocument/2006/relationships/font" Target="fonts/RobotoMono-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obotoMono-italic.fntdata"/><Relationship Id="rId70" Type="http://schemas.openxmlformats.org/officeDocument/2006/relationships/font" Target="fonts/RobotoMono-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Montserrat-bold.fntdata"/><Relationship Id="rId21" Type="http://schemas.openxmlformats.org/officeDocument/2006/relationships/slide" Target="slides/slide15.xml"/><Relationship Id="rId65" Type="http://schemas.openxmlformats.org/officeDocument/2006/relationships/font" Target="fonts/Montserrat-regular.fntdata"/><Relationship Id="rId24" Type="http://schemas.openxmlformats.org/officeDocument/2006/relationships/slide" Target="slides/slide18.xml"/><Relationship Id="rId68" Type="http://schemas.openxmlformats.org/officeDocument/2006/relationships/font" Target="fonts/Montserrat-boldItalic.fntdata"/><Relationship Id="rId23" Type="http://schemas.openxmlformats.org/officeDocument/2006/relationships/slide" Target="slides/slide17.xml"/><Relationship Id="rId67" Type="http://schemas.openxmlformats.org/officeDocument/2006/relationships/font" Target="fonts/Montserrat-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Mono-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00000"/>
              </a:lnSpc>
              <a:spcBef>
                <a:spcPts val="0"/>
              </a:spcBef>
              <a:spcAft>
                <a:spcPts val="0"/>
              </a:spcAft>
              <a:buSzPts val="1300"/>
              <a:buAutoNum type="arabicParenR"/>
            </a:pPr>
            <a:r>
              <a:rPr lang="en-US" sz="1300"/>
              <a:t>Nói một cách đơn giản nhất, Power BI là một nền tảng phân tích dữ liệu kinh doanh được phát triển bởi Microsoft. Nó là một bộ sưu tập các công cụ và dịch vụ giúp các doanh nghiệp thu thập, quản lý và phân tích dữ liệu từ nhiều nguồn khác nhau."</a:t>
            </a:r>
            <a:endParaRPr sz="1300"/>
          </a:p>
          <a:p>
            <a:pPr indent="-311150" lvl="0" marL="457200" marR="0" rtl="0" algn="l">
              <a:lnSpc>
                <a:spcPct val="100000"/>
              </a:lnSpc>
              <a:spcBef>
                <a:spcPts val="0"/>
              </a:spcBef>
              <a:spcAft>
                <a:spcPts val="0"/>
              </a:spcAft>
              <a:buSzPts val="1300"/>
              <a:buAutoNum type="arabicParenR"/>
            </a:pPr>
            <a:r>
              <a:rPr lang="en-US" sz="1300"/>
              <a:t>Thì mục đích chính của Power BI là gì? Đó chính là 'biến đổi dữ liệu thô thành những thông tin hữu ích và có giá trị'. Hãy tưởng tượng bạn có hàng ngàn dòng dữ liệu trong một file Excel. Bản thân những con số đó không nói lên nhiều điều. Power BI sẽ giúp chúng ta 'kể câu chuyện' đằng sau những con số đó, tìm ra các xu hướng, các điểm bất thường và những insight đắt giá."</a:t>
            </a:r>
            <a:endParaRPr sz="1300"/>
          </a:p>
          <a:p>
            <a:pPr indent="-311150" lvl="0" marL="457200" marR="0" rtl="0" algn="l">
              <a:lnSpc>
                <a:spcPct val="100000"/>
              </a:lnSpc>
              <a:spcBef>
                <a:spcPts val="0"/>
              </a:spcBef>
              <a:spcAft>
                <a:spcPts val="0"/>
              </a:spcAft>
              <a:buSzPts val="1300"/>
              <a:buAutoNum type="arabicParenR"/>
            </a:pPr>
            <a:r>
              <a:rPr lang="en-US" sz="1300"/>
              <a:t>Quan trọng nhất PowerBI cho phép chúng ta thực hiện quy trình hoàn chỉnh: kết nối, xử lý, trực quan hóa và chia sẻ báo cáo, dashboard</a:t>
            </a:r>
            <a:br>
              <a:rPr lang="en-US" sz="1300"/>
            </a:br>
            <a:br>
              <a:rPr lang="en-US" sz="1300"/>
            </a:br>
            <a:br>
              <a:rPr lang="en-US" sz="1300"/>
            </a:b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afd2df374_4_3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9afd2df374_4_3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00000"/>
              </a:lnSpc>
              <a:spcBef>
                <a:spcPts val="0"/>
              </a:spcBef>
              <a:spcAft>
                <a:spcPts val="0"/>
              </a:spcAft>
              <a:buClr>
                <a:srgbClr val="000000"/>
              </a:buClr>
              <a:buSzPts val="1300"/>
              <a:buFont typeface="Arial"/>
              <a:buAutoNum type="arabicParenR"/>
            </a:pPr>
            <a:r>
              <a:rPr b="1" lang="en-US">
                <a:solidFill>
                  <a:schemeClr val="dk1"/>
                </a:solidFill>
              </a:rPr>
              <a:t>Nguồn dữ liệu (Data Sources)</a:t>
            </a:r>
            <a:r>
              <a:rPr lang="en-US">
                <a:solidFill>
                  <a:schemeClr val="dk1"/>
                </a:solidFill>
              </a:rPr>
              <a:t>. Power BI rất linh hoạt, nó có thể lấy dữ liệu từ hàng trăm nơi khác nhau – từ một file Excel hay CSV đơn giản, một database của công ty như SQL Server, cho đến các dịch vụ đám mây như Google Analytics</a:t>
            </a:r>
            <a:endParaRPr>
              <a:solidFill>
                <a:schemeClr val="dk1"/>
              </a:solidFill>
            </a:endParaRPr>
          </a:p>
          <a:p>
            <a:pPr indent="-298450" lvl="0" marL="457200" marR="0" rtl="0" algn="l">
              <a:lnSpc>
                <a:spcPct val="100000"/>
              </a:lnSpc>
              <a:spcBef>
                <a:spcPts val="0"/>
              </a:spcBef>
              <a:spcAft>
                <a:spcPts val="0"/>
              </a:spcAft>
              <a:buClr>
                <a:schemeClr val="dk1"/>
              </a:buClr>
              <a:buSzPts val="1100"/>
              <a:buAutoNum type="arabicParenR"/>
            </a:pPr>
            <a:r>
              <a:rPr b="1" lang="en-US">
                <a:solidFill>
                  <a:schemeClr val="dk1"/>
                </a:solidFill>
              </a:rPr>
              <a:t>Power BI Desktop </a:t>
            </a:r>
            <a:r>
              <a:rPr lang="en-US">
                <a:solidFill>
                  <a:schemeClr val="dk1"/>
                </a:solidFill>
              </a:rPr>
              <a:t>Đây là một ứng dụng miễn phí được cài đặt trên máy tính. Nó là công cụ chính để phát triển báo cáo. Tại đây, bạn sẽ kết nối tới các nguồn dữ liệu, làm sạch và mô hình hóa dữ liệu, sau đó thiết kế các báo cáo tương tác bằng cách kéo-thả để tạo biểu đồ</a:t>
            </a:r>
            <a:endParaRPr>
              <a:solidFill>
                <a:schemeClr val="dk1"/>
              </a:solidFill>
            </a:endParaRPr>
          </a:p>
          <a:p>
            <a:pPr indent="-298450" lvl="0" marL="457200" marR="0" rtl="0" algn="l">
              <a:lnSpc>
                <a:spcPct val="100000"/>
              </a:lnSpc>
              <a:spcBef>
                <a:spcPts val="0"/>
              </a:spcBef>
              <a:spcAft>
                <a:spcPts val="0"/>
              </a:spcAft>
              <a:buClr>
                <a:schemeClr val="dk1"/>
              </a:buClr>
              <a:buSzPts val="1100"/>
              <a:buAutoNum type="arabicParenR"/>
            </a:pPr>
            <a:r>
              <a:rPr b="1" lang="en-US">
                <a:solidFill>
                  <a:schemeClr val="dk1"/>
                </a:solidFill>
              </a:rPr>
              <a:t>Power BI Service</a:t>
            </a:r>
            <a:r>
              <a:rPr lang="en-US">
                <a:solidFill>
                  <a:schemeClr val="dk1"/>
                </a:solidFill>
              </a:rPr>
              <a:t>, đây chính là 'trái tim' trên nền tảng đám mây của kiến trúc này. Power BI Service là nơi báo cáo của bạn được lưu trữ, nơi bạn có thể tạo các dashboard, và quản lý việc chia sẻ cũng như bảo mật."</a:t>
            </a:r>
            <a:endParaRPr>
              <a:solidFill>
                <a:schemeClr val="dk1"/>
              </a:solidFill>
            </a:endParaRPr>
          </a:p>
          <a:p>
            <a:pPr indent="-298450" lvl="0" marL="457200" marR="0" rtl="0" algn="l">
              <a:lnSpc>
                <a:spcPct val="100000"/>
              </a:lnSpc>
              <a:spcBef>
                <a:spcPts val="0"/>
              </a:spcBef>
              <a:spcAft>
                <a:spcPts val="0"/>
              </a:spcAft>
              <a:buClr>
                <a:schemeClr val="dk1"/>
              </a:buClr>
              <a:buSzPts val="1100"/>
              <a:buAutoNum type="arabicParenR"/>
            </a:pPr>
            <a:r>
              <a:rPr lang="en-US">
                <a:solidFill>
                  <a:schemeClr val="dk1"/>
                </a:solidFill>
              </a:rPr>
              <a:t>Vậy, nếu dữ liệu của bạn nằm trên một máy chủ nội bộ trong công ty chứ không phải trên đám mây thì sao? Đó là lúc </a:t>
            </a:r>
            <a:r>
              <a:rPr b="1" lang="en-US">
                <a:solidFill>
                  <a:schemeClr val="dk1"/>
                </a:solidFill>
              </a:rPr>
              <a:t>Power BI Gateway</a:t>
            </a:r>
            <a:r>
              <a:rPr lang="en-US">
                <a:solidFill>
                  <a:schemeClr val="dk1"/>
                </a:solidFill>
              </a:rPr>
              <a:t> phát huy tác dụng.</a:t>
            </a:r>
            <a:endParaRPr>
              <a:solidFill>
                <a:schemeClr val="dk1"/>
              </a:solidFill>
            </a:endParaRPr>
          </a:p>
          <a:p>
            <a:pPr indent="-298450" lvl="0" marL="457200" marR="0" rtl="0" algn="l">
              <a:lnSpc>
                <a:spcPct val="100000"/>
              </a:lnSpc>
              <a:spcBef>
                <a:spcPts val="0"/>
              </a:spcBef>
              <a:spcAft>
                <a:spcPts val="0"/>
              </a:spcAft>
              <a:buClr>
                <a:schemeClr val="dk1"/>
              </a:buClr>
              <a:buSzPts val="1100"/>
              <a:buAutoNum type="arabicParenR"/>
            </a:pPr>
            <a:r>
              <a:rPr lang="en-US">
                <a:solidFill>
                  <a:schemeClr val="dk1"/>
                </a:solidFill>
              </a:rPr>
              <a:t>Khi báo cáo đã có trên Power BI Service, đồng nghiệp của bạn có thể </a:t>
            </a:r>
            <a:r>
              <a:rPr b="1" lang="en-US">
                <a:solidFill>
                  <a:schemeClr val="dk1"/>
                </a:solidFill>
              </a:rPr>
              <a:t>Truy cập và Chia sẻ (Access &amp; Share)</a:t>
            </a:r>
            <a:r>
              <a:rPr lang="en-US">
                <a:solidFill>
                  <a:schemeClr val="dk1"/>
                </a:solidFill>
              </a:rPr>
              <a:t> chúng một cách an toàn. Họ có thể xem báo cáo trên bất kỳ trình duyệt web nào hoặc thông qua ứng dụng Power BI di động trên điện thoại và máy tính bảng</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afd2df374_3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9afd2df374_3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rPr b="1" lang="en-US">
                <a:solidFill>
                  <a:schemeClr val="dk1"/>
                </a:solidFill>
              </a:rPr>
              <a:t>Power BI Desktop</a:t>
            </a:r>
            <a:r>
              <a:rPr lang="en-US">
                <a:solidFill>
                  <a:schemeClr val="dk1"/>
                </a:solidFill>
              </a:rPr>
              <a:t>. Đây là một ứng dụng miễn phí được cài đặt trên máy tính. Nó là công cụ chính để phát triển báo cáo. Tại đây, bạn sẽ kết nối tới các nguồn dữ liệu, làm sạch và mô hình hóa dữ liệu, sau đó thiết kế các báo cáo tương tác bằng cách kéo-thả để tạo biểu đồ."</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9afd2df374_3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9afd2df374_3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11150" lvl="0" marL="914400" rtl="0" algn="l">
              <a:spcBef>
                <a:spcPts val="0"/>
              </a:spcBef>
              <a:spcAft>
                <a:spcPts val="0"/>
              </a:spcAft>
              <a:buSzPts val="1300"/>
              <a:buAutoNum type="arabicParenR"/>
            </a:pPr>
            <a:r>
              <a:rPr lang="en-US">
                <a:solidFill>
                  <a:schemeClr val="dk1"/>
                </a:solidFill>
              </a:rPr>
              <a:t>Đầu tiên là </a:t>
            </a:r>
            <a:r>
              <a:rPr b="1" lang="en-US">
                <a:solidFill>
                  <a:schemeClr val="dk1"/>
                </a:solidFill>
              </a:rPr>
              <a:t>Power Query</a:t>
            </a:r>
            <a:r>
              <a:rPr lang="en-US">
                <a:solidFill>
                  <a:schemeClr val="dk1"/>
                </a:solidFill>
              </a:rPr>
              <a:t>. Đây là công cụ xử lý phần 'hậu trường'. Hãy tưởng tượng nó như một người đầu bếp đang sơ chế nguyên liệu. Nhiệm vụ chính của nó là </a:t>
            </a:r>
            <a:r>
              <a:rPr b="1" lang="en-US">
                <a:solidFill>
                  <a:schemeClr val="dk1"/>
                </a:solidFill>
              </a:rPr>
              <a:t>ETL (Extract, Transform, Load)</a:t>
            </a:r>
            <a:r>
              <a:rPr lang="en-US">
                <a:solidFill>
                  <a:schemeClr val="dk1"/>
                </a:solidFill>
              </a:rPr>
              <a:t> - tức là trích xuất dữ liệu từ rất nhiều nguồn, sau đó 'làm sạch' và 'biến đổi' dữ liệu đó. Ví dụ như xóa các dòng trống, tách cột, hay chuyển đổi định dạng. Đây là bước cực kỳ quan trọng để đảm bảo dữ liệu đầu vào của chúng ta chuẩn và đáng tin cậy.</a:t>
            </a:r>
            <a:endParaRPr>
              <a:solidFill>
                <a:schemeClr val="dk1"/>
              </a:solidFill>
            </a:endParaRPr>
          </a:p>
          <a:p>
            <a:pPr indent="-298450" lvl="0" marL="914400" rtl="0" algn="l">
              <a:spcBef>
                <a:spcPts val="0"/>
              </a:spcBef>
              <a:spcAft>
                <a:spcPts val="0"/>
              </a:spcAft>
              <a:buClr>
                <a:schemeClr val="dk1"/>
              </a:buClr>
              <a:buSzPts val="1100"/>
              <a:buAutoNum type="arabicParenR"/>
            </a:pPr>
            <a:r>
              <a:rPr lang="en-US">
                <a:solidFill>
                  <a:schemeClr val="dk1"/>
                </a:solidFill>
              </a:rPr>
              <a:t>Tiếp theo, sau khi dữ liệu đã được làm sạch, chúng ta đến với </a:t>
            </a:r>
            <a:r>
              <a:rPr b="1" lang="en-US">
                <a:solidFill>
                  <a:schemeClr val="dk1"/>
                </a:solidFill>
              </a:rPr>
              <a:t>Power Pivot</a:t>
            </a:r>
            <a:r>
              <a:rPr lang="en-US">
                <a:solidFill>
                  <a:schemeClr val="dk1"/>
                </a:solidFill>
              </a:rPr>
              <a:t>. Nếu Power Query là khâu sơ chế, thì Power Pivot là nơi chúng ta xây dựng 'bộ não' cho mô hình phân tích. </a:t>
            </a:r>
            <a:r>
              <a:rPr b="1" lang="en-US">
                <a:solidFill>
                  <a:schemeClr val="dk1"/>
                </a:solidFill>
              </a:rPr>
              <a:t>Mô hình hóa dữ liệu (Data Modeling):</a:t>
            </a:r>
            <a:r>
              <a:rPr lang="en-US">
                <a:solidFill>
                  <a:schemeClr val="dk1"/>
                </a:solidFill>
              </a:rPr>
              <a:t> Tức là kết nối các bảng dữ liệu khác nhau lại với nhau, ví dụ như nối bảng Doanh thu với bảng Khách hàng. </a:t>
            </a:r>
            <a:r>
              <a:rPr b="1" lang="en-US">
                <a:solidFill>
                  <a:schemeClr val="dk1"/>
                </a:solidFill>
              </a:rPr>
              <a:t>Sử dụng ngôn ngữ DAX:</a:t>
            </a:r>
            <a:r>
              <a:rPr lang="en-US">
                <a:solidFill>
                  <a:schemeClr val="dk1"/>
                </a:solidFill>
              </a:rPr>
              <a:t> DAX (Data Analysis Expressions) là ngôn ngữ công thức của Power BI. Chúng ta dùng DAX để tạo ra các chỉ số đo lường kinh doanh (measures) như 'Tổng doanh thu', '% tăng trưởng so với cùng kỳ',... Đây chính là nơi tạo ra sự thông minh cho báo cáo của bạn."</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afd2df374_3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39afd2df374_3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afd2df374_3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39afd2df374_3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f219a3a28_1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83" name="Google Shape;183;g3af219a3a28_1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f219a3a28_1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13" name="Google Shape;213;g3af219a3a28_1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afd2df374_3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39afd2df374_3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rPr lang="en-US">
                <a:solidFill>
                  <a:schemeClr val="dk1"/>
                </a:solidFill>
              </a:rPr>
              <a:t>Vậy, nếu dữ liệu của bạn nằm trên một máy chủ nội bộ trong công ty chứ không phải trên đám mây thì sao? Đó là lúc </a:t>
            </a:r>
            <a:r>
              <a:rPr b="1" lang="en-US">
                <a:solidFill>
                  <a:schemeClr val="dk1"/>
                </a:solidFill>
              </a:rPr>
              <a:t>Power BI Gateway</a:t>
            </a:r>
            <a:r>
              <a:rPr lang="en-US">
                <a:solidFill>
                  <a:schemeClr val="dk1"/>
                </a:solidFill>
              </a:rPr>
              <a:t> phát huy tác dụng. Gateway hoạt động như một cây cầu nối an toàn, cho phép Power BI Service kết nối ngược lại với dữ liệu tại chỗ (on-premise) của bạn để giữ cho báo cáo luôn được làm mới tự động với thông tin mới nhất."</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a3d77955e8_4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3a3d77955e8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Các biểu đồ phân tích xu hướng và biểu đồ theo thời gian</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US">
                <a:solidFill>
                  <a:schemeClr val="dk1"/>
                </a:solidFill>
              </a:rPr>
              <a:t>Area Chart (Biểu đồ Vùng):</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"Dùng để so sánh xu hướng giữa các đại lượng, nhưng điểm mạnh là nhấn mạnh vào </a:t>
            </a:r>
            <a:r>
              <a:rPr b="1" lang="en-US">
                <a:solidFill>
                  <a:schemeClr val="dk1"/>
                </a:solidFill>
              </a:rPr>
              <a:t>tổng quy mô (volume)</a:t>
            </a:r>
            <a:r>
              <a:rPr lang="en-US">
                <a:solidFill>
                  <a:schemeClr val="dk1"/>
                </a:solidFill>
              </a:rPr>
              <a:t>. Phần màu được tô giúp người xem cảm nhận rõ độ lớn của dữ liệu thay đổi thế nào qua thời gian."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a:solidFill>
                  <a:schemeClr val="dk1"/>
                </a:solidFill>
              </a:rPr>
              <a:t>Line Chart (Biểu đồ Đường):</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"Dùng để theo dõi sự </a:t>
            </a:r>
            <a:r>
              <a:rPr b="1" lang="en-US">
                <a:solidFill>
                  <a:schemeClr val="dk1"/>
                </a:solidFill>
              </a:rPr>
              <a:t>biến động chi tiết</a:t>
            </a:r>
            <a:r>
              <a:rPr lang="en-US">
                <a:solidFill>
                  <a:schemeClr val="dk1"/>
                </a:solidFill>
              </a:rPr>
              <a:t>. Dạng đường nét mảnh giúp ta dễ dàng nhìn thấy các đỉnh, đáy và đặc biệt là các </a:t>
            </a:r>
            <a:r>
              <a:rPr b="1" lang="en-US">
                <a:solidFill>
                  <a:schemeClr val="dk1"/>
                </a:solidFill>
              </a:rPr>
              <a:t>điểm giao cắt</a:t>
            </a:r>
            <a:r>
              <a:rPr lang="en-US">
                <a:solidFill>
                  <a:schemeClr val="dk1"/>
                </a:solidFill>
              </a:rPr>
              <a:t> chính xác giữa các đường để so sánh hiệu quả."</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a:solidFill>
                  <a:schemeClr val="dk1"/>
                </a:solidFill>
              </a:rPr>
              <a:t>Ribbon Chart (Biểu đồ Ruy-băng):</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"Dùng để theo dõi </a:t>
            </a:r>
            <a:r>
              <a:rPr b="1" lang="en-US">
                <a:solidFill>
                  <a:schemeClr val="dk1"/>
                </a:solidFill>
              </a:rPr>
              <a:t>sự thay đổi thứ hạng (Ranking)</a:t>
            </a:r>
            <a:r>
              <a:rPr lang="en-US">
                <a:solidFill>
                  <a:schemeClr val="dk1"/>
                </a:solidFill>
              </a:rPr>
              <a:t>. Nó tự động sắp xếp đối tượng có giá trị cao nhất lên trên cùng tại mỗi thời điểm, giúp ta thấy rõ sự thay đổi vị thế 'thăng hạng' hay 'tụt hạng' của các nhóm."</a:t>
            </a:r>
            <a:endParaRPr>
              <a:solidFill>
                <a:schemeClr val="dk1"/>
              </a:solidFill>
            </a:endParaRPr>
          </a:p>
          <a:p>
            <a:pPr indent="0" lvl="1" marL="527050" marR="0" rtl="0" algn="l">
              <a:lnSpc>
                <a:spcPct val="100000"/>
              </a:lnSpc>
              <a:spcBef>
                <a:spcPts val="1200"/>
              </a:spcBef>
              <a:spcAft>
                <a:spcPts val="0"/>
              </a:spcAft>
              <a:buClr>
                <a:srgbClr val="000000"/>
              </a:buClr>
              <a:buSzPts val="1100"/>
              <a:buFont typeface="Arial"/>
              <a:buNone/>
            </a:pPr>
            <a:r>
              <a:t/>
            </a:r>
            <a:endParaRPr b="1">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4f7c0b530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394f7c0b530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rPr b="1" lang="en-US">
                <a:solidFill>
                  <a:schemeClr val="dk1"/>
                </a:solidFill>
              </a:rPr>
              <a:t>So sánh &amp; Phân tích Cấu trúc (Comparison &amp; Structure)</a:t>
            </a:r>
            <a:endParaRPr>
              <a:solidFill>
                <a:schemeClr val="dk1"/>
              </a:solidFill>
            </a:endParaRPr>
          </a:p>
          <a:p>
            <a:pPr indent="0" lvl="1" marL="0" marR="0" rtl="0" algn="l">
              <a:lnSpc>
                <a:spcPct val="100000"/>
              </a:lnSpc>
              <a:spcBef>
                <a:spcPts val="0"/>
              </a:spcBef>
              <a:spcAft>
                <a:spcPts val="0"/>
              </a:spcAft>
              <a:buClr>
                <a:srgbClr val="000000"/>
              </a:buClr>
              <a:buSzPts val="1100"/>
              <a:buFont typeface="Arial"/>
              <a:buNone/>
            </a:pPr>
            <a:r>
              <a:rPr b="1" lang="en-US">
                <a:solidFill>
                  <a:schemeClr val="dk1"/>
                </a:solidFill>
              </a:rPr>
              <a:t>Bar &amp; Column Chart (Biểu đồ Cột/Thanh):</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"Công cụ tiêu chuẩn để </a:t>
            </a:r>
            <a:r>
              <a:rPr b="1" lang="en-US">
                <a:solidFill>
                  <a:schemeClr val="dk1"/>
                </a:solidFill>
              </a:rPr>
              <a:t>so sánh trực diện</a:t>
            </a:r>
            <a:r>
              <a:rPr lang="en-US">
                <a:solidFill>
                  <a:schemeClr val="dk1"/>
                </a:solidFill>
              </a:rPr>
              <a:t> giữa các nhóm. Dạng thanh ngang (Bar) đặc biệt hiệu quả khi tên danh mục dài hoặc khi muốn so sánh xếp hạng giữa các đối tượng (ví dụ: so sánh hiệu quả giữa các Chuỗi cửa hàng)."</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Pie Chart (Biểu đồ Tròn):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"Dùng để thể hiện </a:t>
            </a:r>
            <a:r>
              <a:rPr b="1" lang="en-US">
                <a:solidFill>
                  <a:schemeClr val="dk1"/>
                </a:solidFill>
              </a:rPr>
              <a:t>tỷ trọng thành phần</a:t>
            </a:r>
            <a:r>
              <a:rPr lang="en-US">
                <a:solidFill>
                  <a:schemeClr val="dk1"/>
                </a:solidFill>
              </a:rPr>
              <a:t> (Part-to-whole). Nó cho thấy ngay lập tức mỗi phần đóng góp bao nhiêu vào tổng thể. Lưu ý là chỉ nên dùng khi có ít danh mục để dễ đọc (như ở đây chỉ có 2 chuỗi)."</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Combo Chart (Biểu đồ Kết hợp):</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"Đây là sự kết hợp '2 trong 1' để thể hiện </a:t>
            </a:r>
            <a:r>
              <a:rPr b="1" lang="en-US">
                <a:solidFill>
                  <a:schemeClr val="dk1"/>
                </a:solidFill>
              </a:rPr>
              <a:t>mối tương quan</a:t>
            </a:r>
            <a:r>
              <a:rPr lang="en-US">
                <a:solidFill>
                  <a:schemeClr val="dk1"/>
                </a:solidFill>
              </a:rPr>
              <a:t>. Chúng ta dùng Cột cho giá trị chính (như Doanh số) và Đường cho giá trị biến động (như % Tăng trưởng) trên cùng một không gian, giúp so sánh hai đơn vị đo lường khác nhau một cách gọn gàng." </a:t>
            </a:r>
            <a:endParaRPr>
              <a:solidFill>
                <a:schemeClr val="dk1"/>
              </a:solidFill>
            </a:endParaRPr>
          </a:p>
          <a:p>
            <a:pPr indent="-215900" lvl="1" marL="742950" marR="0" rtl="0" algn="l">
              <a:lnSpc>
                <a:spcPct val="100000"/>
              </a:lnSpc>
              <a:spcBef>
                <a:spcPts val="1200"/>
              </a:spcBef>
              <a:spcAft>
                <a:spcPts val="0"/>
              </a:spcAft>
              <a:buClr>
                <a:srgbClr val="000000"/>
              </a:buClr>
              <a:buSzPts val="1100"/>
              <a:buFont typeface="Arial"/>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94f7c0b530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394f7c0b530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US" sz="1200">
                <a:solidFill>
                  <a:schemeClr val="dk1"/>
                </a:solidFill>
              </a:rPr>
              <a:t>Phân tích tổng quan</a:t>
            </a:r>
            <a:endParaRPr sz="1200">
              <a:solidFill>
                <a:schemeClr val="dk1"/>
              </a:solidFill>
            </a:endParaRPr>
          </a:p>
          <a:p>
            <a:pPr indent="-304800" lvl="0" marL="457200" rtl="0" algn="l">
              <a:lnSpc>
                <a:spcPct val="115000"/>
              </a:lnSpc>
              <a:spcBef>
                <a:spcPts val="1400"/>
              </a:spcBef>
              <a:spcAft>
                <a:spcPts val="0"/>
              </a:spcAft>
              <a:buClr>
                <a:schemeClr val="dk1"/>
              </a:buClr>
              <a:buSzPts val="1200"/>
              <a:buChar char="-"/>
            </a:pPr>
            <a:r>
              <a:rPr lang="en-US" sz="1200">
                <a:solidFill>
                  <a:schemeClr val="dk1"/>
                </a:solidFill>
              </a:rPr>
              <a:t>Card &amp; </a:t>
            </a:r>
            <a:r>
              <a:rPr lang="en-US" sz="1200">
                <a:solidFill>
                  <a:schemeClr val="dk1"/>
                </a:solidFill>
              </a:rPr>
              <a:t>KPI</a:t>
            </a:r>
            <a:r>
              <a:rPr lang="en-US" sz="1200">
                <a:solidFill>
                  <a:schemeClr val="dk1"/>
                </a:solidFill>
              </a:rPr>
              <a:t>: thể hiện số liệu, KPI còn thể hiện goal để so sánh</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Maps (Bản đồ nhiệt):</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"Trực quan hóa dữ liệu lên bản đồ địa lý để phát hiện các cụm tập trung (clusters) mà bảng biểu thông thường khó thấy."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Gauge Chart (KPI Trung bình):</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Cho biết chỉ số hiện tại đang ở mức Tốt, Trung bình hay Kém so với đích đến.</a:t>
            </a:r>
            <a:endParaRPr sz="1200">
              <a:solidFill>
                <a:schemeClr val="dk1"/>
              </a:solidFill>
            </a:endParaRPr>
          </a:p>
          <a:p>
            <a:pPr indent="-215900" lvl="1" marL="742950" marR="0" rtl="0" algn="l">
              <a:lnSpc>
                <a:spcPct val="100000"/>
              </a:lnSpc>
              <a:spcBef>
                <a:spcPts val="1200"/>
              </a:spcBef>
              <a:spcAft>
                <a:spcPts val="0"/>
              </a:spcAft>
              <a:buClr>
                <a:srgbClr val="000000"/>
              </a:buClr>
              <a:buSzPts val="1100"/>
              <a:buFont typeface="Arial"/>
              <a:buNone/>
            </a:pPr>
            <a:r>
              <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94f7c0b530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394f7c0b530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rPr lang="en-US" sz="1200"/>
              <a:t>Phân tích AI &amp; Nguyên nhân</a:t>
            </a:r>
            <a:endParaRPr sz="1200"/>
          </a:p>
          <a:p>
            <a:pPr indent="-215900" lvl="1" marL="742950" marR="0" rtl="0" algn="l">
              <a:lnSpc>
                <a:spcPct val="100000"/>
              </a:lnSpc>
              <a:spcBef>
                <a:spcPts val="0"/>
              </a:spcBef>
              <a:spcAft>
                <a:spcPts val="0"/>
              </a:spcAft>
              <a:buClr>
                <a:srgbClr val="000000"/>
              </a:buClr>
              <a:buSzPts val="1100"/>
              <a:buFont typeface="Arial"/>
              <a:buNone/>
            </a:pPr>
            <a:r>
              <a:rPr lang="en-US" sz="1200"/>
              <a:t>dùng ai phân tích và trực quan hóa</a:t>
            </a:r>
            <a:endParaRPr sz="1200"/>
          </a:p>
          <a:p>
            <a:pPr indent="0" lvl="0" marL="0" rtl="0" algn="l">
              <a:lnSpc>
                <a:spcPct val="115000"/>
              </a:lnSpc>
              <a:spcBef>
                <a:spcPts val="1400"/>
              </a:spcBef>
              <a:spcAft>
                <a:spcPts val="0"/>
              </a:spcAft>
              <a:buClr>
                <a:schemeClr val="dk1"/>
              </a:buClr>
              <a:buSzPts val="1100"/>
              <a:buFont typeface="Arial"/>
              <a:buNone/>
            </a:pPr>
            <a:r>
              <a:rPr lang="en-US" sz="1200">
                <a:solidFill>
                  <a:schemeClr val="dk1"/>
                </a:solidFill>
              </a:rPr>
              <a:t>Decomposition Tree (Cây Phân Rã)</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sz="1200">
                <a:solidFill>
                  <a:schemeClr val="dk1"/>
                </a:solidFill>
              </a:rPr>
              <a:t>Biểu đồ bên trái trong ảnh</a:t>
            </a:r>
            <a:endParaRPr i="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Khái niệm chuyên môn: "Đây là công cụ trực quan hóa hỗ trợ phân tích nguyên nhân gốc rễ (Root Cause Analysis) theo cơ chế 'Ad-hoc Exploration' (Khám phá tùy biến). Nó cho phép người dùng tự do chọn chiều dữ liệu để khoan sâu (drill-down) nhằm tìm ra các phân khúc đóng góp cao nhất vào một chỉ số cụ thể."</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lang="en-US" sz="1200">
                <a:solidFill>
                  <a:schemeClr val="dk1"/>
                </a:solidFill>
              </a:rPr>
              <a:t>Key Influencers (Yếu tố Ảnh hưởng Chủ chốt)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sz="1200">
                <a:solidFill>
                  <a:schemeClr val="dk1"/>
                </a:solidFill>
              </a:rPr>
              <a:t>Biểu đồ bên phải trong ảnh</a:t>
            </a:r>
            <a:endParaRPr i="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Khái niệm chuyên môn: "Visual này sử dụng các thuật toán Machine Learning (Học máy) tích hợp sẵn để chạy hồi quy và phân tích tương quan. Nó giúp xác định các yếu tố nào có tác động thống kê mạnh nhất (Key Drivers) dẫn đến một kết quả kinh doanh cụ thể, loại bỏ các phán đoán cảm tính chủ quan."</a:t>
            </a:r>
            <a:endParaRPr sz="1200">
              <a:solidFill>
                <a:schemeClr val="dk1"/>
              </a:solidFill>
            </a:endParaRPr>
          </a:p>
          <a:p>
            <a:pPr indent="-215900" lvl="1" marL="742950" marR="0" rtl="0" algn="l">
              <a:lnSpc>
                <a:spcPct val="100000"/>
              </a:lnSpc>
              <a:spcBef>
                <a:spcPts val="1200"/>
              </a:spcBef>
              <a:spcAft>
                <a:spcPts val="0"/>
              </a:spcAft>
              <a:buClr>
                <a:srgbClr val="000000"/>
              </a:buClr>
              <a:buSzPts val="1100"/>
              <a:buFont typeface="Arial"/>
              <a:buNone/>
            </a:pPr>
            <a:r>
              <a:t/>
            </a:r>
            <a:endParaRPr sz="1200"/>
          </a:p>
          <a:p>
            <a:pPr indent="-215900" lvl="1" marL="742950" marR="0" rtl="0" algn="l">
              <a:lnSpc>
                <a:spcPct val="100000"/>
              </a:lnSpc>
              <a:spcBef>
                <a:spcPts val="0"/>
              </a:spcBef>
              <a:spcAft>
                <a:spcPts val="0"/>
              </a:spcAft>
              <a:buClr>
                <a:srgbClr val="000000"/>
              </a:buClr>
              <a:buSzPts val="1100"/>
              <a:buFont typeface="Arial"/>
              <a:buNone/>
            </a:pPr>
            <a:r>
              <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afd2df374_4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rtl="0" algn="l">
              <a:lnSpc>
                <a:spcPct val="100000"/>
              </a:lnSpc>
              <a:spcBef>
                <a:spcPts val="0"/>
              </a:spcBef>
              <a:spcAft>
                <a:spcPts val="0"/>
              </a:spcAft>
              <a:buSzPts val="1100"/>
              <a:buFont typeface="Arial"/>
              <a:buNone/>
            </a:pPr>
            <a:r>
              <a:t/>
            </a:r>
            <a:endParaRPr b="0" i="0" sz="1800" u="none" strike="noStrike">
              <a:solidFill>
                <a:srgbClr val="000000"/>
              </a:solidFill>
              <a:latin typeface="Arial"/>
              <a:ea typeface="Arial"/>
              <a:cs typeface="Arial"/>
              <a:sym typeface="Arial"/>
            </a:endParaRPr>
          </a:p>
        </p:txBody>
      </p:sp>
      <p:sp>
        <p:nvSpPr>
          <p:cNvPr id="311" name="Google Shape;311;g39afd2df374_4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29" name="Google Shape;32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9afd2df374_4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0" name="Google Shape;360;g39afd2df374_4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9afd2df374_4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g39afd2df374_4_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9afd2df374_4_2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87350" lvl="0" marL="914400" rtl="0" algn="l">
              <a:lnSpc>
                <a:spcPct val="100000"/>
              </a:lnSpc>
              <a:spcBef>
                <a:spcPts val="0"/>
              </a:spcBef>
              <a:spcAft>
                <a:spcPts val="0"/>
              </a:spcAft>
              <a:buSzPts val="1100"/>
              <a:buNone/>
            </a:pPr>
            <a:r>
              <a:t/>
            </a:r>
            <a:endParaRPr b="0"/>
          </a:p>
        </p:txBody>
      </p:sp>
      <p:sp>
        <p:nvSpPr>
          <p:cNvPr id="393" name="Google Shape;393;g39afd2df374_4_2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9b8c87ebf5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9b8c87ebf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9bbf9bcc5c_2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9bbf9bcc5c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9b8c87ebf5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9b8c87ebf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9b8c87ebf5_1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9b8c87ebf5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9bbf9bcc5c_2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0" name="Google Shape;440;g39bbf9bcc5c_2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9bbf9bcc5c_2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g39bbf9bcc5c_2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9bbf9bcc5c_2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rtl="0" algn="l">
              <a:lnSpc>
                <a:spcPct val="100000"/>
              </a:lnSpc>
              <a:spcBef>
                <a:spcPts val="0"/>
              </a:spcBef>
              <a:spcAft>
                <a:spcPts val="0"/>
              </a:spcAft>
              <a:buSzPts val="1100"/>
              <a:buFont typeface="Arial"/>
              <a:buNone/>
            </a:pPr>
            <a:r>
              <a:t/>
            </a:r>
            <a:endParaRPr b="0" i="0" sz="1800" u="none" strike="noStrike">
              <a:solidFill>
                <a:srgbClr val="000000"/>
              </a:solidFill>
              <a:latin typeface="Arial"/>
              <a:ea typeface="Arial"/>
              <a:cs typeface="Arial"/>
              <a:sym typeface="Arial"/>
            </a:endParaRPr>
          </a:p>
        </p:txBody>
      </p:sp>
      <p:sp>
        <p:nvSpPr>
          <p:cNvPr id="463" name="Google Shape;463;g39bbf9bcc5c_2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6cb847554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3" name="Google Shape;483;g36cb847554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9afd2df374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1" name="Google Shape;491;g39afd2df374_4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9afd2df374_4_3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rtl="0" algn="l">
              <a:lnSpc>
                <a:spcPct val="100000"/>
              </a:lnSpc>
              <a:spcBef>
                <a:spcPts val="0"/>
              </a:spcBef>
              <a:spcAft>
                <a:spcPts val="0"/>
              </a:spcAft>
              <a:buSzPts val="1100"/>
              <a:buFont typeface="Arial"/>
              <a:buNone/>
            </a:pPr>
            <a:r>
              <a:t/>
            </a:r>
            <a:endParaRPr b="0" i="0" sz="1800" u="none" strike="noStrike">
              <a:solidFill>
                <a:srgbClr val="000000"/>
              </a:solidFill>
              <a:latin typeface="Arial"/>
              <a:ea typeface="Arial"/>
              <a:cs typeface="Arial"/>
              <a:sym typeface="Arial"/>
            </a:endParaRPr>
          </a:p>
        </p:txBody>
      </p:sp>
      <p:sp>
        <p:nvSpPr>
          <p:cNvPr id="509" name="Google Shape;509;g39afd2df374_4_3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rtl="0" algn="l">
              <a:lnSpc>
                <a:spcPct val="100000"/>
              </a:lnSpc>
              <a:spcBef>
                <a:spcPts val="0"/>
              </a:spcBef>
              <a:spcAft>
                <a:spcPts val="0"/>
              </a:spcAft>
              <a:buSzPts val="1100"/>
              <a:buFont typeface="Arial"/>
              <a:buNone/>
            </a:pPr>
            <a:r>
              <a:t/>
            </a:r>
            <a:endParaRPr b="0" i="0" sz="1800" u="none" strike="noStrike">
              <a:solidFill>
                <a:srgbClr val="000000"/>
              </a:solidFill>
              <a:latin typeface="Arial"/>
              <a:ea typeface="Arial"/>
              <a:cs typeface="Arial"/>
              <a:sym typeface="Arial"/>
            </a:endParaRPr>
          </a:p>
        </p:txBody>
      </p:sp>
      <p:sp>
        <p:nvSpPr>
          <p:cNvPr id="526" name="Google Shape;52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9afd2df374_4_3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6" name="Google Shape;546;g39afd2df374_4_3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2" name="Google Shape;55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1200"/>
              </a:spcBef>
              <a:spcAft>
                <a:spcPts val="1200"/>
              </a:spcAft>
              <a:buSzPts val="1100"/>
              <a:buNone/>
            </a:pPr>
            <a:r>
              <a:t/>
            </a:r>
            <a:endParaRPr b="0" i="0" sz="1800" u="none" strike="noStrike">
              <a:solidFill>
                <a:srgbClr val="1B1B1B"/>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9afd2df374_4_4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g39afd2df374_4_4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9afd2df374_4_4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0" name="Google Shape;570;g39afd2df374_4_4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9afd2df374_4_4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g39afd2df374_4_4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9afd2df374_4_4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g39afd2df374_4_4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9afd2df374_4_5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0" name="Google Shape;590;g39afd2df374_4_5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9afd2df374_4_5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87350" lvl="0" marL="914400" rtl="0" algn="l">
              <a:lnSpc>
                <a:spcPct val="100000"/>
              </a:lnSpc>
              <a:spcBef>
                <a:spcPts val="0"/>
              </a:spcBef>
              <a:spcAft>
                <a:spcPts val="0"/>
              </a:spcAft>
              <a:buSzPts val="1100"/>
              <a:buNone/>
            </a:pPr>
            <a:r>
              <a:t/>
            </a:r>
            <a:endParaRPr b="0"/>
          </a:p>
        </p:txBody>
      </p:sp>
      <p:sp>
        <p:nvSpPr>
          <p:cNvPr id="597" name="Google Shape;597;g39afd2df374_4_5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a9b23b7472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0" name="Google Shape;620;g3a9b23b7472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a97f3d028b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0" name="Google Shape;640;g3a97f3d028b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a97f3d028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a97f3d02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a97f3d028b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a97f3d028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a97f3d028b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a97f3d028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280"/>
              </a:spcBef>
              <a:spcAft>
                <a:spcPts val="0"/>
              </a:spcAft>
              <a:buClr>
                <a:schemeClr val="dk1"/>
              </a:buClr>
              <a:buSzPts val="1100"/>
              <a:buFont typeface="Arial"/>
              <a:buNone/>
            </a:pPr>
            <a:r>
              <a:rPr b="1" lang="en-US" sz="1300">
                <a:solidFill>
                  <a:schemeClr val="dk1"/>
                </a:solidFill>
              </a:rPr>
              <a:t>Insight 1 - Xác định nhóm chủ lực (Cash Cow):</a:t>
            </a:r>
            <a:r>
              <a:rPr lang="en-US" sz="1300">
                <a:solidFill>
                  <a:schemeClr val="dk1"/>
                </a:solidFill>
              </a:rPr>
              <a:t> Nhìn vào mảng màu Cam (Technology - </a:t>
            </a:r>
            <a:r>
              <a:rPr i="1" lang="en-US" sz="1300">
                <a:solidFill>
                  <a:schemeClr val="dk1"/>
                </a:solidFill>
              </a:rPr>
              <a:t>giả định theo thứ tự chú giải</a:t>
            </a:r>
            <a:r>
              <a:rPr lang="en-US" sz="1300">
                <a:solidFill>
                  <a:schemeClr val="dk1"/>
                </a:solidFill>
              </a:rPr>
              <a:t>), ta thấy nhóm này chiếm tỷ trọng lớn nhất là </a:t>
            </a:r>
            <a:r>
              <a:rPr b="1" lang="en-US" sz="1300">
                <a:solidFill>
                  <a:schemeClr val="dk1"/>
                </a:solidFill>
              </a:rPr>
              <a:t>39.19%</a:t>
            </a:r>
            <a:r>
              <a:rPr lang="en-US" sz="1300">
                <a:solidFill>
                  <a:schemeClr val="dk1"/>
                </a:solidFill>
              </a:rPr>
              <a:t> với doanh thu </a:t>
            </a:r>
            <a:r>
              <a:rPr b="1" lang="en-US" sz="1300">
                <a:solidFill>
                  <a:schemeClr val="dk1"/>
                </a:solidFill>
              </a:rPr>
              <a:t>78.85K</a:t>
            </a:r>
            <a:r>
              <a:rPr lang="en-US" sz="1300">
                <a:solidFill>
                  <a:schemeClr val="dk1"/>
                </a:solidFill>
              </a:rPr>
              <a:t>. Đây là nhóm hàng đóng góp doanh thu chính cho công ty.</a:t>
            </a:r>
            <a:endParaRPr sz="1300">
              <a:solidFill>
                <a:schemeClr val="dk1"/>
              </a:solidFill>
            </a:endParaRPr>
          </a:p>
          <a:p>
            <a:pPr indent="0" lvl="0" marL="0" rtl="0" algn="l">
              <a:spcBef>
                <a:spcPts val="280"/>
              </a:spcBef>
              <a:spcAft>
                <a:spcPts val="0"/>
              </a:spcAft>
              <a:buClr>
                <a:schemeClr val="dk1"/>
              </a:buClr>
              <a:buSzPts val="1100"/>
              <a:buFont typeface="Arial"/>
              <a:buNone/>
            </a:pPr>
            <a:r>
              <a:rPr b="1" lang="en-US" sz="1300">
                <a:solidFill>
                  <a:schemeClr val="dk1"/>
                </a:solidFill>
              </a:rPr>
              <a:t>Insight 2 - Sự cân bằng danh mục:</a:t>
            </a:r>
            <a:r>
              <a:rPr lang="en-US" sz="1300">
                <a:solidFill>
                  <a:schemeClr val="dk1"/>
                </a:solidFill>
              </a:rPr>
              <a:t> Mặc dù Technology dẫn đầu, nhưng hai nhóm còn lại (Office Supplies ~33% và Furniture ~27%) cũng đóng góp đáng kể. Không có nhóm nào quá thấp (dưới 10%), cho thấy cơ cấu sản phẩm của công ty khá cân đối, không bị phụ thuộc hoàn toàn vào một mặt hàng duy nhất.</a:t>
            </a:r>
            <a:endParaRPr sz="1300">
              <a:solidFill>
                <a:schemeClr val="dk1"/>
              </a:solidFill>
            </a:endParaRPr>
          </a:p>
          <a:p>
            <a:pPr indent="0" lvl="0" marL="0" rtl="0" algn="l">
              <a:spcBef>
                <a:spcPts val="280"/>
              </a:spcBef>
              <a:spcAft>
                <a:spcPts val="0"/>
              </a:spcAft>
              <a:buClr>
                <a:schemeClr val="dk1"/>
              </a:buClr>
              <a:buSzPts val="1100"/>
              <a:buFont typeface="Arial"/>
              <a:buNone/>
            </a:pPr>
            <a:r>
              <a:rPr b="1" lang="en-US" sz="1300">
                <a:solidFill>
                  <a:schemeClr val="dk1"/>
                </a:solidFill>
              </a:rPr>
              <a:t>Hành động đề xuất (Action):</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US" sz="1300">
                <a:solidFill>
                  <a:schemeClr val="dk1"/>
                </a:solidFill>
              </a:rPr>
              <a:t>Ưu tiên ngân sách Marketing và nhập kho cho nhóm </a:t>
            </a:r>
            <a:r>
              <a:rPr b="1" lang="en-US" sz="1300">
                <a:solidFill>
                  <a:schemeClr val="dk1"/>
                </a:solidFill>
              </a:rPr>
              <a:t>Technology</a:t>
            </a:r>
            <a:r>
              <a:rPr lang="en-US" sz="1300">
                <a:solidFill>
                  <a:schemeClr val="dk1"/>
                </a:solidFill>
              </a:rPr>
              <a:t> vì đây là nhóm sinh lời cao nhất.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Xem xét các chương trình khuyến mãi (Bundling) ghép nhóm Furniture (thấp nhất 27%) với Technology để đẩy doanh số Furniture lên.</a:t>
            </a:r>
            <a:endParaRPr sz="1300">
              <a:solidFill>
                <a:schemeClr val="dk1"/>
              </a:solidFill>
            </a:endParaRPr>
          </a:p>
          <a:p>
            <a:pPr indent="0" lvl="0" marL="0" rtl="0" algn="l">
              <a:spcBef>
                <a:spcPts val="1200"/>
              </a:spcBef>
              <a:spcAft>
                <a:spcPts val="0"/>
              </a:spcAft>
              <a:buNone/>
            </a:pPr>
            <a:r>
              <a:t/>
            </a:r>
            <a:endParaRPr sz="130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a97f3d028b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3a97f3d028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a97f3d028b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3a97f3d028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a97f3d028b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a97f3d028b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280"/>
              </a:spcBef>
              <a:spcAft>
                <a:spcPts val="0"/>
              </a:spcAft>
              <a:buClr>
                <a:schemeClr val="dk1"/>
              </a:buClr>
              <a:buSzPts val="1100"/>
              <a:buFont typeface="Arial"/>
              <a:buNone/>
            </a:pPr>
            <a:r>
              <a:rPr b="1" lang="en-US" sz="1300">
                <a:solidFill>
                  <a:schemeClr val="dk1"/>
                </a:solidFill>
              </a:rPr>
              <a:t>Insight 1 - Tính biến động (Volatility):</a:t>
            </a:r>
            <a:r>
              <a:rPr lang="en-US" sz="1300">
                <a:solidFill>
                  <a:schemeClr val="dk1"/>
                </a:solidFill>
              </a:rPr>
              <a:t> Doanh thu của công ty không ổn định mà biến động . Có những tháng giảm sâu (như khoảng tháng 2 và tháng 6) và những tháng tăng vọt.</a:t>
            </a:r>
            <a:endParaRPr sz="1300">
              <a:solidFill>
                <a:schemeClr val="dk1"/>
              </a:solidFill>
            </a:endParaRPr>
          </a:p>
          <a:p>
            <a:pPr indent="0" lvl="0" marL="0" rtl="0" algn="l">
              <a:spcBef>
                <a:spcPts val="280"/>
              </a:spcBef>
              <a:spcAft>
                <a:spcPts val="0"/>
              </a:spcAft>
              <a:buClr>
                <a:schemeClr val="dk1"/>
              </a:buClr>
              <a:buSzPts val="1100"/>
              <a:buFont typeface="Arial"/>
              <a:buNone/>
            </a:pPr>
            <a:r>
              <a:rPr b="1" lang="en-US" sz="1300">
                <a:solidFill>
                  <a:schemeClr val="dk1"/>
                </a:solidFill>
              </a:rPr>
              <a:t>Insight 2 - Hiệu ứng cuối năm (End-of-Year Rally):</a:t>
            </a:r>
            <a:r>
              <a:rPr lang="en-US" sz="1300">
                <a:solidFill>
                  <a:schemeClr val="dk1"/>
                </a:solidFill>
              </a:rPr>
              <a:t> Điểm nổi bật nhất là sự tăng trưởng đột biến vào </a:t>
            </a:r>
            <a:r>
              <a:rPr b="1" lang="en-US" sz="1300">
                <a:solidFill>
                  <a:schemeClr val="dk1"/>
                </a:solidFill>
              </a:rPr>
              <a:t>Tháng 12</a:t>
            </a:r>
            <a:r>
              <a:rPr lang="en-US" sz="1300">
                <a:solidFill>
                  <a:schemeClr val="dk1"/>
                </a:solidFill>
              </a:rPr>
              <a:t> (Cuối trục X). Đỉnh biểu đồ vươn lên cao nhất (gần chạm mốc 30K). Điều này cho thấy nhu cầu mua sắm cuối năm rất lớn, hoặc công ty đã chạy các chiến dịch "Chạy số cuối năm" rất hiệu quả.</a:t>
            </a:r>
            <a:endParaRPr sz="1300">
              <a:solidFill>
                <a:schemeClr val="dk1"/>
              </a:solidFill>
            </a:endParaRPr>
          </a:p>
          <a:p>
            <a:pPr indent="0" lvl="0" marL="0" rtl="0" algn="l">
              <a:spcBef>
                <a:spcPts val="280"/>
              </a:spcBef>
              <a:spcAft>
                <a:spcPts val="0"/>
              </a:spcAft>
              <a:buClr>
                <a:schemeClr val="dk1"/>
              </a:buClr>
              <a:buSzPts val="1100"/>
              <a:buFont typeface="Arial"/>
              <a:buNone/>
            </a:pPr>
            <a:r>
              <a:rPr b="1" lang="en-US" sz="1300">
                <a:solidFill>
                  <a:schemeClr val="dk1"/>
                </a:solidFill>
              </a:rPr>
              <a:t>Insight 3 - Các đỉnh phụ:</a:t>
            </a:r>
            <a:r>
              <a:rPr lang="en-US" sz="1300">
                <a:solidFill>
                  <a:schemeClr val="dk1"/>
                </a:solidFill>
              </a:rPr>
              <a:t> Có một đỉnh nhỏ vào khoảng tháng 4 và tháng 9, có thể trùng với các dịp lễ hoặc mùa tựu trường/nghỉ lễ.</a:t>
            </a:r>
            <a:endParaRPr sz="1300">
              <a:solidFill>
                <a:schemeClr val="dk1"/>
              </a:solidFill>
            </a:endParaRPr>
          </a:p>
          <a:p>
            <a:pPr indent="0" lvl="0" marL="0" rtl="0" algn="l">
              <a:spcBef>
                <a:spcPts val="280"/>
              </a:spcBef>
              <a:spcAft>
                <a:spcPts val="0"/>
              </a:spcAft>
              <a:buClr>
                <a:schemeClr val="dk1"/>
              </a:buClr>
              <a:buSzPts val="1100"/>
              <a:buFont typeface="Arial"/>
              <a:buNone/>
            </a:pPr>
            <a:r>
              <a:rPr b="1" lang="en-US" sz="1300">
                <a:solidFill>
                  <a:schemeClr val="dk1"/>
                </a:solidFill>
              </a:rPr>
              <a:t>Hành động đề xuất (Action):</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US" sz="1300">
                <a:solidFill>
                  <a:schemeClr val="dk1"/>
                </a:solidFill>
              </a:rPr>
              <a:t>Tập trung nguồn lực logistic và nhân sự tối đa cho tháng 12 để tránh "vỡ trận" vì quá tải đơn hàng.</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Tìm hiểu nguyên nhân doanh thu thấp ở tháng 2 và tháng 6 để tung ra các chương trình khuyến mãi kích cầu vào giai đoạn thấp điểm này.</a:t>
            </a:r>
            <a:endParaRPr sz="1300">
              <a:solidFill>
                <a:schemeClr val="dk1"/>
              </a:solidFill>
            </a:endParaRPr>
          </a:p>
          <a:p>
            <a:pPr indent="0" lvl="0" marL="0" rtl="0" algn="l">
              <a:spcBef>
                <a:spcPts val="1200"/>
              </a:spcBef>
              <a:spcAft>
                <a:spcPts val="0"/>
              </a:spcAft>
              <a:buClr>
                <a:schemeClr val="dk1"/>
              </a:buClr>
              <a:buSzPts val="1100"/>
              <a:buFont typeface="Arial"/>
              <a:buNone/>
            </a:pPr>
            <a:r>
              <a:t/>
            </a:r>
            <a:endParaRPr b="1" sz="1300">
              <a:solidFill>
                <a:schemeClr val="dk1"/>
              </a:solidFill>
            </a:endParaRPr>
          </a:p>
          <a:p>
            <a:pPr indent="0" lvl="0" marL="0" rtl="0" algn="l">
              <a:spcBef>
                <a:spcPts val="0"/>
              </a:spcBef>
              <a:spcAft>
                <a:spcPts val="0"/>
              </a:spcAft>
              <a:buNone/>
            </a:pPr>
            <a:r>
              <a:t/>
            </a:r>
            <a:endParaRPr sz="1300"/>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a9801c9462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87350" lvl="0" marL="914400" rtl="0" algn="l">
              <a:lnSpc>
                <a:spcPct val="100000"/>
              </a:lnSpc>
              <a:spcBef>
                <a:spcPts val="0"/>
              </a:spcBef>
              <a:spcAft>
                <a:spcPts val="0"/>
              </a:spcAft>
              <a:buSzPts val="1100"/>
              <a:buNone/>
            </a:pPr>
            <a:r>
              <a:t/>
            </a:r>
            <a:endParaRPr b="0"/>
          </a:p>
        </p:txBody>
      </p:sp>
      <p:sp>
        <p:nvSpPr>
          <p:cNvPr id="698" name="Google Shape;698;g3a9801c9462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a9801c9462_1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9" name="Google Shape;709;g3a9801c9462_1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a9801c9462_1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5" name="Google Shape;715;g3a9801c9462_1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a999e66e0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2" name="Google Shape;722;g3a999e66e0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a9801c9462_1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87350" lvl="0" marL="914400" rtl="0" algn="l">
              <a:lnSpc>
                <a:spcPct val="100000"/>
              </a:lnSpc>
              <a:spcBef>
                <a:spcPts val="0"/>
              </a:spcBef>
              <a:spcAft>
                <a:spcPts val="0"/>
              </a:spcAft>
              <a:buSzPts val="1100"/>
              <a:buNone/>
            </a:pPr>
            <a:r>
              <a:t/>
            </a:r>
            <a:endParaRPr b="0"/>
          </a:p>
        </p:txBody>
      </p:sp>
      <p:sp>
        <p:nvSpPr>
          <p:cNvPr id="736" name="Google Shape;736;g3a9801c9462_1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a9801c9462_1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7" name="Google Shape;747;g3a9801c9462_1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a9801c9462_1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3" name="Google Shape;753;g3a9801c9462_1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15900" lvl="1" marL="742950" marR="0" rtl="0" algn="l">
              <a:lnSpc>
                <a:spcPct val="100000"/>
              </a:lnSpc>
              <a:spcBef>
                <a:spcPts val="0"/>
              </a:spcBef>
              <a:spcAft>
                <a:spcPts val="0"/>
              </a:spcAft>
              <a:buClr>
                <a:srgbClr val="000000"/>
              </a:buClr>
              <a:buSzPts val="1100"/>
              <a:buFont typeface="Arial"/>
              <a:buNone/>
            </a:pPr>
            <a:r>
              <a:t/>
            </a:r>
            <a:endParaRPr b="0" i="0" sz="1300" u="none" strike="noStrik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a999e66e07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0" name="Google Shape;760;g3a999e66e07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3d77955e8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87350" lvl="0" marL="914400" rtl="0" algn="l">
              <a:lnSpc>
                <a:spcPct val="100000"/>
              </a:lnSpc>
              <a:spcBef>
                <a:spcPts val="0"/>
              </a:spcBef>
              <a:spcAft>
                <a:spcPts val="0"/>
              </a:spcAft>
              <a:buSzPts val="1100"/>
              <a:buNone/>
            </a:pPr>
            <a:r>
              <a:t/>
            </a:r>
            <a:endParaRPr b="0"/>
          </a:p>
        </p:txBody>
      </p:sp>
      <p:sp>
        <p:nvSpPr>
          <p:cNvPr id="774" name="Google Shape;774;g3a3d77955e8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5" name="Google Shape;78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3.png"/><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3.pn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 name="Shape 8"/>
        <p:cNvGrpSpPr/>
        <p:nvPr/>
      </p:nvGrpSpPr>
      <p:grpSpPr>
        <a:xfrm>
          <a:off x="0" y="0"/>
          <a:ext cx="0" cy="0"/>
          <a:chOff x="0" y="0"/>
          <a:chExt cx="0" cy="0"/>
        </a:xfrm>
      </p:grpSpPr>
    </p:spTree>
  </p:cSld>
  <p:clrMapOvr>
    <a:masterClrMapping/>
  </p:clrMapOvr>
  <mc:AlternateContent>
    <mc:Choice Requires="p14">
      <p:transition spd="slow" p14:dur="900">
        <p14:flythrough dir="out" hasBounce="1"/>
      </p:transition>
    </mc:Choice>
    <mc:Fallback>
      <p:transition spd="med">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22"/>
          <p:cNvSpPr txBox="1"/>
          <p:nvPr>
            <p:ph idx="1" type="body"/>
          </p:nvPr>
        </p:nvSpPr>
        <p:spPr>
          <a:xfrm>
            <a:off x="4470163" y="596946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400"/>
              <a:buNone/>
              <a:defRPr/>
            </a:lvl1pPr>
            <a:lvl2pPr indent="-228600" lvl="1" marL="914400" algn="l">
              <a:lnSpc>
                <a:spcPct val="100000"/>
              </a:lnSpc>
              <a:spcBef>
                <a:spcPts val="360"/>
              </a:spcBef>
              <a:spcAft>
                <a:spcPts val="0"/>
              </a:spcAft>
              <a:buSzPts val="2400"/>
              <a:buNone/>
              <a:defRPr/>
            </a:lvl2pPr>
            <a:lvl3pPr indent="-228600" lvl="2" marL="1371600" algn="l">
              <a:lnSpc>
                <a:spcPct val="100000"/>
              </a:lnSpc>
              <a:spcBef>
                <a:spcPts val="320"/>
              </a:spcBef>
              <a:spcAft>
                <a:spcPts val="0"/>
              </a:spcAft>
              <a:buSzPts val="2400"/>
              <a:buNone/>
              <a:defRPr/>
            </a:lvl3pPr>
            <a:lvl4pPr indent="-228600" lvl="3" marL="1828800" algn="l">
              <a:lnSpc>
                <a:spcPct val="100000"/>
              </a:lnSpc>
              <a:spcBef>
                <a:spcPts val="280"/>
              </a:spcBef>
              <a:spcAft>
                <a:spcPts val="0"/>
              </a:spcAft>
              <a:buSzPts val="2400"/>
              <a:buNone/>
              <a:defRPr/>
            </a:lvl4pPr>
            <a:lvl5pPr indent="-228600" lvl="4" marL="2286000" algn="l">
              <a:lnSpc>
                <a:spcPct val="100000"/>
              </a:lnSpc>
              <a:spcBef>
                <a:spcPts val="280"/>
              </a:spcBef>
              <a:spcAft>
                <a:spcPts val="0"/>
              </a:spcAft>
              <a:buSzPts val="2400"/>
              <a:buNone/>
              <a:defRPr/>
            </a:lvl5pPr>
            <a:lvl6pPr indent="-228600" lvl="5" marL="2743200" algn="l">
              <a:lnSpc>
                <a:spcPct val="100000"/>
              </a:lnSpc>
              <a:spcBef>
                <a:spcPts val="280"/>
              </a:spcBef>
              <a:spcAft>
                <a:spcPts val="0"/>
              </a:spcAft>
              <a:buSzPts val="2400"/>
              <a:buNone/>
              <a:defRPr/>
            </a:lvl6pPr>
            <a:lvl7pPr indent="-228600" lvl="6" marL="3200400" algn="l">
              <a:lnSpc>
                <a:spcPct val="100000"/>
              </a:lnSpc>
              <a:spcBef>
                <a:spcPts val="280"/>
              </a:spcBef>
              <a:spcAft>
                <a:spcPts val="0"/>
              </a:spcAft>
              <a:buSzPts val="2400"/>
              <a:buNone/>
              <a:defRPr/>
            </a:lvl7pPr>
            <a:lvl8pPr indent="-228600" lvl="7" marL="3657600" algn="l">
              <a:lnSpc>
                <a:spcPct val="100000"/>
              </a:lnSpc>
              <a:spcBef>
                <a:spcPts val="280"/>
              </a:spcBef>
              <a:spcAft>
                <a:spcPts val="0"/>
              </a:spcAft>
              <a:buSzPts val="2400"/>
              <a:buNone/>
              <a:defRPr/>
            </a:lvl8pPr>
            <a:lvl9pPr indent="-228600" lvl="8" marL="4114800" algn="l">
              <a:lnSpc>
                <a:spcPct val="100000"/>
              </a:lnSpc>
              <a:spcBef>
                <a:spcPts val="280"/>
              </a:spcBef>
              <a:spcAft>
                <a:spcPts val="0"/>
              </a:spcAft>
              <a:buSzPts val="2400"/>
              <a:buNone/>
              <a:defRPr/>
            </a:lvl9pPr>
          </a:lstStyle>
          <a:p/>
        </p:txBody>
      </p:sp>
      <p:sp>
        <p:nvSpPr>
          <p:cNvPr id="11" name="Google Shape;11;p22"/>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lt2"/>
              </a:buClr>
              <a:buSzPts val="9000"/>
              <a:buFont typeface="Montserrat"/>
              <a:buNone/>
              <a:defRPr i="0" sz="9000" u="none" cap="none" strike="noStrike">
                <a:solidFill>
                  <a:schemeClr val="lt2"/>
                </a:solidFill>
                <a:latin typeface="Montserrat"/>
                <a:ea typeface="Montserrat"/>
                <a:cs typeface="Montserrat"/>
                <a:sym typeface="Montserrat"/>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pic>
        <p:nvPicPr>
          <p:cNvPr id="12" name="Google Shape;12;p22"/>
          <p:cNvPicPr preferRelativeResize="0"/>
          <p:nvPr/>
        </p:nvPicPr>
        <p:blipFill rotWithShape="1">
          <a:blip r:embed="rId2">
            <a:alphaModFix/>
          </a:blip>
          <a:srcRect b="0" l="0" r="0" t="0"/>
          <a:stretch/>
        </p:blipFill>
        <p:spPr>
          <a:xfrm>
            <a:off x="599493" y="9383075"/>
            <a:ext cx="7332981" cy="452200"/>
          </a:xfrm>
          <a:prstGeom prst="rect">
            <a:avLst/>
          </a:prstGeom>
          <a:noFill/>
          <a:ln>
            <a:noFill/>
          </a:ln>
        </p:spPr>
      </p:pic>
      <p:pic>
        <p:nvPicPr>
          <p:cNvPr id="13" name="Google Shape;13;p22"/>
          <p:cNvPicPr preferRelativeResize="0"/>
          <p:nvPr/>
        </p:nvPicPr>
        <p:blipFill rotWithShape="1">
          <a:blip r:embed="rId3">
            <a:alphaModFix/>
          </a:blip>
          <a:srcRect b="0" l="0" r="0" t="0"/>
          <a:stretch/>
        </p:blipFill>
        <p:spPr>
          <a:xfrm flipH="1">
            <a:off x="918100" y="-460028"/>
            <a:ext cx="315975" cy="2166685"/>
          </a:xfrm>
          <a:prstGeom prst="rect">
            <a:avLst/>
          </a:prstGeom>
          <a:noFill/>
          <a:ln>
            <a:noFill/>
          </a:ln>
        </p:spPr>
      </p:pic>
      <p:pic>
        <p:nvPicPr>
          <p:cNvPr id="14" name="Google Shape;14;p22"/>
          <p:cNvPicPr preferRelativeResize="0"/>
          <p:nvPr/>
        </p:nvPicPr>
        <p:blipFill rotWithShape="1">
          <a:blip r:embed="rId4">
            <a:alphaModFix/>
          </a:blip>
          <a:srcRect b="0" l="0" r="0" t="0"/>
          <a:stretch/>
        </p:blipFill>
        <p:spPr>
          <a:xfrm>
            <a:off x="17121283" y="5642875"/>
            <a:ext cx="698617" cy="642725"/>
          </a:xfrm>
          <a:prstGeom prst="rect">
            <a:avLst/>
          </a:prstGeom>
          <a:noFill/>
          <a:ln>
            <a:noFill/>
          </a:ln>
        </p:spPr>
      </p:pic>
    </p:spTree>
  </p:cSld>
  <p:clrMapOvr>
    <a:masterClrMapping/>
  </p:clrMapOvr>
  <mc:AlternateContent>
    <mc:Choice Requires="p14">
      <p:transition spd="slow" p14:dur="900">
        <p14:flythrough dir="out" hasBounce="1"/>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 name="Shape 15"/>
        <p:cNvGrpSpPr/>
        <p:nvPr/>
      </p:nvGrpSpPr>
      <p:grpSpPr>
        <a:xfrm>
          <a:off x="0" y="0"/>
          <a:ext cx="0" cy="0"/>
          <a:chOff x="0" y="0"/>
          <a:chExt cx="0" cy="0"/>
        </a:xfrm>
      </p:grpSpPr>
      <p:sp>
        <p:nvSpPr>
          <p:cNvPr id="16" name="Google Shape;16;p23"/>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3"/>
          <p:cNvSpPr txBox="1"/>
          <p:nvPr>
            <p:ph idx="1" type="body"/>
          </p:nvPr>
        </p:nvSpPr>
        <p:spPr>
          <a:xfrm>
            <a:off x="3348713" y="3942575"/>
            <a:ext cx="5688000" cy="45261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560"/>
              </a:spcBef>
              <a:spcAft>
                <a:spcPts val="0"/>
              </a:spcAft>
              <a:buClr>
                <a:schemeClr val="dk1"/>
              </a:buClr>
              <a:buSzPts val="2400"/>
              <a:buChar char="•"/>
              <a:defRPr/>
            </a:lvl1pPr>
            <a:lvl2pPr indent="-381000" lvl="1" marL="914400" algn="l">
              <a:lnSpc>
                <a:spcPct val="100000"/>
              </a:lnSpc>
              <a:spcBef>
                <a:spcPts val="480"/>
              </a:spcBef>
              <a:spcAft>
                <a:spcPts val="0"/>
              </a:spcAft>
              <a:buClr>
                <a:schemeClr val="dk1"/>
              </a:buClr>
              <a:buSzPts val="2400"/>
              <a:buChar char="–"/>
              <a:defRPr/>
            </a:lvl2pPr>
            <a:lvl3pPr indent="-381000" lvl="2" marL="1371600" algn="l">
              <a:lnSpc>
                <a:spcPct val="100000"/>
              </a:lnSpc>
              <a:spcBef>
                <a:spcPts val="400"/>
              </a:spcBef>
              <a:spcAft>
                <a:spcPts val="0"/>
              </a:spcAft>
              <a:buClr>
                <a:schemeClr val="dk1"/>
              </a:buClr>
              <a:buSzPts val="2400"/>
              <a:buChar char="•"/>
              <a:defRPr/>
            </a:lvl3pPr>
            <a:lvl4pPr indent="-381000" lvl="3" marL="1828800" algn="l">
              <a:lnSpc>
                <a:spcPct val="100000"/>
              </a:lnSpc>
              <a:spcBef>
                <a:spcPts val="360"/>
              </a:spcBef>
              <a:spcAft>
                <a:spcPts val="0"/>
              </a:spcAft>
              <a:buClr>
                <a:schemeClr val="dk1"/>
              </a:buClr>
              <a:buSzPts val="2400"/>
              <a:buChar char="–"/>
              <a:defRPr/>
            </a:lvl4pPr>
            <a:lvl5pPr indent="-381000" lvl="4" marL="2286000" algn="l">
              <a:lnSpc>
                <a:spcPct val="100000"/>
              </a:lnSpc>
              <a:spcBef>
                <a:spcPts val="360"/>
              </a:spcBef>
              <a:spcAft>
                <a:spcPts val="0"/>
              </a:spcAft>
              <a:buClr>
                <a:schemeClr val="dk1"/>
              </a:buClr>
              <a:buSzPts val="2400"/>
              <a:buChar char="»"/>
              <a:defRPr/>
            </a:lvl5pPr>
            <a:lvl6pPr indent="-381000" lvl="5" marL="2743200" algn="l">
              <a:lnSpc>
                <a:spcPct val="100000"/>
              </a:lnSpc>
              <a:spcBef>
                <a:spcPts val="360"/>
              </a:spcBef>
              <a:spcAft>
                <a:spcPts val="0"/>
              </a:spcAft>
              <a:buClr>
                <a:schemeClr val="dk1"/>
              </a:buClr>
              <a:buSzPts val="2400"/>
              <a:buChar char="•"/>
              <a:defRPr/>
            </a:lvl6pPr>
            <a:lvl7pPr indent="-381000" lvl="6" marL="3200400" algn="l">
              <a:lnSpc>
                <a:spcPct val="100000"/>
              </a:lnSpc>
              <a:spcBef>
                <a:spcPts val="360"/>
              </a:spcBef>
              <a:spcAft>
                <a:spcPts val="0"/>
              </a:spcAft>
              <a:buClr>
                <a:schemeClr val="dk1"/>
              </a:buClr>
              <a:buSzPts val="2400"/>
              <a:buChar char="•"/>
              <a:defRPr/>
            </a:lvl7pPr>
            <a:lvl8pPr indent="-381000" lvl="7" marL="3657600" algn="l">
              <a:lnSpc>
                <a:spcPct val="100000"/>
              </a:lnSpc>
              <a:spcBef>
                <a:spcPts val="360"/>
              </a:spcBef>
              <a:spcAft>
                <a:spcPts val="0"/>
              </a:spcAft>
              <a:buClr>
                <a:schemeClr val="dk1"/>
              </a:buClr>
              <a:buSzPts val="2400"/>
              <a:buChar char="•"/>
              <a:defRPr/>
            </a:lvl8pPr>
            <a:lvl9pPr indent="-381000" lvl="8" marL="4114800" algn="l">
              <a:lnSpc>
                <a:spcPct val="100000"/>
              </a:lnSpc>
              <a:spcBef>
                <a:spcPts val="360"/>
              </a:spcBef>
              <a:spcAft>
                <a:spcPts val="0"/>
              </a:spcAft>
              <a:buClr>
                <a:schemeClr val="dk1"/>
              </a:buClr>
              <a:buSzPts val="2400"/>
              <a:buChar char="•"/>
              <a:defRPr/>
            </a:lvl9pPr>
          </a:lstStyle>
          <a:p/>
        </p:txBody>
      </p:sp>
      <p:sp>
        <p:nvSpPr>
          <p:cNvPr id="18" name="Google Shape;18;p23"/>
          <p:cNvSpPr txBox="1"/>
          <p:nvPr>
            <p:ph idx="2" type="body"/>
          </p:nvPr>
        </p:nvSpPr>
        <p:spPr>
          <a:xfrm>
            <a:off x="9251286" y="3942575"/>
            <a:ext cx="5688000" cy="45261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560"/>
              </a:spcBef>
              <a:spcAft>
                <a:spcPts val="0"/>
              </a:spcAft>
              <a:buClr>
                <a:schemeClr val="dk1"/>
              </a:buClr>
              <a:buSzPts val="2400"/>
              <a:buChar char="•"/>
              <a:defRPr/>
            </a:lvl1pPr>
            <a:lvl2pPr indent="-381000" lvl="1" marL="914400" algn="l">
              <a:lnSpc>
                <a:spcPct val="100000"/>
              </a:lnSpc>
              <a:spcBef>
                <a:spcPts val="480"/>
              </a:spcBef>
              <a:spcAft>
                <a:spcPts val="0"/>
              </a:spcAft>
              <a:buClr>
                <a:schemeClr val="dk1"/>
              </a:buClr>
              <a:buSzPts val="2400"/>
              <a:buChar char="–"/>
              <a:defRPr/>
            </a:lvl2pPr>
            <a:lvl3pPr indent="-381000" lvl="2" marL="1371600" algn="l">
              <a:lnSpc>
                <a:spcPct val="100000"/>
              </a:lnSpc>
              <a:spcBef>
                <a:spcPts val="400"/>
              </a:spcBef>
              <a:spcAft>
                <a:spcPts val="0"/>
              </a:spcAft>
              <a:buClr>
                <a:schemeClr val="dk1"/>
              </a:buClr>
              <a:buSzPts val="2400"/>
              <a:buChar char="•"/>
              <a:defRPr/>
            </a:lvl3pPr>
            <a:lvl4pPr indent="-381000" lvl="3" marL="1828800" algn="l">
              <a:lnSpc>
                <a:spcPct val="100000"/>
              </a:lnSpc>
              <a:spcBef>
                <a:spcPts val="360"/>
              </a:spcBef>
              <a:spcAft>
                <a:spcPts val="0"/>
              </a:spcAft>
              <a:buClr>
                <a:schemeClr val="dk1"/>
              </a:buClr>
              <a:buSzPts val="2400"/>
              <a:buChar char="–"/>
              <a:defRPr/>
            </a:lvl4pPr>
            <a:lvl5pPr indent="-381000" lvl="4" marL="2286000" algn="l">
              <a:lnSpc>
                <a:spcPct val="100000"/>
              </a:lnSpc>
              <a:spcBef>
                <a:spcPts val="360"/>
              </a:spcBef>
              <a:spcAft>
                <a:spcPts val="0"/>
              </a:spcAft>
              <a:buClr>
                <a:schemeClr val="dk1"/>
              </a:buClr>
              <a:buSzPts val="2400"/>
              <a:buChar char="»"/>
              <a:defRPr/>
            </a:lvl5pPr>
            <a:lvl6pPr indent="-381000" lvl="5" marL="2743200" algn="l">
              <a:lnSpc>
                <a:spcPct val="100000"/>
              </a:lnSpc>
              <a:spcBef>
                <a:spcPts val="360"/>
              </a:spcBef>
              <a:spcAft>
                <a:spcPts val="0"/>
              </a:spcAft>
              <a:buClr>
                <a:schemeClr val="dk1"/>
              </a:buClr>
              <a:buSzPts val="2400"/>
              <a:buChar char="•"/>
              <a:defRPr/>
            </a:lvl6pPr>
            <a:lvl7pPr indent="-381000" lvl="6" marL="3200400" algn="l">
              <a:lnSpc>
                <a:spcPct val="100000"/>
              </a:lnSpc>
              <a:spcBef>
                <a:spcPts val="360"/>
              </a:spcBef>
              <a:spcAft>
                <a:spcPts val="0"/>
              </a:spcAft>
              <a:buClr>
                <a:schemeClr val="dk1"/>
              </a:buClr>
              <a:buSzPts val="2400"/>
              <a:buChar char="•"/>
              <a:defRPr/>
            </a:lvl7pPr>
            <a:lvl8pPr indent="-381000" lvl="7" marL="3657600" algn="l">
              <a:lnSpc>
                <a:spcPct val="100000"/>
              </a:lnSpc>
              <a:spcBef>
                <a:spcPts val="360"/>
              </a:spcBef>
              <a:spcAft>
                <a:spcPts val="0"/>
              </a:spcAft>
              <a:buClr>
                <a:schemeClr val="dk1"/>
              </a:buClr>
              <a:buSzPts val="2400"/>
              <a:buChar char="•"/>
              <a:defRPr/>
            </a:lvl8pPr>
            <a:lvl9pPr indent="-381000" lvl="8" marL="4114800" algn="l">
              <a:lnSpc>
                <a:spcPct val="100000"/>
              </a:lnSpc>
              <a:spcBef>
                <a:spcPts val="360"/>
              </a:spcBef>
              <a:spcAft>
                <a:spcPts val="0"/>
              </a:spcAft>
              <a:buClr>
                <a:schemeClr val="dk1"/>
              </a:buClr>
              <a:buSzPts val="2400"/>
              <a:buChar char="•"/>
              <a:defRPr/>
            </a:lvl9pPr>
          </a:lstStyle>
          <a:p/>
        </p:txBody>
      </p:sp>
      <p:pic>
        <p:nvPicPr>
          <p:cNvPr id="19" name="Google Shape;19;p23"/>
          <p:cNvPicPr preferRelativeResize="0"/>
          <p:nvPr/>
        </p:nvPicPr>
        <p:blipFill rotWithShape="1">
          <a:blip r:embed="rId2">
            <a:alphaModFix/>
          </a:blip>
          <a:srcRect b="0" l="0" r="0" t="0"/>
          <a:stretch/>
        </p:blipFill>
        <p:spPr>
          <a:xfrm>
            <a:off x="9759445" y="8906200"/>
            <a:ext cx="698618" cy="642725"/>
          </a:xfrm>
          <a:prstGeom prst="rect">
            <a:avLst/>
          </a:prstGeom>
          <a:noFill/>
          <a:ln>
            <a:noFill/>
          </a:ln>
        </p:spPr>
      </p:pic>
      <p:pic>
        <p:nvPicPr>
          <p:cNvPr id="20" name="Google Shape;20;p23"/>
          <p:cNvPicPr preferRelativeResize="0"/>
          <p:nvPr/>
        </p:nvPicPr>
        <p:blipFill rotWithShape="1">
          <a:blip r:embed="rId3">
            <a:alphaModFix/>
          </a:blip>
          <a:srcRect b="0" l="0" r="0" t="0"/>
          <a:stretch/>
        </p:blipFill>
        <p:spPr>
          <a:xfrm>
            <a:off x="920279" y="3539646"/>
            <a:ext cx="761350" cy="700442"/>
          </a:xfrm>
          <a:prstGeom prst="rect">
            <a:avLst/>
          </a:prstGeom>
          <a:noFill/>
          <a:ln>
            <a:noFill/>
          </a:ln>
        </p:spPr>
      </p:pic>
      <p:pic>
        <p:nvPicPr>
          <p:cNvPr id="21" name="Google Shape;21;p23"/>
          <p:cNvPicPr preferRelativeResize="0"/>
          <p:nvPr/>
        </p:nvPicPr>
        <p:blipFill rotWithShape="1">
          <a:blip r:embed="rId4">
            <a:alphaModFix/>
          </a:blip>
          <a:srcRect b="0" l="0" r="0" t="0"/>
          <a:stretch/>
        </p:blipFill>
        <p:spPr>
          <a:xfrm>
            <a:off x="14508963" y="329800"/>
            <a:ext cx="2905200" cy="423675"/>
          </a:xfrm>
          <a:prstGeom prst="rect">
            <a:avLst/>
          </a:prstGeom>
          <a:noFill/>
          <a:ln>
            <a:noFill/>
          </a:ln>
        </p:spPr>
      </p:pic>
    </p:spTree>
  </p:cSld>
  <p:clrMapOvr>
    <a:masterClrMapping/>
  </p:clrMapOvr>
  <mc:AlternateContent>
    <mc:Choice Requires="p14">
      <p:transition spd="slow" p14:dur="900">
        <p14:flythrough dir="out" hasBounce="1"/>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2" name="Shape 22"/>
        <p:cNvGrpSpPr/>
        <p:nvPr/>
      </p:nvGrpSpPr>
      <p:grpSpPr>
        <a:xfrm>
          <a:off x="0" y="0"/>
          <a:ext cx="0" cy="0"/>
          <a:chOff x="0" y="0"/>
          <a:chExt cx="0" cy="0"/>
        </a:xfrm>
      </p:grpSpPr>
      <p:sp>
        <p:nvSpPr>
          <p:cNvPr id="23" name="Google Shape;23;p24"/>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4"/>
          <p:cNvSpPr txBox="1"/>
          <p:nvPr>
            <p:ph idx="1" type="body"/>
          </p:nvPr>
        </p:nvSpPr>
        <p:spPr>
          <a:xfrm>
            <a:off x="3329263" y="3990225"/>
            <a:ext cx="56136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lvl1pPr>
            <a:lvl2pPr indent="-381000" lvl="1" marL="914400" algn="l">
              <a:lnSpc>
                <a:spcPct val="100000"/>
              </a:lnSpc>
              <a:spcBef>
                <a:spcPts val="400"/>
              </a:spcBef>
              <a:spcAft>
                <a:spcPts val="0"/>
              </a:spcAft>
              <a:buClr>
                <a:schemeClr val="dk1"/>
              </a:buClr>
              <a:buSzPts val="2400"/>
              <a:buChar char="–"/>
              <a:defRPr/>
            </a:lvl2pPr>
            <a:lvl3pPr indent="-381000" lvl="2" marL="1371600" algn="l">
              <a:lnSpc>
                <a:spcPct val="100000"/>
              </a:lnSpc>
              <a:spcBef>
                <a:spcPts val="360"/>
              </a:spcBef>
              <a:spcAft>
                <a:spcPts val="0"/>
              </a:spcAft>
              <a:buClr>
                <a:schemeClr val="dk1"/>
              </a:buClr>
              <a:buSzPts val="2400"/>
              <a:buChar char="•"/>
              <a:defRPr/>
            </a:lvl3pPr>
            <a:lvl4pPr indent="-381000" lvl="3" marL="1828800" algn="l">
              <a:lnSpc>
                <a:spcPct val="100000"/>
              </a:lnSpc>
              <a:spcBef>
                <a:spcPts val="320"/>
              </a:spcBef>
              <a:spcAft>
                <a:spcPts val="0"/>
              </a:spcAft>
              <a:buClr>
                <a:schemeClr val="dk1"/>
              </a:buClr>
              <a:buSzPts val="2400"/>
              <a:buChar char="–"/>
              <a:defRPr/>
            </a:lvl4pPr>
            <a:lvl5pPr indent="-381000" lvl="4" marL="2286000" algn="l">
              <a:lnSpc>
                <a:spcPct val="100000"/>
              </a:lnSpc>
              <a:spcBef>
                <a:spcPts val="320"/>
              </a:spcBef>
              <a:spcAft>
                <a:spcPts val="0"/>
              </a:spcAft>
              <a:buClr>
                <a:schemeClr val="dk1"/>
              </a:buClr>
              <a:buSzPts val="2400"/>
              <a:buChar char="»"/>
              <a:defRPr/>
            </a:lvl5pPr>
            <a:lvl6pPr indent="-381000" lvl="5" marL="2743200" algn="l">
              <a:lnSpc>
                <a:spcPct val="100000"/>
              </a:lnSpc>
              <a:spcBef>
                <a:spcPts val="320"/>
              </a:spcBef>
              <a:spcAft>
                <a:spcPts val="0"/>
              </a:spcAft>
              <a:buClr>
                <a:schemeClr val="dk1"/>
              </a:buClr>
              <a:buSzPts val="2400"/>
              <a:buChar char="•"/>
              <a:defRPr/>
            </a:lvl6pPr>
            <a:lvl7pPr indent="-381000" lvl="6" marL="3200400" algn="l">
              <a:lnSpc>
                <a:spcPct val="100000"/>
              </a:lnSpc>
              <a:spcBef>
                <a:spcPts val="320"/>
              </a:spcBef>
              <a:spcAft>
                <a:spcPts val="0"/>
              </a:spcAft>
              <a:buClr>
                <a:schemeClr val="dk1"/>
              </a:buClr>
              <a:buSzPts val="2400"/>
              <a:buChar char="•"/>
              <a:defRPr/>
            </a:lvl7pPr>
            <a:lvl8pPr indent="-381000" lvl="7" marL="3657600" algn="l">
              <a:lnSpc>
                <a:spcPct val="100000"/>
              </a:lnSpc>
              <a:spcBef>
                <a:spcPts val="320"/>
              </a:spcBef>
              <a:spcAft>
                <a:spcPts val="0"/>
              </a:spcAft>
              <a:buClr>
                <a:schemeClr val="dk1"/>
              </a:buClr>
              <a:buSzPts val="2400"/>
              <a:buChar char="•"/>
              <a:defRPr/>
            </a:lvl8pPr>
            <a:lvl9pPr indent="-381000" lvl="8" marL="4114800" algn="l">
              <a:lnSpc>
                <a:spcPct val="100000"/>
              </a:lnSpc>
              <a:spcBef>
                <a:spcPts val="320"/>
              </a:spcBef>
              <a:spcAft>
                <a:spcPts val="0"/>
              </a:spcAft>
              <a:buClr>
                <a:schemeClr val="dk1"/>
              </a:buClr>
              <a:buSzPts val="2400"/>
              <a:buChar char="•"/>
              <a:defRPr/>
            </a:lvl9pPr>
          </a:lstStyle>
          <a:p/>
        </p:txBody>
      </p:sp>
      <p:sp>
        <p:nvSpPr>
          <p:cNvPr id="25" name="Google Shape;25;p24"/>
          <p:cNvSpPr txBox="1"/>
          <p:nvPr>
            <p:ph idx="2" type="body"/>
          </p:nvPr>
        </p:nvSpPr>
        <p:spPr>
          <a:xfrm>
            <a:off x="9147887" y="3990225"/>
            <a:ext cx="56157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lvl1pPr>
            <a:lvl2pPr indent="-381000" lvl="1" marL="914400" algn="l">
              <a:lnSpc>
                <a:spcPct val="100000"/>
              </a:lnSpc>
              <a:spcBef>
                <a:spcPts val="400"/>
              </a:spcBef>
              <a:spcAft>
                <a:spcPts val="0"/>
              </a:spcAft>
              <a:buClr>
                <a:schemeClr val="dk1"/>
              </a:buClr>
              <a:buSzPts val="2400"/>
              <a:buChar char="–"/>
              <a:defRPr/>
            </a:lvl2pPr>
            <a:lvl3pPr indent="-381000" lvl="2" marL="1371600" algn="l">
              <a:lnSpc>
                <a:spcPct val="100000"/>
              </a:lnSpc>
              <a:spcBef>
                <a:spcPts val="360"/>
              </a:spcBef>
              <a:spcAft>
                <a:spcPts val="0"/>
              </a:spcAft>
              <a:buClr>
                <a:schemeClr val="dk1"/>
              </a:buClr>
              <a:buSzPts val="2400"/>
              <a:buChar char="•"/>
              <a:defRPr/>
            </a:lvl3pPr>
            <a:lvl4pPr indent="-381000" lvl="3" marL="1828800" algn="l">
              <a:lnSpc>
                <a:spcPct val="100000"/>
              </a:lnSpc>
              <a:spcBef>
                <a:spcPts val="320"/>
              </a:spcBef>
              <a:spcAft>
                <a:spcPts val="0"/>
              </a:spcAft>
              <a:buClr>
                <a:schemeClr val="dk1"/>
              </a:buClr>
              <a:buSzPts val="2400"/>
              <a:buChar char="–"/>
              <a:defRPr/>
            </a:lvl4pPr>
            <a:lvl5pPr indent="-381000" lvl="4" marL="2286000" algn="l">
              <a:lnSpc>
                <a:spcPct val="100000"/>
              </a:lnSpc>
              <a:spcBef>
                <a:spcPts val="320"/>
              </a:spcBef>
              <a:spcAft>
                <a:spcPts val="0"/>
              </a:spcAft>
              <a:buClr>
                <a:schemeClr val="dk1"/>
              </a:buClr>
              <a:buSzPts val="2400"/>
              <a:buChar char="»"/>
              <a:defRPr/>
            </a:lvl5pPr>
            <a:lvl6pPr indent="-381000" lvl="5" marL="2743200" algn="l">
              <a:lnSpc>
                <a:spcPct val="100000"/>
              </a:lnSpc>
              <a:spcBef>
                <a:spcPts val="320"/>
              </a:spcBef>
              <a:spcAft>
                <a:spcPts val="0"/>
              </a:spcAft>
              <a:buClr>
                <a:schemeClr val="dk1"/>
              </a:buClr>
              <a:buSzPts val="2400"/>
              <a:buChar char="•"/>
              <a:defRPr/>
            </a:lvl6pPr>
            <a:lvl7pPr indent="-381000" lvl="6" marL="3200400" algn="l">
              <a:lnSpc>
                <a:spcPct val="100000"/>
              </a:lnSpc>
              <a:spcBef>
                <a:spcPts val="320"/>
              </a:spcBef>
              <a:spcAft>
                <a:spcPts val="0"/>
              </a:spcAft>
              <a:buClr>
                <a:schemeClr val="dk1"/>
              </a:buClr>
              <a:buSzPts val="2400"/>
              <a:buChar char="•"/>
              <a:defRPr/>
            </a:lvl7pPr>
            <a:lvl8pPr indent="-381000" lvl="7" marL="3657600" algn="l">
              <a:lnSpc>
                <a:spcPct val="100000"/>
              </a:lnSpc>
              <a:spcBef>
                <a:spcPts val="320"/>
              </a:spcBef>
              <a:spcAft>
                <a:spcPts val="0"/>
              </a:spcAft>
              <a:buClr>
                <a:schemeClr val="dk1"/>
              </a:buClr>
              <a:buSzPts val="2400"/>
              <a:buChar char="•"/>
              <a:defRPr/>
            </a:lvl8pPr>
            <a:lvl9pPr indent="-381000" lvl="8" marL="4114800" algn="l">
              <a:lnSpc>
                <a:spcPct val="100000"/>
              </a:lnSpc>
              <a:spcBef>
                <a:spcPts val="320"/>
              </a:spcBef>
              <a:spcAft>
                <a:spcPts val="0"/>
              </a:spcAft>
              <a:buClr>
                <a:schemeClr val="dk1"/>
              </a:buClr>
              <a:buSzPts val="2400"/>
              <a:buChar char="•"/>
              <a:defRPr/>
            </a:lvl9pPr>
          </a:lstStyle>
          <a:p/>
        </p:txBody>
      </p:sp>
      <p:pic>
        <p:nvPicPr>
          <p:cNvPr id="26" name="Google Shape;26;p24"/>
          <p:cNvPicPr preferRelativeResize="0"/>
          <p:nvPr/>
        </p:nvPicPr>
        <p:blipFill rotWithShape="1">
          <a:blip r:embed="rId2">
            <a:alphaModFix/>
          </a:blip>
          <a:srcRect b="0" l="0" r="0" t="0"/>
          <a:stretch/>
        </p:blipFill>
        <p:spPr>
          <a:xfrm flipH="1">
            <a:off x="727550" y="397975"/>
            <a:ext cx="423675" cy="2905200"/>
          </a:xfrm>
          <a:prstGeom prst="rect">
            <a:avLst/>
          </a:prstGeom>
          <a:noFill/>
          <a:ln>
            <a:noFill/>
          </a:ln>
        </p:spPr>
      </p:pic>
      <p:pic>
        <p:nvPicPr>
          <p:cNvPr id="27" name="Google Shape;27;p24"/>
          <p:cNvPicPr preferRelativeResize="0"/>
          <p:nvPr/>
        </p:nvPicPr>
        <p:blipFill rotWithShape="1">
          <a:blip r:embed="rId3">
            <a:alphaModFix/>
          </a:blip>
          <a:srcRect b="0" l="0" r="0" t="0"/>
          <a:stretch/>
        </p:blipFill>
        <p:spPr>
          <a:xfrm>
            <a:off x="16923554" y="4609496"/>
            <a:ext cx="761350" cy="700442"/>
          </a:xfrm>
          <a:prstGeom prst="rect">
            <a:avLst/>
          </a:prstGeom>
          <a:noFill/>
          <a:ln>
            <a:noFill/>
          </a:ln>
        </p:spPr>
      </p:pic>
      <p:pic>
        <p:nvPicPr>
          <p:cNvPr id="28" name="Google Shape;28;p24"/>
          <p:cNvPicPr preferRelativeResize="0"/>
          <p:nvPr/>
        </p:nvPicPr>
        <p:blipFill rotWithShape="1">
          <a:blip r:embed="rId4">
            <a:alphaModFix/>
          </a:blip>
          <a:srcRect b="0" l="0" r="0" t="0"/>
          <a:stretch/>
        </p:blipFill>
        <p:spPr>
          <a:xfrm>
            <a:off x="15158157" y="8484563"/>
            <a:ext cx="2526742" cy="641225"/>
          </a:xfrm>
          <a:prstGeom prst="rect">
            <a:avLst/>
          </a:prstGeom>
          <a:noFill/>
          <a:ln>
            <a:noFill/>
          </a:ln>
        </p:spPr>
      </p:pic>
    </p:spTree>
  </p:cSld>
  <p:clrMapOvr>
    <a:masterClrMapping/>
  </p:clrMapOvr>
  <mc:AlternateContent>
    <mc:Choice Requires="p14">
      <p:transition spd="slow" p14:dur="900">
        <p14:flythrough dir="out" hasBounce="1"/>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25"/>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1" name="Google Shape;31;p25"/>
          <p:cNvPicPr preferRelativeResize="0"/>
          <p:nvPr/>
        </p:nvPicPr>
        <p:blipFill rotWithShape="1">
          <a:blip r:embed="rId2">
            <a:alphaModFix/>
          </a:blip>
          <a:srcRect b="0" l="0" r="0" t="0"/>
          <a:stretch/>
        </p:blipFill>
        <p:spPr>
          <a:xfrm>
            <a:off x="768288" y="2663077"/>
            <a:ext cx="1204950" cy="1807425"/>
          </a:xfrm>
          <a:prstGeom prst="rect">
            <a:avLst/>
          </a:prstGeom>
          <a:noFill/>
          <a:ln>
            <a:noFill/>
          </a:ln>
        </p:spPr>
      </p:pic>
      <p:pic>
        <p:nvPicPr>
          <p:cNvPr id="32" name="Google Shape;32;p25"/>
          <p:cNvPicPr preferRelativeResize="0"/>
          <p:nvPr/>
        </p:nvPicPr>
        <p:blipFill rotWithShape="1">
          <a:blip r:embed="rId3">
            <a:alphaModFix/>
          </a:blip>
          <a:srcRect b="0" l="0" r="0" t="0"/>
          <a:stretch/>
        </p:blipFill>
        <p:spPr>
          <a:xfrm>
            <a:off x="16676125" y="4024296"/>
            <a:ext cx="423675" cy="2947304"/>
          </a:xfrm>
          <a:prstGeom prst="rect">
            <a:avLst/>
          </a:prstGeom>
          <a:noFill/>
          <a:ln>
            <a:noFill/>
          </a:ln>
        </p:spPr>
      </p:pic>
      <p:pic>
        <p:nvPicPr>
          <p:cNvPr id="33" name="Google Shape;33;p25"/>
          <p:cNvPicPr preferRelativeResize="0"/>
          <p:nvPr/>
        </p:nvPicPr>
        <p:blipFill rotWithShape="1">
          <a:blip r:embed="rId4">
            <a:alphaModFix/>
          </a:blip>
          <a:srcRect b="0" l="0" r="0" t="0"/>
          <a:stretch/>
        </p:blipFill>
        <p:spPr>
          <a:xfrm>
            <a:off x="13221475" y="9041450"/>
            <a:ext cx="7332975" cy="452200"/>
          </a:xfrm>
          <a:prstGeom prst="rect">
            <a:avLst/>
          </a:prstGeom>
          <a:noFill/>
          <a:ln>
            <a:noFill/>
          </a:ln>
        </p:spPr>
      </p:pic>
    </p:spTree>
  </p:cSld>
  <p:clrMapOvr>
    <a:masterClrMapping/>
  </p:clrMapOvr>
  <mc:AlternateContent>
    <mc:Choice Requires="p14">
      <p:transition spd="slow" p14:dur="900">
        <p14:flythrough dir="out" hasBounce="1"/>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4" name="Shape 34"/>
        <p:cNvGrpSpPr/>
        <p:nvPr/>
      </p:nvGrpSpPr>
      <p:grpSpPr>
        <a:xfrm>
          <a:off x="0" y="0"/>
          <a:ext cx="0" cy="0"/>
          <a:chOff x="0" y="0"/>
          <a:chExt cx="0" cy="0"/>
        </a:xfrm>
      </p:grpSpPr>
      <p:sp>
        <p:nvSpPr>
          <p:cNvPr id="35" name="Google Shape;35;p26"/>
          <p:cNvSpPr txBox="1"/>
          <p:nvPr>
            <p:ph idx="1" type="body"/>
          </p:nvPr>
        </p:nvSpPr>
        <p:spPr>
          <a:xfrm>
            <a:off x="8915784" y="3571925"/>
            <a:ext cx="6411300" cy="58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640"/>
              </a:spcBef>
              <a:spcAft>
                <a:spcPts val="0"/>
              </a:spcAft>
              <a:buClr>
                <a:schemeClr val="dk1"/>
              </a:buClr>
              <a:buSzPts val="2400"/>
              <a:buChar char="•"/>
              <a:defRPr/>
            </a:lvl1pPr>
            <a:lvl2pPr indent="-381000" lvl="1" marL="914400" algn="l">
              <a:lnSpc>
                <a:spcPct val="100000"/>
              </a:lnSpc>
              <a:spcBef>
                <a:spcPts val="560"/>
              </a:spcBef>
              <a:spcAft>
                <a:spcPts val="0"/>
              </a:spcAft>
              <a:buClr>
                <a:schemeClr val="dk1"/>
              </a:buClr>
              <a:buSzPts val="2400"/>
              <a:buChar char="–"/>
              <a:defRPr/>
            </a:lvl2pPr>
            <a:lvl3pPr indent="-381000" lvl="2" marL="1371600" algn="l">
              <a:lnSpc>
                <a:spcPct val="100000"/>
              </a:lnSpc>
              <a:spcBef>
                <a:spcPts val="480"/>
              </a:spcBef>
              <a:spcAft>
                <a:spcPts val="0"/>
              </a:spcAft>
              <a:buClr>
                <a:schemeClr val="dk1"/>
              </a:buClr>
              <a:buSzPts val="2400"/>
              <a:buChar char="•"/>
              <a:defRPr/>
            </a:lvl3pPr>
            <a:lvl4pPr indent="-381000" lvl="3" marL="1828800" algn="l">
              <a:lnSpc>
                <a:spcPct val="100000"/>
              </a:lnSpc>
              <a:spcBef>
                <a:spcPts val="400"/>
              </a:spcBef>
              <a:spcAft>
                <a:spcPts val="0"/>
              </a:spcAft>
              <a:buClr>
                <a:schemeClr val="dk1"/>
              </a:buClr>
              <a:buSzPts val="2400"/>
              <a:buChar char="–"/>
              <a:defRPr/>
            </a:lvl4pPr>
            <a:lvl5pPr indent="-381000" lvl="4" marL="2286000" algn="l">
              <a:lnSpc>
                <a:spcPct val="100000"/>
              </a:lnSpc>
              <a:spcBef>
                <a:spcPts val="400"/>
              </a:spcBef>
              <a:spcAft>
                <a:spcPts val="0"/>
              </a:spcAft>
              <a:buClr>
                <a:schemeClr val="dk1"/>
              </a:buClr>
              <a:buSzPts val="2400"/>
              <a:buChar char="»"/>
              <a:defRPr/>
            </a:lvl5pPr>
            <a:lvl6pPr indent="-381000" lvl="5" marL="2743200" algn="l">
              <a:lnSpc>
                <a:spcPct val="100000"/>
              </a:lnSpc>
              <a:spcBef>
                <a:spcPts val="400"/>
              </a:spcBef>
              <a:spcAft>
                <a:spcPts val="0"/>
              </a:spcAft>
              <a:buClr>
                <a:schemeClr val="dk1"/>
              </a:buClr>
              <a:buSzPts val="2400"/>
              <a:buChar char="•"/>
              <a:defRPr/>
            </a:lvl6pPr>
            <a:lvl7pPr indent="-381000" lvl="6" marL="3200400" algn="l">
              <a:lnSpc>
                <a:spcPct val="100000"/>
              </a:lnSpc>
              <a:spcBef>
                <a:spcPts val="400"/>
              </a:spcBef>
              <a:spcAft>
                <a:spcPts val="0"/>
              </a:spcAft>
              <a:buClr>
                <a:schemeClr val="dk1"/>
              </a:buClr>
              <a:buSzPts val="2400"/>
              <a:buChar char="•"/>
              <a:defRPr/>
            </a:lvl7pPr>
            <a:lvl8pPr indent="-381000" lvl="7" marL="3657600" algn="l">
              <a:lnSpc>
                <a:spcPct val="100000"/>
              </a:lnSpc>
              <a:spcBef>
                <a:spcPts val="400"/>
              </a:spcBef>
              <a:spcAft>
                <a:spcPts val="0"/>
              </a:spcAft>
              <a:buClr>
                <a:schemeClr val="dk1"/>
              </a:buClr>
              <a:buSzPts val="2400"/>
              <a:buChar char="•"/>
              <a:defRPr/>
            </a:lvl8pPr>
            <a:lvl9pPr indent="-381000" lvl="8" marL="4114800" algn="l">
              <a:lnSpc>
                <a:spcPct val="100000"/>
              </a:lnSpc>
              <a:spcBef>
                <a:spcPts val="400"/>
              </a:spcBef>
              <a:spcAft>
                <a:spcPts val="0"/>
              </a:spcAft>
              <a:buClr>
                <a:schemeClr val="dk1"/>
              </a:buClr>
              <a:buSzPts val="2400"/>
              <a:buChar char="•"/>
              <a:defRPr/>
            </a:lvl9pPr>
          </a:lstStyle>
          <a:p/>
        </p:txBody>
      </p:sp>
      <p:sp>
        <p:nvSpPr>
          <p:cNvPr id="36" name="Google Shape;36;p26"/>
          <p:cNvSpPr txBox="1"/>
          <p:nvPr>
            <p:ph idx="2" type="body"/>
          </p:nvPr>
        </p:nvSpPr>
        <p:spPr>
          <a:xfrm>
            <a:off x="2658600" y="3734900"/>
            <a:ext cx="59052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2400"/>
              <a:buNone/>
              <a:defRPr/>
            </a:lvl1pPr>
            <a:lvl2pPr indent="-228600" lvl="1" marL="914400" algn="l">
              <a:lnSpc>
                <a:spcPct val="100000"/>
              </a:lnSpc>
              <a:spcBef>
                <a:spcPts val="240"/>
              </a:spcBef>
              <a:spcAft>
                <a:spcPts val="0"/>
              </a:spcAft>
              <a:buClr>
                <a:schemeClr val="dk1"/>
              </a:buClr>
              <a:buSzPts val="2400"/>
              <a:buNone/>
              <a:defRPr/>
            </a:lvl2pPr>
            <a:lvl3pPr indent="-228600" lvl="2" marL="1371600" algn="l">
              <a:lnSpc>
                <a:spcPct val="100000"/>
              </a:lnSpc>
              <a:spcBef>
                <a:spcPts val="200"/>
              </a:spcBef>
              <a:spcAft>
                <a:spcPts val="0"/>
              </a:spcAft>
              <a:buClr>
                <a:schemeClr val="dk1"/>
              </a:buClr>
              <a:buSzPts val="2400"/>
              <a:buNone/>
              <a:defRPr/>
            </a:lvl3pPr>
            <a:lvl4pPr indent="-228600" lvl="3" marL="1828800" algn="l">
              <a:lnSpc>
                <a:spcPct val="100000"/>
              </a:lnSpc>
              <a:spcBef>
                <a:spcPts val="180"/>
              </a:spcBef>
              <a:spcAft>
                <a:spcPts val="0"/>
              </a:spcAft>
              <a:buClr>
                <a:schemeClr val="dk1"/>
              </a:buClr>
              <a:buSzPts val="2400"/>
              <a:buNone/>
              <a:defRPr/>
            </a:lvl4pPr>
            <a:lvl5pPr indent="-228600" lvl="4" marL="2286000" algn="l">
              <a:lnSpc>
                <a:spcPct val="100000"/>
              </a:lnSpc>
              <a:spcBef>
                <a:spcPts val="180"/>
              </a:spcBef>
              <a:spcAft>
                <a:spcPts val="0"/>
              </a:spcAft>
              <a:buClr>
                <a:schemeClr val="dk1"/>
              </a:buClr>
              <a:buSzPts val="2400"/>
              <a:buNone/>
              <a:defRPr/>
            </a:lvl5pPr>
            <a:lvl6pPr indent="-228600" lvl="5" marL="2743200" algn="l">
              <a:lnSpc>
                <a:spcPct val="100000"/>
              </a:lnSpc>
              <a:spcBef>
                <a:spcPts val="180"/>
              </a:spcBef>
              <a:spcAft>
                <a:spcPts val="0"/>
              </a:spcAft>
              <a:buClr>
                <a:schemeClr val="dk1"/>
              </a:buClr>
              <a:buSzPts val="2400"/>
              <a:buNone/>
              <a:defRPr/>
            </a:lvl6pPr>
            <a:lvl7pPr indent="-228600" lvl="6" marL="3200400" algn="l">
              <a:lnSpc>
                <a:spcPct val="100000"/>
              </a:lnSpc>
              <a:spcBef>
                <a:spcPts val="180"/>
              </a:spcBef>
              <a:spcAft>
                <a:spcPts val="0"/>
              </a:spcAft>
              <a:buClr>
                <a:schemeClr val="dk1"/>
              </a:buClr>
              <a:buSzPts val="2400"/>
              <a:buNone/>
              <a:defRPr/>
            </a:lvl7pPr>
            <a:lvl8pPr indent="-228600" lvl="7" marL="3657600" algn="l">
              <a:lnSpc>
                <a:spcPct val="100000"/>
              </a:lnSpc>
              <a:spcBef>
                <a:spcPts val="180"/>
              </a:spcBef>
              <a:spcAft>
                <a:spcPts val="0"/>
              </a:spcAft>
              <a:buClr>
                <a:schemeClr val="dk1"/>
              </a:buClr>
              <a:buSzPts val="2400"/>
              <a:buNone/>
              <a:defRPr/>
            </a:lvl8pPr>
            <a:lvl9pPr indent="-228600" lvl="8" marL="4114800" algn="l">
              <a:lnSpc>
                <a:spcPct val="100000"/>
              </a:lnSpc>
              <a:spcBef>
                <a:spcPts val="180"/>
              </a:spcBef>
              <a:spcAft>
                <a:spcPts val="0"/>
              </a:spcAft>
              <a:buClr>
                <a:schemeClr val="dk1"/>
              </a:buClr>
              <a:buSzPts val="2400"/>
              <a:buNone/>
              <a:defRPr/>
            </a:lvl9pPr>
          </a:lstStyle>
          <a:p/>
        </p:txBody>
      </p:sp>
      <p:sp>
        <p:nvSpPr>
          <p:cNvPr id="37" name="Google Shape;37;p26"/>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lt2"/>
              </a:buClr>
              <a:buSzPts val="9000"/>
              <a:buFont typeface="Montserrat"/>
              <a:buNone/>
              <a:defRPr i="0" sz="9000" u="none" cap="none" strike="noStrike">
                <a:solidFill>
                  <a:schemeClr val="lt2"/>
                </a:solidFill>
                <a:latin typeface="Montserrat"/>
                <a:ea typeface="Montserrat"/>
                <a:cs typeface="Montserrat"/>
                <a:sym typeface="Montserrat"/>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grpSp>
        <p:nvGrpSpPr>
          <p:cNvPr id="38" name="Google Shape;38;p26"/>
          <p:cNvGrpSpPr/>
          <p:nvPr/>
        </p:nvGrpSpPr>
        <p:grpSpPr>
          <a:xfrm>
            <a:off x="-597409" y="8881113"/>
            <a:ext cx="18996576" cy="1136048"/>
            <a:chOff x="0" y="-38100"/>
            <a:chExt cx="6366358" cy="380726"/>
          </a:xfrm>
        </p:grpSpPr>
        <p:sp>
          <p:nvSpPr>
            <p:cNvPr id="39" name="Google Shape;39;p26"/>
            <p:cNvSpPr/>
            <p:nvPr/>
          </p:nvSpPr>
          <p:spPr>
            <a:xfrm>
              <a:off x="0" y="0"/>
              <a:ext cx="6366358" cy="342626"/>
            </a:xfrm>
            <a:custGeom>
              <a:rect b="b" l="l" r="r" t="t"/>
              <a:pathLst>
                <a:path extrusionOk="0" h="342626" w="6366358">
                  <a:moveTo>
                    <a:pt x="0" y="0"/>
                  </a:moveTo>
                  <a:lnTo>
                    <a:pt x="6366358" y="0"/>
                  </a:lnTo>
                  <a:lnTo>
                    <a:pt x="6366358" y="342626"/>
                  </a:lnTo>
                  <a:lnTo>
                    <a:pt x="0" y="342626"/>
                  </a:lnTo>
                  <a:close/>
                </a:path>
              </a:pathLst>
            </a:custGeom>
            <a:solidFill>
              <a:srgbClr val="F7574B"/>
            </a:solidFill>
            <a:ln>
              <a:noFill/>
            </a:ln>
          </p:spPr>
        </p:sp>
        <p:sp>
          <p:nvSpPr>
            <p:cNvPr id="40" name="Google Shape;40;p26"/>
            <p:cNvSpPr txBox="1"/>
            <p:nvPr/>
          </p:nvSpPr>
          <p:spPr>
            <a:xfrm>
              <a:off x="0" y="-38100"/>
              <a:ext cx="6366300" cy="3807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41" name="Google Shape;41;p26"/>
          <p:cNvPicPr preferRelativeResize="0"/>
          <p:nvPr/>
        </p:nvPicPr>
        <p:blipFill rotWithShape="1">
          <a:blip r:embed="rId2">
            <a:alphaModFix/>
          </a:blip>
          <a:srcRect b="0" l="0" r="0" t="0"/>
          <a:stretch/>
        </p:blipFill>
        <p:spPr>
          <a:xfrm>
            <a:off x="17149675" y="7996454"/>
            <a:ext cx="423700" cy="2905372"/>
          </a:xfrm>
          <a:prstGeom prst="rect">
            <a:avLst/>
          </a:prstGeom>
          <a:noFill/>
          <a:ln>
            <a:noFill/>
          </a:ln>
        </p:spPr>
      </p:pic>
      <p:pic>
        <p:nvPicPr>
          <p:cNvPr id="42" name="Google Shape;42;p26"/>
          <p:cNvPicPr preferRelativeResize="0"/>
          <p:nvPr/>
        </p:nvPicPr>
        <p:blipFill rotWithShape="1">
          <a:blip r:embed="rId3">
            <a:alphaModFix/>
          </a:blip>
          <a:srcRect b="0" l="0" r="0" t="0"/>
          <a:stretch/>
        </p:blipFill>
        <p:spPr>
          <a:xfrm>
            <a:off x="-688255" y="7779613"/>
            <a:ext cx="2526742" cy="641225"/>
          </a:xfrm>
          <a:prstGeom prst="rect">
            <a:avLst/>
          </a:prstGeom>
          <a:noFill/>
          <a:ln>
            <a:noFill/>
          </a:ln>
        </p:spPr>
      </p:pic>
      <p:pic>
        <p:nvPicPr>
          <p:cNvPr id="43" name="Google Shape;43;p26"/>
          <p:cNvPicPr preferRelativeResize="0"/>
          <p:nvPr/>
        </p:nvPicPr>
        <p:blipFill rotWithShape="1">
          <a:blip r:embed="rId4">
            <a:alphaModFix/>
          </a:blip>
          <a:srcRect b="0" l="0" r="0" t="0"/>
          <a:stretch/>
        </p:blipFill>
        <p:spPr>
          <a:xfrm>
            <a:off x="15229304" y="1931600"/>
            <a:ext cx="940575" cy="872625"/>
          </a:xfrm>
          <a:prstGeom prst="rect">
            <a:avLst/>
          </a:prstGeom>
          <a:noFill/>
          <a:ln>
            <a:noFill/>
          </a:ln>
        </p:spPr>
      </p:pic>
    </p:spTree>
  </p:cSld>
  <p:clrMapOvr>
    <a:masterClrMapping/>
  </p:clrMapOvr>
  <mc:AlternateContent>
    <mc:Choice Requires="p14">
      <p:transition spd="slow" p14:dur="900">
        <p14:flythrough dir="out" hasBounce="1"/>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4" name="Shape 44"/>
        <p:cNvGrpSpPr/>
        <p:nvPr/>
      </p:nvGrpSpPr>
      <p:grpSpPr>
        <a:xfrm>
          <a:off x="0" y="0"/>
          <a:ext cx="0" cy="0"/>
          <a:chOff x="0" y="0"/>
          <a:chExt cx="0" cy="0"/>
        </a:xfrm>
      </p:grpSpPr>
      <p:sp>
        <p:nvSpPr>
          <p:cNvPr id="45" name="Google Shape;45;p27"/>
          <p:cNvSpPr/>
          <p:nvPr>
            <p:ph idx="2" type="pic"/>
          </p:nvPr>
        </p:nvSpPr>
        <p:spPr>
          <a:xfrm>
            <a:off x="11103296" y="4653400"/>
            <a:ext cx="3735900" cy="2801700"/>
          </a:xfrm>
          <a:prstGeom prst="rect">
            <a:avLst/>
          </a:prstGeom>
          <a:noFill/>
          <a:ln>
            <a:noFill/>
          </a:ln>
        </p:spPr>
      </p:sp>
      <p:sp>
        <p:nvSpPr>
          <p:cNvPr id="46" name="Google Shape;46;p27"/>
          <p:cNvSpPr txBox="1"/>
          <p:nvPr>
            <p:ph idx="1" type="body"/>
          </p:nvPr>
        </p:nvSpPr>
        <p:spPr>
          <a:xfrm>
            <a:off x="2908863" y="4038313"/>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2400"/>
              <a:buNone/>
              <a:defRPr/>
            </a:lvl1pPr>
            <a:lvl2pPr indent="-228600" lvl="1" marL="914400" algn="l">
              <a:lnSpc>
                <a:spcPct val="100000"/>
              </a:lnSpc>
              <a:spcBef>
                <a:spcPts val="240"/>
              </a:spcBef>
              <a:spcAft>
                <a:spcPts val="0"/>
              </a:spcAft>
              <a:buClr>
                <a:schemeClr val="dk1"/>
              </a:buClr>
              <a:buSzPts val="2400"/>
              <a:buNone/>
              <a:defRPr/>
            </a:lvl2pPr>
            <a:lvl3pPr indent="-228600" lvl="2" marL="1371600" algn="l">
              <a:lnSpc>
                <a:spcPct val="100000"/>
              </a:lnSpc>
              <a:spcBef>
                <a:spcPts val="200"/>
              </a:spcBef>
              <a:spcAft>
                <a:spcPts val="0"/>
              </a:spcAft>
              <a:buClr>
                <a:schemeClr val="dk1"/>
              </a:buClr>
              <a:buSzPts val="2400"/>
              <a:buNone/>
              <a:defRPr/>
            </a:lvl3pPr>
            <a:lvl4pPr indent="-228600" lvl="3" marL="1828800" algn="l">
              <a:lnSpc>
                <a:spcPct val="100000"/>
              </a:lnSpc>
              <a:spcBef>
                <a:spcPts val="180"/>
              </a:spcBef>
              <a:spcAft>
                <a:spcPts val="0"/>
              </a:spcAft>
              <a:buClr>
                <a:schemeClr val="dk1"/>
              </a:buClr>
              <a:buSzPts val="2400"/>
              <a:buNone/>
              <a:defRPr/>
            </a:lvl4pPr>
            <a:lvl5pPr indent="-228600" lvl="4" marL="2286000" algn="l">
              <a:lnSpc>
                <a:spcPct val="100000"/>
              </a:lnSpc>
              <a:spcBef>
                <a:spcPts val="180"/>
              </a:spcBef>
              <a:spcAft>
                <a:spcPts val="0"/>
              </a:spcAft>
              <a:buClr>
                <a:schemeClr val="dk1"/>
              </a:buClr>
              <a:buSzPts val="2400"/>
              <a:buNone/>
              <a:defRPr/>
            </a:lvl5pPr>
            <a:lvl6pPr indent="-228600" lvl="5" marL="2743200" algn="l">
              <a:lnSpc>
                <a:spcPct val="100000"/>
              </a:lnSpc>
              <a:spcBef>
                <a:spcPts val="180"/>
              </a:spcBef>
              <a:spcAft>
                <a:spcPts val="0"/>
              </a:spcAft>
              <a:buClr>
                <a:schemeClr val="dk1"/>
              </a:buClr>
              <a:buSzPts val="2400"/>
              <a:buNone/>
              <a:defRPr/>
            </a:lvl6pPr>
            <a:lvl7pPr indent="-228600" lvl="6" marL="3200400" algn="l">
              <a:lnSpc>
                <a:spcPct val="100000"/>
              </a:lnSpc>
              <a:spcBef>
                <a:spcPts val="180"/>
              </a:spcBef>
              <a:spcAft>
                <a:spcPts val="0"/>
              </a:spcAft>
              <a:buClr>
                <a:schemeClr val="dk1"/>
              </a:buClr>
              <a:buSzPts val="2400"/>
              <a:buNone/>
              <a:defRPr/>
            </a:lvl7pPr>
            <a:lvl8pPr indent="-228600" lvl="7" marL="3657600" algn="l">
              <a:lnSpc>
                <a:spcPct val="100000"/>
              </a:lnSpc>
              <a:spcBef>
                <a:spcPts val="180"/>
              </a:spcBef>
              <a:spcAft>
                <a:spcPts val="0"/>
              </a:spcAft>
              <a:buClr>
                <a:schemeClr val="dk1"/>
              </a:buClr>
              <a:buSzPts val="2400"/>
              <a:buNone/>
              <a:defRPr/>
            </a:lvl8pPr>
            <a:lvl9pPr indent="-228600" lvl="8" marL="4114800" algn="l">
              <a:lnSpc>
                <a:spcPct val="100000"/>
              </a:lnSpc>
              <a:spcBef>
                <a:spcPts val="180"/>
              </a:spcBef>
              <a:spcAft>
                <a:spcPts val="0"/>
              </a:spcAft>
              <a:buClr>
                <a:schemeClr val="dk1"/>
              </a:buClr>
              <a:buSzPts val="2400"/>
              <a:buNone/>
              <a:defRPr/>
            </a:lvl9pPr>
          </a:lstStyle>
          <a:p/>
        </p:txBody>
      </p:sp>
      <p:sp>
        <p:nvSpPr>
          <p:cNvPr id="47" name="Google Shape;47;p27"/>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lt2"/>
              </a:buClr>
              <a:buSzPts val="9000"/>
              <a:buFont typeface="Montserrat"/>
              <a:buNone/>
              <a:defRPr i="0" sz="9000" u="none" cap="none" strike="noStrike">
                <a:solidFill>
                  <a:schemeClr val="lt2"/>
                </a:solidFill>
                <a:latin typeface="Montserrat"/>
                <a:ea typeface="Montserrat"/>
                <a:cs typeface="Montserrat"/>
                <a:sym typeface="Montserrat"/>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pic>
        <p:nvPicPr>
          <p:cNvPr id="48" name="Google Shape;48;p27"/>
          <p:cNvPicPr preferRelativeResize="0"/>
          <p:nvPr/>
        </p:nvPicPr>
        <p:blipFill rotWithShape="1">
          <a:blip r:embed="rId2">
            <a:alphaModFix/>
          </a:blip>
          <a:srcRect b="0" l="0" r="0" t="0"/>
          <a:stretch/>
        </p:blipFill>
        <p:spPr>
          <a:xfrm>
            <a:off x="5891775" y="9458900"/>
            <a:ext cx="7332975" cy="452200"/>
          </a:xfrm>
          <a:prstGeom prst="rect">
            <a:avLst/>
          </a:prstGeom>
          <a:noFill/>
          <a:ln>
            <a:noFill/>
          </a:ln>
        </p:spPr>
      </p:pic>
      <p:pic>
        <p:nvPicPr>
          <p:cNvPr id="49" name="Google Shape;49;p27"/>
          <p:cNvPicPr preferRelativeResize="0"/>
          <p:nvPr/>
        </p:nvPicPr>
        <p:blipFill rotWithShape="1">
          <a:blip r:embed="rId3">
            <a:alphaModFix/>
          </a:blip>
          <a:srcRect b="0" l="0" r="0" t="0"/>
          <a:stretch/>
        </p:blipFill>
        <p:spPr>
          <a:xfrm>
            <a:off x="15735637" y="3097076"/>
            <a:ext cx="1028675" cy="1077350"/>
          </a:xfrm>
          <a:prstGeom prst="rect">
            <a:avLst/>
          </a:prstGeom>
          <a:noFill/>
          <a:ln>
            <a:noFill/>
          </a:ln>
        </p:spPr>
      </p:pic>
    </p:spTree>
  </p:cSld>
  <p:clrMapOvr>
    <a:masterClrMapping/>
  </p:clrMapOvr>
  <mc:AlternateContent>
    <mc:Choice Requires="p14">
      <p:transition spd="slow" p14:dur="900">
        <p14:flythrough dir="out" hasBounce="1"/>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Tree>
  </p:cSld>
  <p:clrMapOvr>
    <a:masterClrMapping/>
  </p:clrMapOvr>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 name="Shape 54"/>
        <p:cNvGrpSpPr/>
        <p:nvPr/>
      </p:nvGrpSpPr>
      <p:grpSpPr>
        <a:xfrm>
          <a:off x="0" y="0"/>
          <a:ext cx="0" cy="0"/>
          <a:chOff x="0" y="0"/>
          <a:chExt cx="0" cy="0"/>
        </a:xfrm>
      </p:grpSpPr>
      <p:sp>
        <p:nvSpPr>
          <p:cNvPr id="55" name="Google Shape;55;g39afd2df374_4_256"/>
          <p:cNvSpPr txBox="1"/>
          <p:nvPr>
            <p:ph idx="1" type="body"/>
          </p:nvPr>
        </p:nvSpPr>
        <p:spPr>
          <a:xfrm>
            <a:off x="4470163" y="596946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400"/>
              <a:buNone/>
              <a:defRPr/>
            </a:lvl1pPr>
            <a:lvl2pPr indent="-228600" lvl="1" marL="914400" algn="l">
              <a:lnSpc>
                <a:spcPct val="100000"/>
              </a:lnSpc>
              <a:spcBef>
                <a:spcPts val="360"/>
              </a:spcBef>
              <a:spcAft>
                <a:spcPts val="0"/>
              </a:spcAft>
              <a:buSzPts val="2400"/>
              <a:buNone/>
              <a:defRPr/>
            </a:lvl2pPr>
            <a:lvl3pPr indent="-228600" lvl="2" marL="1371600" algn="l">
              <a:lnSpc>
                <a:spcPct val="100000"/>
              </a:lnSpc>
              <a:spcBef>
                <a:spcPts val="320"/>
              </a:spcBef>
              <a:spcAft>
                <a:spcPts val="0"/>
              </a:spcAft>
              <a:buSzPts val="2400"/>
              <a:buNone/>
              <a:defRPr/>
            </a:lvl3pPr>
            <a:lvl4pPr indent="-228600" lvl="3" marL="1828800" algn="l">
              <a:lnSpc>
                <a:spcPct val="100000"/>
              </a:lnSpc>
              <a:spcBef>
                <a:spcPts val="280"/>
              </a:spcBef>
              <a:spcAft>
                <a:spcPts val="0"/>
              </a:spcAft>
              <a:buSzPts val="2400"/>
              <a:buNone/>
              <a:defRPr/>
            </a:lvl4pPr>
            <a:lvl5pPr indent="-228600" lvl="4" marL="2286000" algn="l">
              <a:lnSpc>
                <a:spcPct val="100000"/>
              </a:lnSpc>
              <a:spcBef>
                <a:spcPts val="280"/>
              </a:spcBef>
              <a:spcAft>
                <a:spcPts val="0"/>
              </a:spcAft>
              <a:buSzPts val="2400"/>
              <a:buNone/>
              <a:defRPr/>
            </a:lvl5pPr>
            <a:lvl6pPr indent="-228600" lvl="5" marL="2743200" algn="l">
              <a:lnSpc>
                <a:spcPct val="100000"/>
              </a:lnSpc>
              <a:spcBef>
                <a:spcPts val="280"/>
              </a:spcBef>
              <a:spcAft>
                <a:spcPts val="0"/>
              </a:spcAft>
              <a:buSzPts val="2400"/>
              <a:buNone/>
              <a:defRPr/>
            </a:lvl6pPr>
            <a:lvl7pPr indent="-228600" lvl="6" marL="3200400" algn="l">
              <a:lnSpc>
                <a:spcPct val="100000"/>
              </a:lnSpc>
              <a:spcBef>
                <a:spcPts val="280"/>
              </a:spcBef>
              <a:spcAft>
                <a:spcPts val="0"/>
              </a:spcAft>
              <a:buSzPts val="2400"/>
              <a:buNone/>
              <a:defRPr/>
            </a:lvl7pPr>
            <a:lvl8pPr indent="-228600" lvl="7" marL="3657600" algn="l">
              <a:lnSpc>
                <a:spcPct val="100000"/>
              </a:lnSpc>
              <a:spcBef>
                <a:spcPts val="280"/>
              </a:spcBef>
              <a:spcAft>
                <a:spcPts val="0"/>
              </a:spcAft>
              <a:buSzPts val="2400"/>
              <a:buNone/>
              <a:defRPr/>
            </a:lvl8pPr>
            <a:lvl9pPr indent="-228600" lvl="8" marL="4114800" algn="l">
              <a:lnSpc>
                <a:spcPct val="100000"/>
              </a:lnSpc>
              <a:spcBef>
                <a:spcPts val="280"/>
              </a:spcBef>
              <a:spcAft>
                <a:spcPts val="0"/>
              </a:spcAft>
              <a:buSzPts val="2400"/>
              <a:buNone/>
              <a:defRPr/>
            </a:lvl9pPr>
          </a:lstStyle>
          <a:p/>
        </p:txBody>
      </p:sp>
      <p:sp>
        <p:nvSpPr>
          <p:cNvPr id="56" name="Google Shape;56;g39afd2df374_4_256"/>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lt2"/>
              </a:buClr>
              <a:buSzPts val="9000"/>
              <a:buFont typeface="Montserrat"/>
              <a:buNone/>
              <a:defRPr i="0" sz="9000" u="none" cap="none" strike="noStrike">
                <a:solidFill>
                  <a:schemeClr val="lt2"/>
                </a:solidFill>
                <a:latin typeface="Montserrat"/>
                <a:ea typeface="Montserrat"/>
                <a:cs typeface="Montserrat"/>
                <a:sym typeface="Montserrat"/>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pic>
        <p:nvPicPr>
          <p:cNvPr id="57" name="Google Shape;57;g39afd2df374_4_256"/>
          <p:cNvPicPr preferRelativeResize="0"/>
          <p:nvPr/>
        </p:nvPicPr>
        <p:blipFill rotWithShape="1">
          <a:blip r:embed="rId2">
            <a:alphaModFix/>
          </a:blip>
          <a:srcRect b="0" l="0" r="0" t="0"/>
          <a:stretch/>
        </p:blipFill>
        <p:spPr>
          <a:xfrm>
            <a:off x="599493" y="9383075"/>
            <a:ext cx="7332981" cy="452200"/>
          </a:xfrm>
          <a:prstGeom prst="rect">
            <a:avLst/>
          </a:prstGeom>
          <a:noFill/>
          <a:ln>
            <a:noFill/>
          </a:ln>
        </p:spPr>
      </p:pic>
      <p:pic>
        <p:nvPicPr>
          <p:cNvPr id="58" name="Google Shape;58;g39afd2df374_4_256"/>
          <p:cNvPicPr preferRelativeResize="0"/>
          <p:nvPr/>
        </p:nvPicPr>
        <p:blipFill rotWithShape="1">
          <a:blip r:embed="rId3">
            <a:alphaModFix/>
          </a:blip>
          <a:srcRect b="0" l="0" r="0" t="0"/>
          <a:stretch/>
        </p:blipFill>
        <p:spPr>
          <a:xfrm flipH="1">
            <a:off x="918100" y="-460028"/>
            <a:ext cx="315975" cy="2166685"/>
          </a:xfrm>
          <a:prstGeom prst="rect">
            <a:avLst/>
          </a:prstGeom>
          <a:noFill/>
          <a:ln>
            <a:noFill/>
          </a:ln>
        </p:spPr>
      </p:pic>
      <p:pic>
        <p:nvPicPr>
          <p:cNvPr id="59" name="Google Shape;59;g39afd2df374_4_256"/>
          <p:cNvPicPr preferRelativeResize="0"/>
          <p:nvPr/>
        </p:nvPicPr>
        <p:blipFill rotWithShape="1">
          <a:blip r:embed="rId4">
            <a:alphaModFix/>
          </a:blip>
          <a:srcRect b="0" l="0" r="0" t="0"/>
          <a:stretch/>
        </p:blipFill>
        <p:spPr>
          <a:xfrm>
            <a:off x="17121283" y="5642875"/>
            <a:ext cx="698617" cy="6427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g39afd2df374_4_262"/>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g39afd2df374_4_262"/>
          <p:cNvSpPr txBox="1"/>
          <p:nvPr>
            <p:ph idx="1" type="body"/>
          </p:nvPr>
        </p:nvSpPr>
        <p:spPr>
          <a:xfrm>
            <a:off x="3348713" y="3942575"/>
            <a:ext cx="5688000" cy="45261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560"/>
              </a:spcBef>
              <a:spcAft>
                <a:spcPts val="0"/>
              </a:spcAft>
              <a:buClr>
                <a:schemeClr val="dk1"/>
              </a:buClr>
              <a:buSzPts val="2400"/>
              <a:buChar char="•"/>
              <a:defRPr/>
            </a:lvl1pPr>
            <a:lvl2pPr indent="-381000" lvl="1" marL="914400" algn="l">
              <a:lnSpc>
                <a:spcPct val="100000"/>
              </a:lnSpc>
              <a:spcBef>
                <a:spcPts val="480"/>
              </a:spcBef>
              <a:spcAft>
                <a:spcPts val="0"/>
              </a:spcAft>
              <a:buClr>
                <a:schemeClr val="dk1"/>
              </a:buClr>
              <a:buSzPts val="2400"/>
              <a:buChar char="–"/>
              <a:defRPr/>
            </a:lvl2pPr>
            <a:lvl3pPr indent="-381000" lvl="2" marL="1371600" algn="l">
              <a:lnSpc>
                <a:spcPct val="100000"/>
              </a:lnSpc>
              <a:spcBef>
                <a:spcPts val="400"/>
              </a:spcBef>
              <a:spcAft>
                <a:spcPts val="0"/>
              </a:spcAft>
              <a:buClr>
                <a:schemeClr val="dk1"/>
              </a:buClr>
              <a:buSzPts val="2400"/>
              <a:buChar char="•"/>
              <a:defRPr/>
            </a:lvl3pPr>
            <a:lvl4pPr indent="-381000" lvl="3" marL="1828800" algn="l">
              <a:lnSpc>
                <a:spcPct val="100000"/>
              </a:lnSpc>
              <a:spcBef>
                <a:spcPts val="360"/>
              </a:spcBef>
              <a:spcAft>
                <a:spcPts val="0"/>
              </a:spcAft>
              <a:buClr>
                <a:schemeClr val="dk1"/>
              </a:buClr>
              <a:buSzPts val="2400"/>
              <a:buChar char="–"/>
              <a:defRPr/>
            </a:lvl4pPr>
            <a:lvl5pPr indent="-381000" lvl="4" marL="2286000" algn="l">
              <a:lnSpc>
                <a:spcPct val="100000"/>
              </a:lnSpc>
              <a:spcBef>
                <a:spcPts val="360"/>
              </a:spcBef>
              <a:spcAft>
                <a:spcPts val="0"/>
              </a:spcAft>
              <a:buClr>
                <a:schemeClr val="dk1"/>
              </a:buClr>
              <a:buSzPts val="2400"/>
              <a:buChar char="»"/>
              <a:defRPr/>
            </a:lvl5pPr>
            <a:lvl6pPr indent="-381000" lvl="5" marL="2743200" algn="l">
              <a:lnSpc>
                <a:spcPct val="100000"/>
              </a:lnSpc>
              <a:spcBef>
                <a:spcPts val="360"/>
              </a:spcBef>
              <a:spcAft>
                <a:spcPts val="0"/>
              </a:spcAft>
              <a:buClr>
                <a:schemeClr val="dk1"/>
              </a:buClr>
              <a:buSzPts val="2400"/>
              <a:buChar char="•"/>
              <a:defRPr/>
            </a:lvl6pPr>
            <a:lvl7pPr indent="-381000" lvl="6" marL="3200400" algn="l">
              <a:lnSpc>
                <a:spcPct val="100000"/>
              </a:lnSpc>
              <a:spcBef>
                <a:spcPts val="360"/>
              </a:spcBef>
              <a:spcAft>
                <a:spcPts val="0"/>
              </a:spcAft>
              <a:buClr>
                <a:schemeClr val="dk1"/>
              </a:buClr>
              <a:buSzPts val="2400"/>
              <a:buChar char="•"/>
              <a:defRPr/>
            </a:lvl7pPr>
            <a:lvl8pPr indent="-381000" lvl="7" marL="3657600" algn="l">
              <a:lnSpc>
                <a:spcPct val="100000"/>
              </a:lnSpc>
              <a:spcBef>
                <a:spcPts val="360"/>
              </a:spcBef>
              <a:spcAft>
                <a:spcPts val="0"/>
              </a:spcAft>
              <a:buClr>
                <a:schemeClr val="dk1"/>
              </a:buClr>
              <a:buSzPts val="2400"/>
              <a:buChar char="•"/>
              <a:defRPr/>
            </a:lvl8pPr>
            <a:lvl9pPr indent="-381000" lvl="8" marL="4114800" algn="l">
              <a:lnSpc>
                <a:spcPct val="100000"/>
              </a:lnSpc>
              <a:spcBef>
                <a:spcPts val="360"/>
              </a:spcBef>
              <a:spcAft>
                <a:spcPts val="0"/>
              </a:spcAft>
              <a:buClr>
                <a:schemeClr val="dk1"/>
              </a:buClr>
              <a:buSzPts val="2400"/>
              <a:buChar char="•"/>
              <a:defRPr/>
            </a:lvl9pPr>
          </a:lstStyle>
          <a:p/>
        </p:txBody>
      </p:sp>
      <p:sp>
        <p:nvSpPr>
          <p:cNvPr id="63" name="Google Shape;63;g39afd2df374_4_262"/>
          <p:cNvSpPr txBox="1"/>
          <p:nvPr>
            <p:ph idx="2" type="body"/>
          </p:nvPr>
        </p:nvSpPr>
        <p:spPr>
          <a:xfrm>
            <a:off x="9251286" y="3942575"/>
            <a:ext cx="5688000" cy="45261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560"/>
              </a:spcBef>
              <a:spcAft>
                <a:spcPts val="0"/>
              </a:spcAft>
              <a:buClr>
                <a:schemeClr val="dk1"/>
              </a:buClr>
              <a:buSzPts val="2400"/>
              <a:buChar char="•"/>
              <a:defRPr/>
            </a:lvl1pPr>
            <a:lvl2pPr indent="-381000" lvl="1" marL="914400" algn="l">
              <a:lnSpc>
                <a:spcPct val="100000"/>
              </a:lnSpc>
              <a:spcBef>
                <a:spcPts val="480"/>
              </a:spcBef>
              <a:spcAft>
                <a:spcPts val="0"/>
              </a:spcAft>
              <a:buClr>
                <a:schemeClr val="dk1"/>
              </a:buClr>
              <a:buSzPts val="2400"/>
              <a:buChar char="–"/>
              <a:defRPr/>
            </a:lvl2pPr>
            <a:lvl3pPr indent="-381000" lvl="2" marL="1371600" algn="l">
              <a:lnSpc>
                <a:spcPct val="100000"/>
              </a:lnSpc>
              <a:spcBef>
                <a:spcPts val="400"/>
              </a:spcBef>
              <a:spcAft>
                <a:spcPts val="0"/>
              </a:spcAft>
              <a:buClr>
                <a:schemeClr val="dk1"/>
              </a:buClr>
              <a:buSzPts val="2400"/>
              <a:buChar char="•"/>
              <a:defRPr/>
            </a:lvl3pPr>
            <a:lvl4pPr indent="-381000" lvl="3" marL="1828800" algn="l">
              <a:lnSpc>
                <a:spcPct val="100000"/>
              </a:lnSpc>
              <a:spcBef>
                <a:spcPts val="360"/>
              </a:spcBef>
              <a:spcAft>
                <a:spcPts val="0"/>
              </a:spcAft>
              <a:buClr>
                <a:schemeClr val="dk1"/>
              </a:buClr>
              <a:buSzPts val="2400"/>
              <a:buChar char="–"/>
              <a:defRPr/>
            </a:lvl4pPr>
            <a:lvl5pPr indent="-381000" lvl="4" marL="2286000" algn="l">
              <a:lnSpc>
                <a:spcPct val="100000"/>
              </a:lnSpc>
              <a:spcBef>
                <a:spcPts val="360"/>
              </a:spcBef>
              <a:spcAft>
                <a:spcPts val="0"/>
              </a:spcAft>
              <a:buClr>
                <a:schemeClr val="dk1"/>
              </a:buClr>
              <a:buSzPts val="2400"/>
              <a:buChar char="»"/>
              <a:defRPr/>
            </a:lvl5pPr>
            <a:lvl6pPr indent="-381000" lvl="5" marL="2743200" algn="l">
              <a:lnSpc>
                <a:spcPct val="100000"/>
              </a:lnSpc>
              <a:spcBef>
                <a:spcPts val="360"/>
              </a:spcBef>
              <a:spcAft>
                <a:spcPts val="0"/>
              </a:spcAft>
              <a:buClr>
                <a:schemeClr val="dk1"/>
              </a:buClr>
              <a:buSzPts val="2400"/>
              <a:buChar char="•"/>
              <a:defRPr/>
            </a:lvl6pPr>
            <a:lvl7pPr indent="-381000" lvl="6" marL="3200400" algn="l">
              <a:lnSpc>
                <a:spcPct val="100000"/>
              </a:lnSpc>
              <a:spcBef>
                <a:spcPts val="360"/>
              </a:spcBef>
              <a:spcAft>
                <a:spcPts val="0"/>
              </a:spcAft>
              <a:buClr>
                <a:schemeClr val="dk1"/>
              </a:buClr>
              <a:buSzPts val="2400"/>
              <a:buChar char="•"/>
              <a:defRPr/>
            </a:lvl7pPr>
            <a:lvl8pPr indent="-381000" lvl="7" marL="3657600" algn="l">
              <a:lnSpc>
                <a:spcPct val="100000"/>
              </a:lnSpc>
              <a:spcBef>
                <a:spcPts val="360"/>
              </a:spcBef>
              <a:spcAft>
                <a:spcPts val="0"/>
              </a:spcAft>
              <a:buClr>
                <a:schemeClr val="dk1"/>
              </a:buClr>
              <a:buSzPts val="2400"/>
              <a:buChar char="•"/>
              <a:defRPr/>
            </a:lvl8pPr>
            <a:lvl9pPr indent="-381000" lvl="8" marL="4114800" algn="l">
              <a:lnSpc>
                <a:spcPct val="100000"/>
              </a:lnSpc>
              <a:spcBef>
                <a:spcPts val="360"/>
              </a:spcBef>
              <a:spcAft>
                <a:spcPts val="0"/>
              </a:spcAft>
              <a:buClr>
                <a:schemeClr val="dk1"/>
              </a:buClr>
              <a:buSzPts val="2400"/>
              <a:buChar char="•"/>
              <a:defRPr/>
            </a:lvl9pPr>
          </a:lstStyle>
          <a:p/>
        </p:txBody>
      </p:sp>
      <p:pic>
        <p:nvPicPr>
          <p:cNvPr id="64" name="Google Shape;64;g39afd2df374_4_262"/>
          <p:cNvPicPr preferRelativeResize="0"/>
          <p:nvPr/>
        </p:nvPicPr>
        <p:blipFill rotWithShape="1">
          <a:blip r:embed="rId2">
            <a:alphaModFix/>
          </a:blip>
          <a:srcRect b="0" l="0" r="0" t="0"/>
          <a:stretch/>
        </p:blipFill>
        <p:spPr>
          <a:xfrm>
            <a:off x="9759445" y="8906200"/>
            <a:ext cx="698618" cy="642725"/>
          </a:xfrm>
          <a:prstGeom prst="rect">
            <a:avLst/>
          </a:prstGeom>
          <a:noFill/>
          <a:ln>
            <a:noFill/>
          </a:ln>
        </p:spPr>
      </p:pic>
      <p:pic>
        <p:nvPicPr>
          <p:cNvPr id="65" name="Google Shape;65;g39afd2df374_4_262"/>
          <p:cNvPicPr preferRelativeResize="0"/>
          <p:nvPr/>
        </p:nvPicPr>
        <p:blipFill rotWithShape="1">
          <a:blip r:embed="rId3">
            <a:alphaModFix/>
          </a:blip>
          <a:srcRect b="0" l="0" r="0" t="0"/>
          <a:stretch/>
        </p:blipFill>
        <p:spPr>
          <a:xfrm>
            <a:off x="920279" y="3539646"/>
            <a:ext cx="761350" cy="700442"/>
          </a:xfrm>
          <a:prstGeom prst="rect">
            <a:avLst/>
          </a:prstGeom>
          <a:noFill/>
          <a:ln>
            <a:noFill/>
          </a:ln>
        </p:spPr>
      </p:pic>
      <p:pic>
        <p:nvPicPr>
          <p:cNvPr id="66" name="Google Shape;66;g39afd2df374_4_262"/>
          <p:cNvPicPr preferRelativeResize="0"/>
          <p:nvPr/>
        </p:nvPicPr>
        <p:blipFill rotWithShape="1">
          <a:blip r:embed="rId4">
            <a:alphaModFix/>
          </a:blip>
          <a:srcRect b="0" l="0" r="0" t="0"/>
          <a:stretch/>
        </p:blipFill>
        <p:spPr>
          <a:xfrm>
            <a:off x="14508963" y="329800"/>
            <a:ext cx="2905200" cy="4236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g39afd2df374_4_269"/>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g39afd2df374_4_269"/>
          <p:cNvSpPr txBox="1"/>
          <p:nvPr>
            <p:ph idx="1" type="body"/>
          </p:nvPr>
        </p:nvSpPr>
        <p:spPr>
          <a:xfrm>
            <a:off x="3329263" y="3990225"/>
            <a:ext cx="56136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lvl1pPr>
            <a:lvl2pPr indent="-381000" lvl="1" marL="914400" algn="l">
              <a:lnSpc>
                <a:spcPct val="100000"/>
              </a:lnSpc>
              <a:spcBef>
                <a:spcPts val="400"/>
              </a:spcBef>
              <a:spcAft>
                <a:spcPts val="0"/>
              </a:spcAft>
              <a:buClr>
                <a:schemeClr val="dk1"/>
              </a:buClr>
              <a:buSzPts val="2400"/>
              <a:buChar char="–"/>
              <a:defRPr/>
            </a:lvl2pPr>
            <a:lvl3pPr indent="-381000" lvl="2" marL="1371600" algn="l">
              <a:lnSpc>
                <a:spcPct val="100000"/>
              </a:lnSpc>
              <a:spcBef>
                <a:spcPts val="360"/>
              </a:spcBef>
              <a:spcAft>
                <a:spcPts val="0"/>
              </a:spcAft>
              <a:buClr>
                <a:schemeClr val="dk1"/>
              </a:buClr>
              <a:buSzPts val="2400"/>
              <a:buChar char="•"/>
              <a:defRPr/>
            </a:lvl3pPr>
            <a:lvl4pPr indent="-381000" lvl="3" marL="1828800" algn="l">
              <a:lnSpc>
                <a:spcPct val="100000"/>
              </a:lnSpc>
              <a:spcBef>
                <a:spcPts val="320"/>
              </a:spcBef>
              <a:spcAft>
                <a:spcPts val="0"/>
              </a:spcAft>
              <a:buClr>
                <a:schemeClr val="dk1"/>
              </a:buClr>
              <a:buSzPts val="2400"/>
              <a:buChar char="–"/>
              <a:defRPr/>
            </a:lvl4pPr>
            <a:lvl5pPr indent="-381000" lvl="4" marL="2286000" algn="l">
              <a:lnSpc>
                <a:spcPct val="100000"/>
              </a:lnSpc>
              <a:spcBef>
                <a:spcPts val="320"/>
              </a:spcBef>
              <a:spcAft>
                <a:spcPts val="0"/>
              </a:spcAft>
              <a:buClr>
                <a:schemeClr val="dk1"/>
              </a:buClr>
              <a:buSzPts val="2400"/>
              <a:buChar char="»"/>
              <a:defRPr/>
            </a:lvl5pPr>
            <a:lvl6pPr indent="-381000" lvl="5" marL="2743200" algn="l">
              <a:lnSpc>
                <a:spcPct val="100000"/>
              </a:lnSpc>
              <a:spcBef>
                <a:spcPts val="320"/>
              </a:spcBef>
              <a:spcAft>
                <a:spcPts val="0"/>
              </a:spcAft>
              <a:buClr>
                <a:schemeClr val="dk1"/>
              </a:buClr>
              <a:buSzPts val="2400"/>
              <a:buChar char="•"/>
              <a:defRPr/>
            </a:lvl6pPr>
            <a:lvl7pPr indent="-381000" lvl="6" marL="3200400" algn="l">
              <a:lnSpc>
                <a:spcPct val="100000"/>
              </a:lnSpc>
              <a:spcBef>
                <a:spcPts val="320"/>
              </a:spcBef>
              <a:spcAft>
                <a:spcPts val="0"/>
              </a:spcAft>
              <a:buClr>
                <a:schemeClr val="dk1"/>
              </a:buClr>
              <a:buSzPts val="2400"/>
              <a:buChar char="•"/>
              <a:defRPr/>
            </a:lvl7pPr>
            <a:lvl8pPr indent="-381000" lvl="7" marL="3657600" algn="l">
              <a:lnSpc>
                <a:spcPct val="100000"/>
              </a:lnSpc>
              <a:spcBef>
                <a:spcPts val="320"/>
              </a:spcBef>
              <a:spcAft>
                <a:spcPts val="0"/>
              </a:spcAft>
              <a:buClr>
                <a:schemeClr val="dk1"/>
              </a:buClr>
              <a:buSzPts val="2400"/>
              <a:buChar char="•"/>
              <a:defRPr/>
            </a:lvl8pPr>
            <a:lvl9pPr indent="-381000" lvl="8" marL="4114800" algn="l">
              <a:lnSpc>
                <a:spcPct val="100000"/>
              </a:lnSpc>
              <a:spcBef>
                <a:spcPts val="320"/>
              </a:spcBef>
              <a:spcAft>
                <a:spcPts val="0"/>
              </a:spcAft>
              <a:buClr>
                <a:schemeClr val="dk1"/>
              </a:buClr>
              <a:buSzPts val="2400"/>
              <a:buChar char="•"/>
              <a:defRPr/>
            </a:lvl9pPr>
          </a:lstStyle>
          <a:p/>
        </p:txBody>
      </p:sp>
      <p:sp>
        <p:nvSpPr>
          <p:cNvPr id="70" name="Google Shape;70;g39afd2df374_4_269"/>
          <p:cNvSpPr txBox="1"/>
          <p:nvPr>
            <p:ph idx="2" type="body"/>
          </p:nvPr>
        </p:nvSpPr>
        <p:spPr>
          <a:xfrm>
            <a:off x="9147887" y="3990225"/>
            <a:ext cx="56157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lvl1pPr>
            <a:lvl2pPr indent="-381000" lvl="1" marL="914400" algn="l">
              <a:lnSpc>
                <a:spcPct val="100000"/>
              </a:lnSpc>
              <a:spcBef>
                <a:spcPts val="400"/>
              </a:spcBef>
              <a:spcAft>
                <a:spcPts val="0"/>
              </a:spcAft>
              <a:buClr>
                <a:schemeClr val="dk1"/>
              </a:buClr>
              <a:buSzPts val="2400"/>
              <a:buChar char="–"/>
              <a:defRPr/>
            </a:lvl2pPr>
            <a:lvl3pPr indent="-381000" lvl="2" marL="1371600" algn="l">
              <a:lnSpc>
                <a:spcPct val="100000"/>
              </a:lnSpc>
              <a:spcBef>
                <a:spcPts val="360"/>
              </a:spcBef>
              <a:spcAft>
                <a:spcPts val="0"/>
              </a:spcAft>
              <a:buClr>
                <a:schemeClr val="dk1"/>
              </a:buClr>
              <a:buSzPts val="2400"/>
              <a:buChar char="•"/>
              <a:defRPr/>
            </a:lvl3pPr>
            <a:lvl4pPr indent="-381000" lvl="3" marL="1828800" algn="l">
              <a:lnSpc>
                <a:spcPct val="100000"/>
              </a:lnSpc>
              <a:spcBef>
                <a:spcPts val="320"/>
              </a:spcBef>
              <a:spcAft>
                <a:spcPts val="0"/>
              </a:spcAft>
              <a:buClr>
                <a:schemeClr val="dk1"/>
              </a:buClr>
              <a:buSzPts val="2400"/>
              <a:buChar char="–"/>
              <a:defRPr/>
            </a:lvl4pPr>
            <a:lvl5pPr indent="-381000" lvl="4" marL="2286000" algn="l">
              <a:lnSpc>
                <a:spcPct val="100000"/>
              </a:lnSpc>
              <a:spcBef>
                <a:spcPts val="320"/>
              </a:spcBef>
              <a:spcAft>
                <a:spcPts val="0"/>
              </a:spcAft>
              <a:buClr>
                <a:schemeClr val="dk1"/>
              </a:buClr>
              <a:buSzPts val="2400"/>
              <a:buChar char="»"/>
              <a:defRPr/>
            </a:lvl5pPr>
            <a:lvl6pPr indent="-381000" lvl="5" marL="2743200" algn="l">
              <a:lnSpc>
                <a:spcPct val="100000"/>
              </a:lnSpc>
              <a:spcBef>
                <a:spcPts val="320"/>
              </a:spcBef>
              <a:spcAft>
                <a:spcPts val="0"/>
              </a:spcAft>
              <a:buClr>
                <a:schemeClr val="dk1"/>
              </a:buClr>
              <a:buSzPts val="2400"/>
              <a:buChar char="•"/>
              <a:defRPr/>
            </a:lvl6pPr>
            <a:lvl7pPr indent="-381000" lvl="6" marL="3200400" algn="l">
              <a:lnSpc>
                <a:spcPct val="100000"/>
              </a:lnSpc>
              <a:spcBef>
                <a:spcPts val="320"/>
              </a:spcBef>
              <a:spcAft>
                <a:spcPts val="0"/>
              </a:spcAft>
              <a:buClr>
                <a:schemeClr val="dk1"/>
              </a:buClr>
              <a:buSzPts val="2400"/>
              <a:buChar char="•"/>
              <a:defRPr/>
            </a:lvl7pPr>
            <a:lvl8pPr indent="-381000" lvl="7" marL="3657600" algn="l">
              <a:lnSpc>
                <a:spcPct val="100000"/>
              </a:lnSpc>
              <a:spcBef>
                <a:spcPts val="320"/>
              </a:spcBef>
              <a:spcAft>
                <a:spcPts val="0"/>
              </a:spcAft>
              <a:buClr>
                <a:schemeClr val="dk1"/>
              </a:buClr>
              <a:buSzPts val="2400"/>
              <a:buChar char="•"/>
              <a:defRPr/>
            </a:lvl8pPr>
            <a:lvl9pPr indent="-381000" lvl="8" marL="4114800" algn="l">
              <a:lnSpc>
                <a:spcPct val="100000"/>
              </a:lnSpc>
              <a:spcBef>
                <a:spcPts val="320"/>
              </a:spcBef>
              <a:spcAft>
                <a:spcPts val="0"/>
              </a:spcAft>
              <a:buClr>
                <a:schemeClr val="dk1"/>
              </a:buClr>
              <a:buSzPts val="2400"/>
              <a:buChar char="•"/>
              <a:defRPr/>
            </a:lvl9pPr>
          </a:lstStyle>
          <a:p/>
        </p:txBody>
      </p:sp>
      <p:pic>
        <p:nvPicPr>
          <p:cNvPr id="71" name="Google Shape;71;g39afd2df374_4_269"/>
          <p:cNvPicPr preferRelativeResize="0"/>
          <p:nvPr/>
        </p:nvPicPr>
        <p:blipFill rotWithShape="1">
          <a:blip r:embed="rId2">
            <a:alphaModFix/>
          </a:blip>
          <a:srcRect b="0" l="0" r="0" t="0"/>
          <a:stretch/>
        </p:blipFill>
        <p:spPr>
          <a:xfrm flipH="1">
            <a:off x="727550" y="397975"/>
            <a:ext cx="423675" cy="2905200"/>
          </a:xfrm>
          <a:prstGeom prst="rect">
            <a:avLst/>
          </a:prstGeom>
          <a:noFill/>
          <a:ln>
            <a:noFill/>
          </a:ln>
        </p:spPr>
      </p:pic>
      <p:pic>
        <p:nvPicPr>
          <p:cNvPr id="72" name="Google Shape;72;g39afd2df374_4_269"/>
          <p:cNvPicPr preferRelativeResize="0"/>
          <p:nvPr/>
        </p:nvPicPr>
        <p:blipFill rotWithShape="1">
          <a:blip r:embed="rId3">
            <a:alphaModFix/>
          </a:blip>
          <a:srcRect b="0" l="0" r="0" t="0"/>
          <a:stretch/>
        </p:blipFill>
        <p:spPr>
          <a:xfrm>
            <a:off x="16923554" y="4609496"/>
            <a:ext cx="761350" cy="700442"/>
          </a:xfrm>
          <a:prstGeom prst="rect">
            <a:avLst/>
          </a:prstGeom>
          <a:noFill/>
          <a:ln>
            <a:noFill/>
          </a:ln>
        </p:spPr>
      </p:pic>
      <p:pic>
        <p:nvPicPr>
          <p:cNvPr id="73" name="Google Shape;73;g39afd2df374_4_269"/>
          <p:cNvPicPr preferRelativeResize="0"/>
          <p:nvPr/>
        </p:nvPicPr>
        <p:blipFill rotWithShape="1">
          <a:blip r:embed="rId4">
            <a:alphaModFix/>
          </a:blip>
          <a:srcRect b="0" l="0" r="0" t="0"/>
          <a:stretch/>
        </p:blipFill>
        <p:spPr>
          <a:xfrm>
            <a:off x="15158157" y="8484563"/>
            <a:ext cx="2526742" cy="6412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 name="Shape 74"/>
        <p:cNvGrpSpPr/>
        <p:nvPr/>
      </p:nvGrpSpPr>
      <p:grpSpPr>
        <a:xfrm>
          <a:off x="0" y="0"/>
          <a:ext cx="0" cy="0"/>
          <a:chOff x="0" y="0"/>
          <a:chExt cx="0" cy="0"/>
        </a:xfrm>
      </p:grpSpPr>
      <p:sp>
        <p:nvSpPr>
          <p:cNvPr id="75" name="Google Shape;75;g39afd2df374_4_276"/>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76" name="Google Shape;76;g39afd2df374_4_276"/>
          <p:cNvPicPr preferRelativeResize="0"/>
          <p:nvPr/>
        </p:nvPicPr>
        <p:blipFill rotWithShape="1">
          <a:blip r:embed="rId2">
            <a:alphaModFix/>
          </a:blip>
          <a:srcRect b="0" l="0" r="0" t="0"/>
          <a:stretch/>
        </p:blipFill>
        <p:spPr>
          <a:xfrm>
            <a:off x="768288" y="2663077"/>
            <a:ext cx="1204950" cy="1807425"/>
          </a:xfrm>
          <a:prstGeom prst="rect">
            <a:avLst/>
          </a:prstGeom>
          <a:noFill/>
          <a:ln>
            <a:noFill/>
          </a:ln>
        </p:spPr>
      </p:pic>
      <p:pic>
        <p:nvPicPr>
          <p:cNvPr id="77" name="Google Shape;77;g39afd2df374_4_276"/>
          <p:cNvPicPr preferRelativeResize="0"/>
          <p:nvPr/>
        </p:nvPicPr>
        <p:blipFill rotWithShape="1">
          <a:blip r:embed="rId3">
            <a:alphaModFix/>
          </a:blip>
          <a:srcRect b="0" l="0" r="0" t="0"/>
          <a:stretch/>
        </p:blipFill>
        <p:spPr>
          <a:xfrm>
            <a:off x="16676125" y="4024296"/>
            <a:ext cx="423675" cy="2947304"/>
          </a:xfrm>
          <a:prstGeom prst="rect">
            <a:avLst/>
          </a:prstGeom>
          <a:noFill/>
          <a:ln>
            <a:noFill/>
          </a:ln>
        </p:spPr>
      </p:pic>
      <p:pic>
        <p:nvPicPr>
          <p:cNvPr id="78" name="Google Shape;78;g39afd2df374_4_276"/>
          <p:cNvPicPr preferRelativeResize="0"/>
          <p:nvPr/>
        </p:nvPicPr>
        <p:blipFill rotWithShape="1">
          <a:blip r:embed="rId4">
            <a:alphaModFix/>
          </a:blip>
          <a:srcRect b="0" l="0" r="0" t="0"/>
          <a:stretch/>
        </p:blipFill>
        <p:spPr>
          <a:xfrm>
            <a:off x="13221475" y="9041450"/>
            <a:ext cx="7332975" cy="4522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9" name="Shape 79"/>
        <p:cNvGrpSpPr/>
        <p:nvPr/>
      </p:nvGrpSpPr>
      <p:grpSpPr>
        <a:xfrm>
          <a:off x="0" y="0"/>
          <a:ext cx="0" cy="0"/>
          <a:chOff x="0" y="0"/>
          <a:chExt cx="0" cy="0"/>
        </a:xfrm>
      </p:grpSpPr>
      <p:sp>
        <p:nvSpPr>
          <p:cNvPr id="80" name="Google Shape;80;g39afd2df374_4_281"/>
          <p:cNvSpPr txBox="1"/>
          <p:nvPr>
            <p:ph idx="1" type="body"/>
          </p:nvPr>
        </p:nvSpPr>
        <p:spPr>
          <a:xfrm>
            <a:off x="8915784" y="3571925"/>
            <a:ext cx="6411300" cy="58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640"/>
              </a:spcBef>
              <a:spcAft>
                <a:spcPts val="0"/>
              </a:spcAft>
              <a:buClr>
                <a:schemeClr val="dk1"/>
              </a:buClr>
              <a:buSzPts val="2400"/>
              <a:buChar char="•"/>
              <a:defRPr/>
            </a:lvl1pPr>
            <a:lvl2pPr indent="-381000" lvl="1" marL="914400" algn="l">
              <a:lnSpc>
                <a:spcPct val="100000"/>
              </a:lnSpc>
              <a:spcBef>
                <a:spcPts val="560"/>
              </a:spcBef>
              <a:spcAft>
                <a:spcPts val="0"/>
              </a:spcAft>
              <a:buClr>
                <a:schemeClr val="dk1"/>
              </a:buClr>
              <a:buSzPts val="2400"/>
              <a:buChar char="–"/>
              <a:defRPr/>
            </a:lvl2pPr>
            <a:lvl3pPr indent="-381000" lvl="2" marL="1371600" algn="l">
              <a:lnSpc>
                <a:spcPct val="100000"/>
              </a:lnSpc>
              <a:spcBef>
                <a:spcPts val="480"/>
              </a:spcBef>
              <a:spcAft>
                <a:spcPts val="0"/>
              </a:spcAft>
              <a:buClr>
                <a:schemeClr val="dk1"/>
              </a:buClr>
              <a:buSzPts val="2400"/>
              <a:buChar char="•"/>
              <a:defRPr/>
            </a:lvl3pPr>
            <a:lvl4pPr indent="-381000" lvl="3" marL="1828800" algn="l">
              <a:lnSpc>
                <a:spcPct val="100000"/>
              </a:lnSpc>
              <a:spcBef>
                <a:spcPts val="400"/>
              </a:spcBef>
              <a:spcAft>
                <a:spcPts val="0"/>
              </a:spcAft>
              <a:buClr>
                <a:schemeClr val="dk1"/>
              </a:buClr>
              <a:buSzPts val="2400"/>
              <a:buChar char="–"/>
              <a:defRPr/>
            </a:lvl4pPr>
            <a:lvl5pPr indent="-381000" lvl="4" marL="2286000" algn="l">
              <a:lnSpc>
                <a:spcPct val="100000"/>
              </a:lnSpc>
              <a:spcBef>
                <a:spcPts val="400"/>
              </a:spcBef>
              <a:spcAft>
                <a:spcPts val="0"/>
              </a:spcAft>
              <a:buClr>
                <a:schemeClr val="dk1"/>
              </a:buClr>
              <a:buSzPts val="2400"/>
              <a:buChar char="»"/>
              <a:defRPr/>
            </a:lvl5pPr>
            <a:lvl6pPr indent="-381000" lvl="5" marL="2743200" algn="l">
              <a:lnSpc>
                <a:spcPct val="100000"/>
              </a:lnSpc>
              <a:spcBef>
                <a:spcPts val="400"/>
              </a:spcBef>
              <a:spcAft>
                <a:spcPts val="0"/>
              </a:spcAft>
              <a:buClr>
                <a:schemeClr val="dk1"/>
              </a:buClr>
              <a:buSzPts val="2400"/>
              <a:buChar char="•"/>
              <a:defRPr/>
            </a:lvl6pPr>
            <a:lvl7pPr indent="-381000" lvl="6" marL="3200400" algn="l">
              <a:lnSpc>
                <a:spcPct val="100000"/>
              </a:lnSpc>
              <a:spcBef>
                <a:spcPts val="400"/>
              </a:spcBef>
              <a:spcAft>
                <a:spcPts val="0"/>
              </a:spcAft>
              <a:buClr>
                <a:schemeClr val="dk1"/>
              </a:buClr>
              <a:buSzPts val="2400"/>
              <a:buChar char="•"/>
              <a:defRPr/>
            </a:lvl7pPr>
            <a:lvl8pPr indent="-381000" lvl="7" marL="3657600" algn="l">
              <a:lnSpc>
                <a:spcPct val="100000"/>
              </a:lnSpc>
              <a:spcBef>
                <a:spcPts val="400"/>
              </a:spcBef>
              <a:spcAft>
                <a:spcPts val="0"/>
              </a:spcAft>
              <a:buClr>
                <a:schemeClr val="dk1"/>
              </a:buClr>
              <a:buSzPts val="2400"/>
              <a:buChar char="•"/>
              <a:defRPr/>
            </a:lvl8pPr>
            <a:lvl9pPr indent="-381000" lvl="8" marL="4114800" algn="l">
              <a:lnSpc>
                <a:spcPct val="100000"/>
              </a:lnSpc>
              <a:spcBef>
                <a:spcPts val="400"/>
              </a:spcBef>
              <a:spcAft>
                <a:spcPts val="0"/>
              </a:spcAft>
              <a:buClr>
                <a:schemeClr val="dk1"/>
              </a:buClr>
              <a:buSzPts val="2400"/>
              <a:buChar char="•"/>
              <a:defRPr/>
            </a:lvl9pPr>
          </a:lstStyle>
          <a:p/>
        </p:txBody>
      </p:sp>
      <p:sp>
        <p:nvSpPr>
          <p:cNvPr id="81" name="Google Shape;81;g39afd2df374_4_281"/>
          <p:cNvSpPr txBox="1"/>
          <p:nvPr>
            <p:ph idx="2" type="body"/>
          </p:nvPr>
        </p:nvSpPr>
        <p:spPr>
          <a:xfrm>
            <a:off x="2658600" y="3734900"/>
            <a:ext cx="59052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2400"/>
              <a:buNone/>
              <a:defRPr/>
            </a:lvl1pPr>
            <a:lvl2pPr indent="-228600" lvl="1" marL="914400" algn="l">
              <a:lnSpc>
                <a:spcPct val="100000"/>
              </a:lnSpc>
              <a:spcBef>
                <a:spcPts val="240"/>
              </a:spcBef>
              <a:spcAft>
                <a:spcPts val="0"/>
              </a:spcAft>
              <a:buClr>
                <a:schemeClr val="dk1"/>
              </a:buClr>
              <a:buSzPts val="2400"/>
              <a:buNone/>
              <a:defRPr/>
            </a:lvl2pPr>
            <a:lvl3pPr indent="-228600" lvl="2" marL="1371600" algn="l">
              <a:lnSpc>
                <a:spcPct val="100000"/>
              </a:lnSpc>
              <a:spcBef>
                <a:spcPts val="200"/>
              </a:spcBef>
              <a:spcAft>
                <a:spcPts val="0"/>
              </a:spcAft>
              <a:buClr>
                <a:schemeClr val="dk1"/>
              </a:buClr>
              <a:buSzPts val="2400"/>
              <a:buNone/>
              <a:defRPr/>
            </a:lvl3pPr>
            <a:lvl4pPr indent="-228600" lvl="3" marL="1828800" algn="l">
              <a:lnSpc>
                <a:spcPct val="100000"/>
              </a:lnSpc>
              <a:spcBef>
                <a:spcPts val="180"/>
              </a:spcBef>
              <a:spcAft>
                <a:spcPts val="0"/>
              </a:spcAft>
              <a:buClr>
                <a:schemeClr val="dk1"/>
              </a:buClr>
              <a:buSzPts val="2400"/>
              <a:buNone/>
              <a:defRPr/>
            </a:lvl4pPr>
            <a:lvl5pPr indent="-228600" lvl="4" marL="2286000" algn="l">
              <a:lnSpc>
                <a:spcPct val="100000"/>
              </a:lnSpc>
              <a:spcBef>
                <a:spcPts val="180"/>
              </a:spcBef>
              <a:spcAft>
                <a:spcPts val="0"/>
              </a:spcAft>
              <a:buClr>
                <a:schemeClr val="dk1"/>
              </a:buClr>
              <a:buSzPts val="2400"/>
              <a:buNone/>
              <a:defRPr/>
            </a:lvl5pPr>
            <a:lvl6pPr indent="-228600" lvl="5" marL="2743200" algn="l">
              <a:lnSpc>
                <a:spcPct val="100000"/>
              </a:lnSpc>
              <a:spcBef>
                <a:spcPts val="180"/>
              </a:spcBef>
              <a:spcAft>
                <a:spcPts val="0"/>
              </a:spcAft>
              <a:buClr>
                <a:schemeClr val="dk1"/>
              </a:buClr>
              <a:buSzPts val="2400"/>
              <a:buNone/>
              <a:defRPr/>
            </a:lvl6pPr>
            <a:lvl7pPr indent="-228600" lvl="6" marL="3200400" algn="l">
              <a:lnSpc>
                <a:spcPct val="100000"/>
              </a:lnSpc>
              <a:spcBef>
                <a:spcPts val="180"/>
              </a:spcBef>
              <a:spcAft>
                <a:spcPts val="0"/>
              </a:spcAft>
              <a:buClr>
                <a:schemeClr val="dk1"/>
              </a:buClr>
              <a:buSzPts val="2400"/>
              <a:buNone/>
              <a:defRPr/>
            </a:lvl7pPr>
            <a:lvl8pPr indent="-228600" lvl="7" marL="3657600" algn="l">
              <a:lnSpc>
                <a:spcPct val="100000"/>
              </a:lnSpc>
              <a:spcBef>
                <a:spcPts val="180"/>
              </a:spcBef>
              <a:spcAft>
                <a:spcPts val="0"/>
              </a:spcAft>
              <a:buClr>
                <a:schemeClr val="dk1"/>
              </a:buClr>
              <a:buSzPts val="2400"/>
              <a:buNone/>
              <a:defRPr/>
            </a:lvl8pPr>
            <a:lvl9pPr indent="-228600" lvl="8" marL="4114800" algn="l">
              <a:lnSpc>
                <a:spcPct val="100000"/>
              </a:lnSpc>
              <a:spcBef>
                <a:spcPts val="180"/>
              </a:spcBef>
              <a:spcAft>
                <a:spcPts val="0"/>
              </a:spcAft>
              <a:buClr>
                <a:schemeClr val="dk1"/>
              </a:buClr>
              <a:buSzPts val="2400"/>
              <a:buNone/>
              <a:defRPr/>
            </a:lvl9pPr>
          </a:lstStyle>
          <a:p/>
        </p:txBody>
      </p:sp>
      <p:sp>
        <p:nvSpPr>
          <p:cNvPr id="82" name="Google Shape;82;g39afd2df374_4_281"/>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lt2"/>
              </a:buClr>
              <a:buSzPts val="9000"/>
              <a:buFont typeface="Montserrat"/>
              <a:buNone/>
              <a:defRPr i="0" sz="9000" u="none" cap="none" strike="noStrike">
                <a:solidFill>
                  <a:schemeClr val="lt2"/>
                </a:solidFill>
                <a:latin typeface="Montserrat"/>
                <a:ea typeface="Montserrat"/>
                <a:cs typeface="Montserrat"/>
                <a:sym typeface="Montserrat"/>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grpSp>
        <p:nvGrpSpPr>
          <p:cNvPr id="83" name="Google Shape;83;g39afd2df374_4_281"/>
          <p:cNvGrpSpPr/>
          <p:nvPr/>
        </p:nvGrpSpPr>
        <p:grpSpPr>
          <a:xfrm>
            <a:off x="-597409" y="8881113"/>
            <a:ext cx="18996576" cy="1136048"/>
            <a:chOff x="0" y="-38100"/>
            <a:chExt cx="6366358" cy="380726"/>
          </a:xfrm>
        </p:grpSpPr>
        <p:sp>
          <p:nvSpPr>
            <p:cNvPr id="84" name="Google Shape;84;g39afd2df374_4_281"/>
            <p:cNvSpPr/>
            <p:nvPr/>
          </p:nvSpPr>
          <p:spPr>
            <a:xfrm>
              <a:off x="0" y="0"/>
              <a:ext cx="6366358" cy="342626"/>
            </a:xfrm>
            <a:custGeom>
              <a:rect b="b" l="l" r="r" t="t"/>
              <a:pathLst>
                <a:path extrusionOk="0" h="342626" w="6366358">
                  <a:moveTo>
                    <a:pt x="0" y="0"/>
                  </a:moveTo>
                  <a:lnTo>
                    <a:pt x="6366358" y="0"/>
                  </a:lnTo>
                  <a:lnTo>
                    <a:pt x="6366358" y="342626"/>
                  </a:lnTo>
                  <a:lnTo>
                    <a:pt x="0" y="342626"/>
                  </a:lnTo>
                  <a:close/>
                </a:path>
              </a:pathLst>
            </a:custGeom>
            <a:solidFill>
              <a:srgbClr val="F7574B"/>
            </a:solidFill>
            <a:ln>
              <a:noFill/>
            </a:ln>
          </p:spPr>
        </p:sp>
        <p:sp>
          <p:nvSpPr>
            <p:cNvPr id="85" name="Google Shape;85;g39afd2df374_4_281"/>
            <p:cNvSpPr txBox="1"/>
            <p:nvPr/>
          </p:nvSpPr>
          <p:spPr>
            <a:xfrm>
              <a:off x="0" y="-38100"/>
              <a:ext cx="6366300" cy="3807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86" name="Google Shape;86;g39afd2df374_4_281"/>
          <p:cNvPicPr preferRelativeResize="0"/>
          <p:nvPr/>
        </p:nvPicPr>
        <p:blipFill rotWithShape="1">
          <a:blip r:embed="rId2">
            <a:alphaModFix/>
          </a:blip>
          <a:srcRect b="0" l="0" r="0" t="0"/>
          <a:stretch/>
        </p:blipFill>
        <p:spPr>
          <a:xfrm>
            <a:off x="17149675" y="7996454"/>
            <a:ext cx="423700" cy="2905372"/>
          </a:xfrm>
          <a:prstGeom prst="rect">
            <a:avLst/>
          </a:prstGeom>
          <a:noFill/>
          <a:ln>
            <a:noFill/>
          </a:ln>
        </p:spPr>
      </p:pic>
      <p:pic>
        <p:nvPicPr>
          <p:cNvPr id="87" name="Google Shape;87;g39afd2df374_4_281"/>
          <p:cNvPicPr preferRelativeResize="0"/>
          <p:nvPr/>
        </p:nvPicPr>
        <p:blipFill rotWithShape="1">
          <a:blip r:embed="rId3">
            <a:alphaModFix/>
          </a:blip>
          <a:srcRect b="0" l="0" r="0" t="0"/>
          <a:stretch/>
        </p:blipFill>
        <p:spPr>
          <a:xfrm>
            <a:off x="-688255" y="7779613"/>
            <a:ext cx="2526742" cy="641225"/>
          </a:xfrm>
          <a:prstGeom prst="rect">
            <a:avLst/>
          </a:prstGeom>
          <a:noFill/>
          <a:ln>
            <a:noFill/>
          </a:ln>
        </p:spPr>
      </p:pic>
      <p:pic>
        <p:nvPicPr>
          <p:cNvPr id="88" name="Google Shape;88;g39afd2df374_4_281"/>
          <p:cNvPicPr preferRelativeResize="0"/>
          <p:nvPr/>
        </p:nvPicPr>
        <p:blipFill rotWithShape="1">
          <a:blip r:embed="rId4">
            <a:alphaModFix/>
          </a:blip>
          <a:srcRect b="0" l="0" r="0" t="0"/>
          <a:stretch/>
        </p:blipFill>
        <p:spPr>
          <a:xfrm>
            <a:off x="15229304" y="1931600"/>
            <a:ext cx="940575" cy="8726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9" name="Shape 89"/>
        <p:cNvGrpSpPr/>
        <p:nvPr/>
      </p:nvGrpSpPr>
      <p:grpSpPr>
        <a:xfrm>
          <a:off x="0" y="0"/>
          <a:ext cx="0" cy="0"/>
          <a:chOff x="0" y="0"/>
          <a:chExt cx="0" cy="0"/>
        </a:xfrm>
      </p:grpSpPr>
      <p:sp>
        <p:nvSpPr>
          <p:cNvPr id="90" name="Google Shape;90;g39afd2df374_4_291"/>
          <p:cNvSpPr/>
          <p:nvPr>
            <p:ph idx="2" type="pic"/>
          </p:nvPr>
        </p:nvSpPr>
        <p:spPr>
          <a:xfrm>
            <a:off x="11103296" y="4653400"/>
            <a:ext cx="3735900" cy="2801700"/>
          </a:xfrm>
          <a:prstGeom prst="rect">
            <a:avLst/>
          </a:prstGeom>
          <a:noFill/>
          <a:ln>
            <a:noFill/>
          </a:ln>
        </p:spPr>
      </p:sp>
      <p:sp>
        <p:nvSpPr>
          <p:cNvPr id="91" name="Google Shape;91;g39afd2df374_4_291"/>
          <p:cNvSpPr txBox="1"/>
          <p:nvPr>
            <p:ph idx="1" type="body"/>
          </p:nvPr>
        </p:nvSpPr>
        <p:spPr>
          <a:xfrm>
            <a:off x="2908863" y="4038313"/>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2400"/>
              <a:buNone/>
              <a:defRPr/>
            </a:lvl1pPr>
            <a:lvl2pPr indent="-228600" lvl="1" marL="914400" algn="l">
              <a:lnSpc>
                <a:spcPct val="100000"/>
              </a:lnSpc>
              <a:spcBef>
                <a:spcPts val="240"/>
              </a:spcBef>
              <a:spcAft>
                <a:spcPts val="0"/>
              </a:spcAft>
              <a:buClr>
                <a:schemeClr val="dk1"/>
              </a:buClr>
              <a:buSzPts val="2400"/>
              <a:buNone/>
              <a:defRPr/>
            </a:lvl2pPr>
            <a:lvl3pPr indent="-228600" lvl="2" marL="1371600" algn="l">
              <a:lnSpc>
                <a:spcPct val="100000"/>
              </a:lnSpc>
              <a:spcBef>
                <a:spcPts val="200"/>
              </a:spcBef>
              <a:spcAft>
                <a:spcPts val="0"/>
              </a:spcAft>
              <a:buClr>
                <a:schemeClr val="dk1"/>
              </a:buClr>
              <a:buSzPts val="2400"/>
              <a:buNone/>
              <a:defRPr/>
            </a:lvl3pPr>
            <a:lvl4pPr indent="-228600" lvl="3" marL="1828800" algn="l">
              <a:lnSpc>
                <a:spcPct val="100000"/>
              </a:lnSpc>
              <a:spcBef>
                <a:spcPts val="180"/>
              </a:spcBef>
              <a:spcAft>
                <a:spcPts val="0"/>
              </a:spcAft>
              <a:buClr>
                <a:schemeClr val="dk1"/>
              </a:buClr>
              <a:buSzPts val="2400"/>
              <a:buNone/>
              <a:defRPr/>
            </a:lvl4pPr>
            <a:lvl5pPr indent="-228600" lvl="4" marL="2286000" algn="l">
              <a:lnSpc>
                <a:spcPct val="100000"/>
              </a:lnSpc>
              <a:spcBef>
                <a:spcPts val="180"/>
              </a:spcBef>
              <a:spcAft>
                <a:spcPts val="0"/>
              </a:spcAft>
              <a:buClr>
                <a:schemeClr val="dk1"/>
              </a:buClr>
              <a:buSzPts val="2400"/>
              <a:buNone/>
              <a:defRPr/>
            </a:lvl5pPr>
            <a:lvl6pPr indent="-228600" lvl="5" marL="2743200" algn="l">
              <a:lnSpc>
                <a:spcPct val="100000"/>
              </a:lnSpc>
              <a:spcBef>
                <a:spcPts val="180"/>
              </a:spcBef>
              <a:spcAft>
                <a:spcPts val="0"/>
              </a:spcAft>
              <a:buClr>
                <a:schemeClr val="dk1"/>
              </a:buClr>
              <a:buSzPts val="2400"/>
              <a:buNone/>
              <a:defRPr/>
            </a:lvl6pPr>
            <a:lvl7pPr indent="-228600" lvl="6" marL="3200400" algn="l">
              <a:lnSpc>
                <a:spcPct val="100000"/>
              </a:lnSpc>
              <a:spcBef>
                <a:spcPts val="180"/>
              </a:spcBef>
              <a:spcAft>
                <a:spcPts val="0"/>
              </a:spcAft>
              <a:buClr>
                <a:schemeClr val="dk1"/>
              </a:buClr>
              <a:buSzPts val="2400"/>
              <a:buNone/>
              <a:defRPr/>
            </a:lvl7pPr>
            <a:lvl8pPr indent="-228600" lvl="7" marL="3657600" algn="l">
              <a:lnSpc>
                <a:spcPct val="100000"/>
              </a:lnSpc>
              <a:spcBef>
                <a:spcPts val="180"/>
              </a:spcBef>
              <a:spcAft>
                <a:spcPts val="0"/>
              </a:spcAft>
              <a:buClr>
                <a:schemeClr val="dk1"/>
              </a:buClr>
              <a:buSzPts val="2400"/>
              <a:buNone/>
              <a:defRPr/>
            </a:lvl8pPr>
            <a:lvl9pPr indent="-228600" lvl="8" marL="4114800" algn="l">
              <a:lnSpc>
                <a:spcPct val="100000"/>
              </a:lnSpc>
              <a:spcBef>
                <a:spcPts val="180"/>
              </a:spcBef>
              <a:spcAft>
                <a:spcPts val="0"/>
              </a:spcAft>
              <a:buClr>
                <a:schemeClr val="dk1"/>
              </a:buClr>
              <a:buSzPts val="2400"/>
              <a:buNone/>
              <a:defRPr/>
            </a:lvl9pPr>
          </a:lstStyle>
          <a:p/>
        </p:txBody>
      </p:sp>
      <p:sp>
        <p:nvSpPr>
          <p:cNvPr id="92" name="Google Shape;92;g39afd2df374_4_291"/>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lt2"/>
              </a:buClr>
              <a:buSzPts val="9000"/>
              <a:buFont typeface="Montserrat"/>
              <a:buNone/>
              <a:defRPr i="0" sz="9000" u="none" cap="none" strike="noStrike">
                <a:solidFill>
                  <a:schemeClr val="lt2"/>
                </a:solidFill>
                <a:latin typeface="Montserrat"/>
                <a:ea typeface="Montserrat"/>
                <a:cs typeface="Montserrat"/>
                <a:sym typeface="Montserrat"/>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pic>
        <p:nvPicPr>
          <p:cNvPr id="93" name="Google Shape;93;g39afd2df374_4_291"/>
          <p:cNvPicPr preferRelativeResize="0"/>
          <p:nvPr/>
        </p:nvPicPr>
        <p:blipFill rotWithShape="1">
          <a:blip r:embed="rId2">
            <a:alphaModFix/>
          </a:blip>
          <a:srcRect b="0" l="0" r="0" t="0"/>
          <a:stretch/>
        </p:blipFill>
        <p:spPr>
          <a:xfrm>
            <a:off x="5891775" y="9458900"/>
            <a:ext cx="7332975" cy="452200"/>
          </a:xfrm>
          <a:prstGeom prst="rect">
            <a:avLst/>
          </a:prstGeom>
          <a:noFill/>
          <a:ln>
            <a:noFill/>
          </a:ln>
        </p:spPr>
      </p:pic>
      <p:pic>
        <p:nvPicPr>
          <p:cNvPr id="94" name="Google Shape;94;g39afd2df374_4_291"/>
          <p:cNvPicPr preferRelativeResize="0"/>
          <p:nvPr/>
        </p:nvPicPr>
        <p:blipFill rotWithShape="1">
          <a:blip r:embed="rId3">
            <a:alphaModFix/>
          </a:blip>
          <a:srcRect b="0" l="0" r="0" t="0"/>
          <a:stretch/>
        </p:blipFill>
        <p:spPr>
          <a:xfrm>
            <a:off x="15735637" y="3097076"/>
            <a:ext cx="1028675" cy="10773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lt2"/>
              </a:buClr>
              <a:buSzPts val="9000"/>
              <a:buFont typeface="Montserrat"/>
              <a:buNone/>
              <a:defRPr b="0" i="0" sz="9000" u="none" cap="none" strike="noStrike">
                <a:solidFill>
                  <a:schemeClr val="lt2"/>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0"/>
          <p:cNvSpPr txBox="1"/>
          <p:nvPr>
            <p:ph idx="1" type="body"/>
          </p:nvPr>
        </p:nvSpPr>
        <p:spPr>
          <a:xfrm>
            <a:off x="4146475" y="3923050"/>
            <a:ext cx="8229600" cy="45261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64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1pPr>
            <a:lvl2pPr indent="-381000" lvl="1" marL="914400" marR="0" rtl="0" algn="l">
              <a:lnSpc>
                <a:spcPct val="100000"/>
              </a:lnSpc>
              <a:spcBef>
                <a:spcPts val="56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2pPr>
            <a:lvl3pPr indent="-381000" lvl="2" marL="1371600" marR="0" rtl="0" algn="l">
              <a:lnSpc>
                <a:spcPct val="100000"/>
              </a:lnSpc>
              <a:spcBef>
                <a:spcPts val="48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3pPr>
            <a:lvl4pPr indent="-381000" lvl="3" marL="1828800" marR="0" rtl="0" algn="l">
              <a:lnSpc>
                <a:spcPct val="100000"/>
              </a:lnSpc>
              <a:spcBef>
                <a:spcPts val="40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4pPr>
            <a:lvl5pPr indent="-381000" lvl="4" marL="2286000" marR="0" rtl="0" algn="l">
              <a:lnSpc>
                <a:spcPct val="100000"/>
              </a:lnSpc>
              <a:spcBef>
                <a:spcPts val="40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5pPr>
            <a:lvl6pPr indent="-381000" lvl="5" marL="2743200" marR="0" rtl="0" algn="l">
              <a:lnSpc>
                <a:spcPct val="100000"/>
              </a:lnSpc>
              <a:spcBef>
                <a:spcPts val="40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6pPr>
            <a:lvl7pPr indent="-381000" lvl="6" marL="3200400" marR="0" rtl="0" algn="l">
              <a:lnSpc>
                <a:spcPct val="100000"/>
              </a:lnSpc>
              <a:spcBef>
                <a:spcPts val="40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7pPr>
            <a:lvl8pPr indent="-381000" lvl="7" marL="3657600" marR="0" rtl="0" algn="l">
              <a:lnSpc>
                <a:spcPct val="100000"/>
              </a:lnSpc>
              <a:spcBef>
                <a:spcPts val="40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8pPr>
            <a:lvl9pPr indent="-381000" lvl="8" marL="4114800" marR="0" rtl="0" algn="l">
              <a:lnSpc>
                <a:spcPct val="100000"/>
              </a:lnSpc>
              <a:spcBef>
                <a:spcPts val="40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mc:Choice Requires="p14">
      <p:transition spd="slow" p14:dur="900">
        <p14:flythrough dir="out" hasBounce="1"/>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0" name="Shape 50"/>
        <p:cNvGrpSpPr/>
        <p:nvPr/>
      </p:nvGrpSpPr>
      <p:grpSpPr>
        <a:xfrm>
          <a:off x="0" y="0"/>
          <a:ext cx="0" cy="0"/>
          <a:chOff x="0" y="0"/>
          <a:chExt cx="0" cy="0"/>
        </a:xfrm>
      </p:grpSpPr>
      <p:sp>
        <p:nvSpPr>
          <p:cNvPr id="51" name="Google Shape;51;g39afd2df374_4_252"/>
          <p:cNvSpPr txBox="1"/>
          <p:nvPr>
            <p:ph type="title"/>
          </p:nvPr>
        </p:nvSpPr>
        <p:spPr>
          <a:xfrm>
            <a:off x="1523700" y="1133525"/>
            <a:ext cx="152406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lt2"/>
              </a:buClr>
              <a:buSzPts val="9000"/>
              <a:buFont typeface="Montserrat"/>
              <a:buNone/>
              <a:defRPr b="0" i="0" sz="9000" u="none" cap="none" strike="noStrike">
                <a:solidFill>
                  <a:schemeClr val="lt2"/>
                </a:solidFill>
                <a:latin typeface="Montserrat"/>
                <a:ea typeface="Montserrat"/>
                <a:cs typeface="Montserrat"/>
                <a:sym typeface="Montserrat"/>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g39afd2df374_4_252"/>
          <p:cNvSpPr txBox="1"/>
          <p:nvPr>
            <p:ph idx="1" type="body"/>
          </p:nvPr>
        </p:nvSpPr>
        <p:spPr>
          <a:xfrm>
            <a:off x="4146475" y="3923050"/>
            <a:ext cx="8229600" cy="4526100"/>
          </a:xfrm>
          <a:prstGeom prst="rect">
            <a:avLst/>
          </a:prstGeom>
          <a:noFill/>
          <a:ln>
            <a:noFill/>
          </a:ln>
        </p:spPr>
        <p:txBody>
          <a:bodyPr anchorCtr="0" anchor="t" bIns="45700" lIns="91425" spcFirstLastPara="1" rIns="91425" wrap="square" tIns="45700">
            <a:normAutofit/>
          </a:bodyPr>
          <a:lstStyle>
            <a:lvl1pPr indent="-381000" lvl="0" marL="457200" marR="0" algn="l">
              <a:lnSpc>
                <a:spcPct val="100000"/>
              </a:lnSpc>
              <a:spcBef>
                <a:spcPts val="64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1pPr>
            <a:lvl2pPr indent="-381000" lvl="1" marL="914400" marR="0" algn="l">
              <a:lnSpc>
                <a:spcPct val="100000"/>
              </a:lnSpc>
              <a:spcBef>
                <a:spcPts val="56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2pPr>
            <a:lvl3pPr indent="-381000" lvl="2" marL="1371600" marR="0" algn="l">
              <a:lnSpc>
                <a:spcPct val="100000"/>
              </a:lnSpc>
              <a:spcBef>
                <a:spcPts val="48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3pPr>
            <a:lvl4pPr indent="-381000" lvl="3" marL="1828800" marR="0" algn="l">
              <a:lnSpc>
                <a:spcPct val="100000"/>
              </a:lnSpc>
              <a:spcBef>
                <a:spcPts val="40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4pPr>
            <a:lvl5pPr indent="-381000" lvl="4" marL="2286000" marR="0" algn="l">
              <a:lnSpc>
                <a:spcPct val="100000"/>
              </a:lnSpc>
              <a:spcBef>
                <a:spcPts val="40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5pPr>
            <a:lvl6pPr indent="-381000" lvl="5" marL="2743200" marR="0" algn="l">
              <a:lnSpc>
                <a:spcPct val="100000"/>
              </a:lnSpc>
              <a:spcBef>
                <a:spcPts val="40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6pPr>
            <a:lvl7pPr indent="-381000" lvl="6" marL="3200400" marR="0" algn="l">
              <a:lnSpc>
                <a:spcPct val="100000"/>
              </a:lnSpc>
              <a:spcBef>
                <a:spcPts val="40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7pPr>
            <a:lvl8pPr indent="-381000" lvl="7" marL="3657600" marR="0" algn="l">
              <a:lnSpc>
                <a:spcPct val="100000"/>
              </a:lnSpc>
              <a:spcBef>
                <a:spcPts val="40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8pPr>
            <a:lvl9pPr indent="-381000" lvl="8" marL="4114800" marR="0" algn="l">
              <a:lnSpc>
                <a:spcPct val="100000"/>
              </a:lnSpc>
              <a:spcBef>
                <a:spcPts val="400"/>
              </a:spcBef>
              <a:spcAft>
                <a:spcPts val="0"/>
              </a:spcAft>
              <a:buClr>
                <a:schemeClr val="dk1"/>
              </a:buClr>
              <a:buSzPts val="2400"/>
              <a:buFont typeface="Montserrat"/>
              <a:buChar char="•"/>
              <a:defRPr b="0" i="0" sz="2400" u="none" cap="none" strike="noStrike">
                <a:solidFill>
                  <a:schemeClr val="dk1"/>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57" r:id="rId1"/>
    <p:sldLayoutId id="2147483658" r:id="rId2"/>
    <p:sldLayoutId id="2147483659" r:id="rId3"/>
    <p:sldLayoutId id="2147483660" r:id="rId4"/>
    <p:sldLayoutId id="2147483661" r:id="rId5"/>
    <p:sldLayoutId id="2147483662" r:id="rId6"/>
    <p:sldLayoutId id="2147483663"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2.png"/><Relationship Id="rId4" Type="http://schemas.openxmlformats.org/officeDocument/2006/relationships/image" Target="../media/image13.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5.png"/><Relationship Id="rId4"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5.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5.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2.png"/><Relationship Id="rId4" Type="http://schemas.openxmlformats.org/officeDocument/2006/relationships/image" Target="../media/image41.png"/><Relationship Id="rId5" Type="http://schemas.openxmlformats.org/officeDocument/2006/relationships/image" Target="../media/image4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45.png"/><Relationship Id="rId5" Type="http://schemas.openxmlformats.org/officeDocument/2006/relationships/image" Target="../media/image4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1.png"/><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0.png"/><Relationship Id="rId4" Type="http://schemas.openxmlformats.org/officeDocument/2006/relationships/image" Target="../media/image5.png"/><Relationship Id="rId5" Type="http://schemas.openxmlformats.org/officeDocument/2006/relationships/image" Target="../media/image52.png"/><Relationship Id="rId6" Type="http://schemas.openxmlformats.org/officeDocument/2006/relationships/image" Target="../media/image5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5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6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8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6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6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0.png"/><Relationship Id="rId4" Type="http://schemas.openxmlformats.org/officeDocument/2006/relationships/image" Target="../media/image5.png"/><Relationship Id="rId5" Type="http://schemas.openxmlformats.org/officeDocument/2006/relationships/image" Target="../media/image5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5.png"/><Relationship Id="rId5" Type="http://schemas.openxmlformats.org/officeDocument/2006/relationships/image" Target="../media/image52.png"/><Relationship Id="rId6" Type="http://schemas.openxmlformats.org/officeDocument/2006/relationships/image" Target="../media/image7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0.png"/><Relationship Id="rId4" Type="http://schemas.openxmlformats.org/officeDocument/2006/relationships/image" Target="../media/image5.png"/><Relationship Id="rId5" Type="http://schemas.openxmlformats.org/officeDocument/2006/relationships/image" Target="../media/image5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7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8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7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9.png"/><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8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8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8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7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7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7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9.png"/><Relationship Id="rId4" Type="http://schemas.openxmlformats.org/officeDocument/2006/relationships/image" Target="../media/image21.png"/><Relationship Id="rId5" Type="http://schemas.openxmlformats.org/officeDocument/2006/relationships/image" Target="../media/image8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8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8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9.png"/><Relationship Id="rId4" Type="http://schemas.openxmlformats.org/officeDocument/2006/relationships/image" Target="../media/image21.png"/><Relationship Id="rId5" Type="http://schemas.openxmlformats.org/officeDocument/2006/relationships/image" Target="../media/image8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8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8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9.png"/><Relationship Id="rId4" Type="http://schemas.openxmlformats.org/officeDocument/2006/relationships/image" Target="../media/image21.png"/><Relationship Id="rId5" Type="http://schemas.openxmlformats.org/officeDocument/2006/relationships/image" Target="../media/image8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2.png"/><Relationship Id="rId4" Type="http://schemas.openxmlformats.org/officeDocument/2006/relationships/image" Target="../media/image13.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4E9"/>
        </a:solidFill>
      </p:bgPr>
    </p:bg>
    <p:spTree>
      <p:nvGrpSpPr>
        <p:cNvPr id="98" name="Shape 98"/>
        <p:cNvGrpSpPr/>
        <p:nvPr/>
      </p:nvGrpSpPr>
      <p:grpSpPr>
        <a:xfrm>
          <a:off x="0" y="0"/>
          <a:ext cx="0" cy="0"/>
          <a:chOff x="0" y="0"/>
          <a:chExt cx="0" cy="0"/>
        </a:xfrm>
      </p:grpSpPr>
      <p:sp>
        <p:nvSpPr>
          <p:cNvPr id="99" name="Google Shape;99;p1"/>
          <p:cNvSpPr/>
          <p:nvPr/>
        </p:nvSpPr>
        <p:spPr>
          <a:xfrm>
            <a:off x="1164350" y="5355957"/>
            <a:ext cx="9518889" cy="3593871"/>
          </a:xfrm>
          <a:custGeom>
            <a:rect b="b" l="l" r="r" t="t"/>
            <a:pathLst>
              <a:path extrusionOk="0" h="394858" w="2738364">
                <a:moveTo>
                  <a:pt x="9475" y="0"/>
                </a:moveTo>
                <a:lnTo>
                  <a:pt x="2728889" y="0"/>
                </a:lnTo>
                <a:cubicBezTo>
                  <a:pt x="2731402" y="0"/>
                  <a:pt x="2733812" y="998"/>
                  <a:pt x="2735589" y="2775"/>
                </a:cubicBezTo>
                <a:cubicBezTo>
                  <a:pt x="2737366" y="4552"/>
                  <a:pt x="2738364" y="6962"/>
                  <a:pt x="2738364" y="9475"/>
                </a:cubicBezTo>
                <a:lnTo>
                  <a:pt x="2738364" y="385384"/>
                </a:lnTo>
                <a:cubicBezTo>
                  <a:pt x="2738364" y="387897"/>
                  <a:pt x="2737366" y="390307"/>
                  <a:pt x="2735589" y="392083"/>
                </a:cubicBezTo>
                <a:cubicBezTo>
                  <a:pt x="2733812" y="393860"/>
                  <a:pt x="2731402" y="394858"/>
                  <a:pt x="2728889" y="394858"/>
                </a:cubicBezTo>
                <a:lnTo>
                  <a:pt x="9475" y="394858"/>
                </a:lnTo>
                <a:cubicBezTo>
                  <a:pt x="4242" y="394858"/>
                  <a:pt x="0" y="390616"/>
                  <a:pt x="0" y="385384"/>
                </a:cubicBezTo>
                <a:lnTo>
                  <a:pt x="0" y="9475"/>
                </a:lnTo>
                <a:cubicBezTo>
                  <a:pt x="0" y="6962"/>
                  <a:pt x="998" y="4552"/>
                  <a:pt x="2775" y="2775"/>
                </a:cubicBezTo>
                <a:cubicBezTo>
                  <a:pt x="4552" y="998"/>
                  <a:pt x="6962" y="0"/>
                  <a:pt x="9475" y="0"/>
                </a:cubicBezTo>
                <a:close/>
              </a:path>
            </a:pathLst>
          </a:custGeom>
          <a:noFill/>
          <a:ln cap="sq" cmpd="sng" w="3810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0" name="Google Shape;100;p1"/>
          <p:cNvGrpSpPr/>
          <p:nvPr/>
        </p:nvGrpSpPr>
        <p:grpSpPr>
          <a:xfrm>
            <a:off x="0" y="9590368"/>
            <a:ext cx="18447701" cy="696632"/>
            <a:chOff x="0" y="-38100"/>
            <a:chExt cx="6182359" cy="233461"/>
          </a:xfrm>
        </p:grpSpPr>
        <p:sp>
          <p:nvSpPr>
            <p:cNvPr id="101" name="Google Shape;101;p1"/>
            <p:cNvSpPr/>
            <p:nvPr/>
          </p:nvSpPr>
          <p:spPr>
            <a:xfrm>
              <a:off x="0" y="0"/>
              <a:ext cx="6182359" cy="195361"/>
            </a:xfrm>
            <a:custGeom>
              <a:rect b="b" l="l" r="r" t="t"/>
              <a:pathLst>
                <a:path extrusionOk="0" h="195361" w="6182359">
                  <a:moveTo>
                    <a:pt x="0" y="0"/>
                  </a:moveTo>
                  <a:lnTo>
                    <a:pt x="6182359" y="0"/>
                  </a:lnTo>
                  <a:lnTo>
                    <a:pt x="6182359" y="195361"/>
                  </a:lnTo>
                  <a:lnTo>
                    <a:pt x="0" y="195361"/>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 name="Google Shape;102;p1"/>
            <p:cNvSpPr txBox="1"/>
            <p:nvPr/>
          </p:nvSpPr>
          <p:spPr>
            <a:xfrm>
              <a:off x="0" y="-38100"/>
              <a:ext cx="6182359" cy="23346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03" name="Google Shape;103;p1"/>
          <p:cNvSpPr txBox="1"/>
          <p:nvPr/>
        </p:nvSpPr>
        <p:spPr>
          <a:xfrm>
            <a:off x="1083621" y="1231846"/>
            <a:ext cx="10041579" cy="215443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000"/>
              <a:buFont typeface="Arial"/>
              <a:buNone/>
            </a:pPr>
            <a:r>
              <a:rPr b="1" i="0" lang="en-US" sz="7000" u="none" cap="none" strike="noStrike">
                <a:solidFill>
                  <a:schemeClr val="accent2"/>
                </a:solidFill>
                <a:latin typeface="Arial"/>
                <a:ea typeface="Arial"/>
                <a:cs typeface="Arial"/>
                <a:sym typeface="Arial"/>
              </a:rPr>
              <a:t>POWER BI</a:t>
            </a:r>
            <a:endParaRPr/>
          </a:p>
          <a:p>
            <a:pPr indent="0" lvl="0" marL="0" marR="0" rtl="0" algn="ctr">
              <a:lnSpc>
                <a:spcPct val="100000"/>
              </a:lnSpc>
              <a:spcBef>
                <a:spcPts val="0"/>
              </a:spcBef>
              <a:spcAft>
                <a:spcPts val="0"/>
              </a:spcAft>
              <a:buClr>
                <a:srgbClr val="000000"/>
              </a:buClr>
              <a:buSzPts val="7000"/>
              <a:buFont typeface="Arial"/>
              <a:buNone/>
            </a:pPr>
            <a:r>
              <a:rPr b="1" i="0" lang="en-US" sz="7000" u="none" cap="none" strike="noStrike">
                <a:solidFill>
                  <a:schemeClr val="accent2"/>
                </a:solidFill>
                <a:latin typeface="Arial"/>
                <a:ea typeface="Arial"/>
                <a:cs typeface="Arial"/>
                <a:sym typeface="Arial"/>
              </a:rPr>
              <a:t>ETL &amp; INSIGHT</a:t>
            </a:r>
            <a:endParaRPr b="1" i="0" sz="7000" u="none" cap="none" strike="noStrike">
              <a:solidFill>
                <a:schemeClr val="accent2"/>
              </a:solidFill>
              <a:latin typeface="Arial"/>
              <a:ea typeface="Arial"/>
              <a:cs typeface="Arial"/>
              <a:sym typeface="Arial"/>
            </a:endParaRPr>
          </a:p>
        </p:txBody>
      </p:sp>
      <p:sp>
        <p:nvSpPr>
          <p:cNvPr id="104" name="Google Shape;104;p1"/>
          <p:cNvSpPr txBox="1"/>
          <p:nvPr/>
        </p:nvSpPr>
        <p:spPr>
          <a:xfrm>
            <a:off x="1790345" y="5637846"/>
            <a:ext cx="8224500" cy="2709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000" u="none" cap="none" strike="noStrike">
                <a:solidFill>
                  <a:schemeClr val="accent5"/>
                </a:solidFill>
                <a:latin typeface="Montserrat"/>
                <a:ea typeface="Montserrat"/>
                <a:cs typeface="Montserrat"/>
                <a:sym typeface="Montserrat"/>
              </a:rPr>
              <a:t>NHÓM </a:t>
            </a:r>
            <a:r>
              <a:rPr b="1" lang="en-US" sz="4000">
                <a:solidFill>
                  <a:schemeClr val="accent5"/>
                </a:solidFill>
                <a:latin typeface="Montserrat"/>
                <a:ea typeface="Montserrat"/>
                <a:cs typeface="Montserrat"/>
                <a:sym typeface="Montserrat"/>
              </a:rPr>
              <a:t>08</a:t>
            </a:r>
            <a:endParaRPr/>
          </a:p>
          <a:p>
            <a:pPr indent="0" lvl="0" marL="0" marR="0" rtl="0" algn="l">
              <a:lnSpc>
                <a:spcPct val="100000"/>
              </a:lnSpc>
              <a:spcBef>
                <a:spcPts val="600"/>
              </a:spcBef>
              <a:spcAft>
                <a:spcPts val="0"/>
              </a:spcAft>
              <a:buNone/>
            </a:pPr>
            <a:r>
              <a:rPr b="0" i="0" lang="en-US" sz="3000" u="none" cap="none" strike="noStrike">
                <a:solidFill>
                  <a:schemeClr val="accent5"/>
                </a:solidFill>
                <a:latin typeface="Montserrat"/>
                <a:ea typeface="Montserrat"/>
                <a:cs typeface="Montserrat"/>
                <a:sym typeface="Montserrat"/>
              </a:rPr>
              <a:t>22127368 – </a:t>
            </a:r>
            <a:r>
              <a:rPr lang="en-US" sz="3000">
                <a:solidFill>
                  <a:schemeClr val="accent5"/>
                </a:solidFill>
                <a:latin typeface="Montserrat"/>
                <a:ea typeface="Montserrat"/>
                <a:cs typeface="Montserrat"/>
                <a:sym typeface="Montserrat"/>
              </a:rPr>
              <a:t>Nguyễn Minh Sơn</a:t>
            </a:r>
            <a:endParaRPr b="0" i="0" sz="3000" u="none" cap="none" strike="noStrike">
              <a:solidFill>
                <a:schemeClr val="accent5"/>
              </a:solidFill>
              <a:latin typeface="Montserrat"/>
              <a:ea typeface="Montserrat"/>
              <a:cs typeface="Montserrat"/>
              <a:sym typeface="Montserrat"/>
            </a:endParaRPr>
          </a:p>
          <a:p>
            <a:pPr indent="0" lvl="0" marL="0" marR="0" rtl="0" algn="l">
              <a:lnSpc>
                <a:spcPct val="100000"/>
              </a:lnSpc>
              <a:spcBef>
                <a:spcPts val="0"/>
              </a:spcBef>
              <a:spcAft>
                <a:spcPts val="0"/>
              </a:spcAft>
              <a:buNone/>
            </a:pPr>
            <a:r>
              <a:rPr b="0" i="0" lang="en-US" sz="3000" u="none" cap="none" strike="noStrike">
                <a:solidFill>
                  <a:schemeClr val="accent5"/>
                </a:solidFill>
                <a:latin typeface="Montserrat"/>
                <a:ea typeface="Montserrat"/>
                <a:cs typeface="Montserrat"/>
                <a:sym typeface="Montserrat"/>
              </a:rPr>
              <a:t>2212</a:t>
            </a:r>
            <a:r>
              <a:rPr lang="en-US" sz="3000">
                <a:solidFill>
                  <a:schemeClr val="accent5"/>
                </a:solidFill>
                <a:latin typeface="Montserrat"/>
                <a:ea typeface="Montserrat"/>
                <a:cs typeface="Montserrat"/>
                <a:sym typeface="Montserrat"/>
              </a:rPr>
              <a:t>7</a:t>
            </a:r>
            <a:r>
              <a:rPr lang="en-US" sz="3000">
                <a:solidFill>
                  <a:schemeClr val="accent5"/>
                </a:solidFill>
                <a:latin typeface="Montserrat"/>
                <a:ea typeface="Montserrat"/>
                <a:cs typeface="Montserrat"/>
                <a:sym typeface="Montserrat"/>
              </a:rPr>
              <a:t>162</a:t>
            </a:r>
            <a:r>
              <a:rPr lang="en-US" sz="3000">
                <a:solidFill>
                  <a:schemeClr val="accent5"/>
                </a:solidFill>
                <a:latin typeface="Montserrat"/>
                <a:ea typeface="Montserrat"/>
                <a:cs typeface="Montserrat"/>
                <a:sym typeface="Montserrat"/>
              </a:rPr>
              <a:t> </a:t>
            </a:r>
            <a:r>
              <a:rPr b="0" i="0" lang="en-US" sz="3000" u="none" cap="none" strike="noStrike">
                <a:solidFill>
                  <a:schemeClr val="accent5"/>
                </a:solidFill>
                <a:latin typeface="Montserrat"/>
                <a:ea typeface="Montserrat"/>
                <a:cs typeface="Montserrat"/>
                <a:sym typeface="Montserrat"/>
              </a:rPr>
              <a:t>– Phan Th</a:t>
            </a:r>
            <a:r>
              <a:rPr lang="en-US" sz="3000">
                <a:solidFill>
                  <a:schemeClr val="accent5"/>
                </a:solidFill>
                <a:latin typeface="Montserrat"/>
                <a:ea typeface="Montserrat"/>
                <a:cs typeface="Montserrat"/>
                <a:sym typeface="Montserrat"/>
              </a:rPr>
              <a:t>ành Quang Huy</a:t>
            </a:r>
            <a:endParaRPr/>
          </a:p>
          <a:p>
            <a:pPr indent="0" lvl="0" marL="0" marR="0" rtl="0" algn="l">
              <a:lnSpc>
                <a:spcPct val="100000"/>
              </a:lnSpc>
              <a:spcBef>
                <a:spcPts val="0"/>
              </a:spcBef>
              <a:spcAft>
                <a:spcPts val="0"/>
              </a:spcAft>
              <a:buNone/>
            </a:pPr>
            <a:r>
              <a:rPr b="0" i="0" lang="en-US" sz="3000" u="none" cap="none" strike="noStrike">
                <a:solidFill>
                  <a:schemeClr val="accent5"/>
                </a:solidFill>
                <a:latin typeface="Montserrat"/>
                <a:ea typeface="Montserrat"/>
                <a:cs typeface="Montserrat"/>
                <a:sym typeface="Montserrat"/>
              </a:rPr>
              <a:t>22127163 – Trần Đan Huy</a:t>
            </a:r>
            <a:endParaRPr/>
          </a:p>
          <a:p>
            <a:pPr indent="0" lvl="0" marL="0" marR="0" rtl="0" algn="l">
              <a:lnSpc>
                <a:spcPct val="100000"/>
              </a:lnSpc>
              <a:spcBef>
                <a:spcPts val="0"/>
              </a:spcBef>
              <a:spcAft>
                <a:spcPts val="0"/>
              </a:spcAft>
              <a:buNone/>
            </a:pPr>
            <a:r>
              <a:rPr b="0" i="0" lang="en-US" sz="3000" u="none" cap="none" strike="noStrike">
                <a:solidFill>
                  <a:schemeClr val="accent5"/>
                </a:solidFill>
                <a:latin typeface="Montserrat"/>
                <a:ea typeface="Montserrat"/>
                <a:cs typeface="Montserrat"/>
                <a:sym typeface="Montserrat"/>
              </a:rPr>
              <a:t>22127009 – Đinh Gia Hội Anh</a:t>
            </a: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accent5"/>
              </a:solidFill>
              <a:latin typeface="Montserrat"/>
              <a:ea typeface="Montserrat"/>
              <a:cs typeface="Montserrat"/>
              <a:sym typeface="Montserrat"/>
            </a:endParaRPr>
          </a:p>
        </p:txBody>
      </p:sp>
      <p:pic>
        <p:nvPicPr>
          <p:cNvPr id="105" name="Google Shape;105;p1"/>
          <p:cNvPicPr preferRelativeResize="0"/>
          <p:nvPr/>
        </p:nvPicPr>
        <p:blipFill rotWithShape="1">
          <a:blip r:embed="rId3">
            <a:alphaModFix/>
          </a:blip>
          <a:srcRect b="0" l="0" r="0" t="0"/>
          <a:stretch/>
        </p:blipFill>
        <p:spPr>
          <a:xfrm>
            <a:off x="-229530" y="-259809"/>
            <a:ext cx="2019875" cy="1145708"/>
          </a:xfrm>
          <a:prstGeom prst="rect">
            <a:avLst/>
          </a:prstGeom>
          <a:noFill/>
          <a:ln>
            <a:noFill/>
          </a:ln>
        </p:spPr>
      </p:pic>
      <p:pic>
        <p:nvPicPr>
          <p:cNvPr id="106" name="Google Shape;106;p1"/>
          <p:cNvPicPr preferRelativeResize="0"/>
          <p:nvPr/>
        </p:nvPicPr>
        <p:blipFill rotWithShape="1">
          <a:blip r:embed="rId4">
            <a:alphaModFix/>
          </a:blip>
          <a:srcRect b="0" l="0" r="0" t="0"/>
          <a:stretch/>
        </p:blipFill>
        <p:spPr>
          <a:xfrm>
            <a:off x="8396138" y="5061086"/>
            <a:ext cx="2009743" cy="510025"/>
          </a:xfrm>
          <a:prstGeom prst="rect">
            <a:avLst/>
          </a:prstGeom>
          <a:noFill/>
          <a:ln>
            <a:noFill/>
          </a:ln>
        </p:spPr>
      </p:pic>
      <p:grpSp>
        <p:nvGrpSpPr>
          <p:cNvPr descr="Database with solid fill" id="107" name="Google Shape;107;p1"/>
          <p:cNvGrpSpPr/>
          <p:nvPr/>
        </p:nvGrpSpPr>
        <p:grpSpPr>
          <a:xfrm>
            <a:off x="12234132" y="2707010"/>
            <a:ext cx="4621010" cy="6271372"/>
            <a:chOff x="12176329" y="2497375"/>
            <a:chExt cx="4621010" cy="6271372"/>
          </a:xfrm>
        </p:grpSpPr>
        <p:sp>
          <p:nvSpPr>
            <p:cNvPr id="108" name="Google Shape;108;p1"/>
            <p:cNvSpPr/>
            <p:nvPr/>
          </p:nvSpPr>
          <p:spPr>
            <a:xfrm>
              <a:off x="12176329" y="2497375"/>
              <a:ext cx="4621010" cy="1320288"/>
            </a:xfrm>
            <a:custGeom>
              <a:rect b="b" l="l" r="r" t="t"/>
              <a:pathLst>
                <a:path extrusionOk="0" h="1320288" w="4621010">
                  <a:moveTo>
                    <a:pt x="4621011" y="660144"/>
                  </a:moveTo>
                  <a:cubicBezTo>
                    <a:pt x="4621011" y="1024732"/>
                    <a:pt x="3586563" y="1320289"/>
                    <a:pt x="2310506" y="1320289"/>
                  </a:cubicBezTo>
                  <a:cubicBezTo>
                    <a:pt x="1034448" y="1320289"/>
                    <a:pt x="0" y="1024732"/>
                    <a:pt x="0" y="660144"/>
                  </a:cubicBezTo>
                  <a:cubicBezTo>
                    <a:pt x="0" y="295557"/>
                    <a:pt x="1034448" y="0"/>
                    <a:pt x="2310506" y="0"/>
                  </a:cubicBezTo>
                  <a:cubicBezTo>
                    <a:pt x="3586563" y="0"/>
                    <a:pt x="4621011" y="295557"/>
                    <a:pt x="4621011" y="6601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400" u="none" cap="none" strike="noStrike">
                  <a:solidFill>
                    <a:schemeClr val="lt1"/>
                  </a:solidFill>
                  <a:latin typeface="Montserrat"/>
                  <a:ea typeface="Montserrat"/>
                  <a:cs typeface="Montserrat"/>
                  <a:sym typeface="Montserrat"/>
                </a:rPr>
                <a:t>GVHD: </a:t>
              </a:r>
              <a:br>
                <a:rPr b="0" i="0" lang="en-US" sz="2400" u="none" cap="none" strike="noStrike">
                  <a:solidFill>
                    <a:schemeClr val="lt1"/>
                  </a:solidFill>
                  <a:latin typeface="Montserrat"/>
                  <a:ea typeface="Montserrat"/>
                  <a:cs typeface="Montserrat"/>
                  <a:sym typeface="Montserrat"/>
                </a:rPr>
              </a:br>
              <a:r>
                <a:rPr b="0" i="0" lang="en-US" sz="2400" u="none" cap="none" strike="noStrike">
                  <a:solidFill>
                    <a:schemeClr val="lt1"/>
                  </a:solidFill>
                  <a:latin typeface="Montserrat"/>
                  <a:ea typeface="Montserrat"/>
                  <a:cs typeface="Montserrat"/>
                  <a:sym typeface="Montserrat"/>
                </a:rPr>
                <a:t>Hồ Thị Hoàng Vy</a:t>
              </a:r>
              <a:endParaRPr/>
            </a:p>
          </p:txBody>
        </p:sp>
        <p:sp>
          <p:nvSpPr>
            <p:cNvPr id="109" name="Google Shape;109;p1"/>
            <p:cNvSpPr/>
            <p:nvPr/>
          </p:nvSpPr>
          <p:spPr>
            <a:xfrm>
              <a:off x="12176329" y="3487592"/>
              <a:ext cx="4621010" cy="1980433"/>
            </a:xfrm>
            <a:custGeom>
              <a:rect b="b" l="l" r="r" t="t"/>
              <a:pathLst>
                <a:path extrusionOk="0" h="1980433" w="4621010">
                  <a:moveTo>
                    <a:pt x="3960867" y="1320289"/>
                  </a:moveTo>
                  <a:cubicBezTo>
                    <a:pt x="3861845" y="1320289"/>
                    <a:pt x="3795831" y="1254275"/>
                    <a:pt x="3795831" y="1155253"/>
                  </a:cubicBezTo>
                  <a:cubicBezTo>
                    <a:pt x="3795831" y="1056231"/>
                    <a:pt x="3861845" y="990217"/>
                    <a:pt x="3960867" y="990217"/>
                  </a:cubicBezTo>
                  <a:cubicBezTo>
                    <a:pt x="4059888" y="990217"/>
                    <a:pt x="4125903" y="1056231"/>
                    <a:pt x="4125903" y="1155253"/>
                  </a:cubicBezTo>
                  <a:cubicBezTo>
                    <a:pt x="4125903" y="1254275"/>
                    <a:pt x="4059888" y="1320289"/>
                    <a:pt x="3960867" y="1320289"/>
                  </a:cubicBezTo>
                  <a:close/>
                  <a:moveTo>
                    <a:pt x="2310506" y="660144"/>
                  </a:moveTo>
                  <a:cubicBezTo>
                    <a:pt x="1039727" y="660144"/>
                    <a:pt x="0" y="363079"/>
                    <a:pt x="0" y="0"/>
                  </a:cubicBezTo>
                  <a:lnTo>
                    <a:pt x="0" y="1320289"/>
                  </a:lnTo>
                  <a:cubicBezTo>
                    <a:pt x="0" y="1683368"/>
                    <a:pt x="1039727" y="1980433"/>
                    <a:pt x="2310506" y="1980433"/>
                  </a:cubicBezTo>
                  <a:cubicBezTo>
                    <a:pt x="3581284" y="1980433"/>
                    <a:pt x="4621011" y="1683368"/>
                    <a:pt x="4621011" y="1320289"/>
                  </a:cubicBezTo>
                  <a:lnTo>
                    <a:pt x="4621011" y="0"/>
                  </a:lnTo>
                  <a:cubicBezTo>
                    <a:pt x="4621011" y="363079"/>
                    <a:pt x="3581284" y="660144"/>
                    <a:pt x="2310506" y="66014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 name="Google Shape;110;p1"/>
            <p:cNvSpPr/>
            <p:nvPr/>
          </p:nvSpPr>
          <p:spPr>
            <a:xfrm>
              <a:off x="12176329" y="5137953"/>
              <a:ext cx="4621010" cy="1980433"/>
            </a:xfrm>
            <a:custGeom>
              <a:rect b="b" l="l" r="r" t="t"/>
              <a:pathLst>
                <a:path extrusionOk="0" h="1980433" w="4621010">
                  <a:moveTo>
                    <a:pt x="3960867" y="1320289"/>
                  </a:moveTo>
                  <a:cubicBezTo>
                    <a:pt x="3861845" y="1320289"/>
                    <a:pt x="3795831" y="1254275"/>
                    <a:pt x="3795831" y="1155253"/>
                  </a:cubicBezTo>
                  <a:cubicBezTo>
                    <a:pt x="3795831" y="1056231"/>
                    <a:pt x="3861845" y="990217"/>
                    <a:pt x="3960867" y="990217"/>
                  </a:cubicBezTo>
                  <a:cubicBezTo>
                    <a:pt x="4059888" y="990217"/>
                    <a:pt x="4125903" y="1056231"/>
                    <a:pt x="4125903" y="1155253"/>
                  </a:cubicBezTo>
                  <a:cubicBezTo>
                    <a:pt x="4125903" y="1254275"/>
                    <a:pt x="4059888" y="1320289"/>
                    <a:pt x="3960867" y="1320289"/>
                  </a:cubicBezTo>
                  <a:close/>
                  <a:moveTo>
                    <a:pt x="2310506" y="660144"/>
                  </a:moveTo>
                  <a:cubicBezTo>
                    <a:pt x="1039727" y="660144"/>
                    <a:pt x="0" y="363080"/>
                    <a:pt x="0" y="0"/>
                  </a:cubicBezTo>
                  <a:lnTo>
                    <a:pt x="0" y="1320289"/>
                  </a:lnTo>
                  <a:cubicBezTo>
                    <a:pt x="0" y="1683368"/>
                    <a:pt x="1039727" y="1980433"/>
                    <a:pt x="2310506" y="1980433"/>
                  </a:cubicBezTo>
                  <a:cubicBezTo>
                    <a:pt x="3581284" y="1980433"/>
                    <a:pt x="4621011" y="1683368"/>
                    <a:pt x="4621011" y="1320289"/>
                  </a:cubicBezTo>
                  <a:lnTo>
                    <a:pt x="4621011" y="0"/>
                  </a:lnTo>
                  <a:cubicBezTo>
                    <a:pt x="4621011" y="363080"/>
                    <a:pt x="3581284" y="660144"/>
                    <a:pt x="2310506" y="6601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1" name="Google Shape;111;p1"/>
            <p:cNvSpPr/>
            <p:nvPr/>
          </p:nvSpPr>
          <p:spPr>
            <a:xfrm>
              <a:off x="12176329" y="6788314"/>
              <a:ext cx="4621010" cy="1980433"/>
            </a:xfrm>
            <a:custGeom>
              <a:rect b="b" l="l" r="r" t="t"/>
              <a:pathLst>
                <a:path extrusionOk="0" h="1980433" w="4621010">
                  <a:moveTo>
                    <a:pt x="3960867" y="1320289"/>
                  </a:moveTo>
                  <a:cubicBezTo>
                    <a:pt x="3861845" y="1320289"/>
                    <a:pt x="3795831" y="1254274"/>
                    <a:pt x="3795831" y="1155253"/>
                  </a:cubicBezTo>
                  <a:cubicBezTo>
                    <a:pt x="3795831" y="1056231"/>
                    <a:pt x="3861845" y="990217"/>
                    <a:pt x="3960867" y="990217"/>
                  </a:cubicBezTo>
                  <a:cubicBezTo>
                    <a:pt x="4059888" y="990217"/>
                    <a:pt x="4125903" y="1056231"/>
                    <a:pt x="4125903" y="1155253"/>
                  </a:cubicBezTo>
                  <a:cubicBezTo>
                    <a:pt x="4125903" y="1254274"/>
                    <a:pt x="4059888" y="1320289"/>
                    <a:pt x="3960867" y="1320289"/>
                  </a:cubicBezTo>
                  <a:close/>
                  <a:moveTo>
                    <a:pt x="2310506" y="660144"/>
                  </a:moveTo>
                  <a:cubicBezTo>
                    <a:pt x="1039727" y="660144"/>
                    <a:pt x="0" y="363080"/>
                    <a:pt x="0" y="0"/>
                  </a:cubicBezTo>
                  <a:lnTo>
                    <a:pt x="0" y="1320289"/>
                  </a:lnTo>
                  <a:cubicBezTo>
                    <a:pt x="0" y="1683368"/>
                    <a:pt x="1039727" y="1980433"/>
                    <a:pt x="2310506" y="1980433"/>
                  </a:cubicBezTo>
                  <a:cubicBezTo>
                    <a:pt x="3581284" y="1980433"/>
                    <a:pt x="4621011" y="1683368"/>
                    <a:pt x="4621011" y="1320289"/>
                  </a:cubicBezTo>
                  <a:lnTo>
                    <a:pt x="4621011" y="0"/>
                  </a:lnTo>
                  <a:cubicBezTo>
                    <a:pt x="4621011" y="363080"/>
                    <a:pt x="3581284" y="660144"/>
                    <a:pt x="2310506" y="660144"/>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112" name="Google Shape;112;p1"/>
          <p:cNvGrpSpPr/>
          <p:nvPr/>
        </p:nvGrpSpPr>
        <p:grpSpPr>
          <a:xfrm>
            <a:off x="15262584" y="-312204"/>
            <a:ext cx="3185117" cy="1225076"/>
            <a:chOff x="0" y="-38100"/>
            <a:chExt cx="1404154" cy="540073"/>
          </a:xfrm>
        </p:grpSpPr>
        <p:sp>
          <p:nvSpPr>
            <p:cNvPr id="113" name="Google Shape;113;p1"/>
            <p:cNvSpPr/>
            <p:nvPr/>
          </p:nvSpPr>
          <p:spPr>
            <a:xfrm>
              <a:off x="0" y="0"/>
              <a:ext cx="1404154" cy="501973"/>
            </a:xfrm>
            <a:custGeom>
              <a:rect b="b" l="l" r="r" t="t"/>
              <a:pathLst>
                <a:path extrusionOk="0" h="501973" w="1404154">
                  <a:moveTo>
                    <a:pt x="0" y="0"/>
                  </a:moveTo>
                  <a:lnTo>
                    <a:pt x="1404154" y="0"/>
                  </a:lnTo>
                  <a:lnTo>
                    <a:pt x="1404154" y="501973"/>
                  </a:lnTo>
                  <a:lnTo>
                    <a:pt x="0" y="501973"/>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4" name="Google Shape;114;p1"/>
            <p:cNvSpPr txBox="1"/>
            <p:nvPr/>
          </p:nvSpPr>
          <p:spPr>
            <a:xfrm>
              <a:off x="0" y="-38100"/>
              <a:ext cx="1404154" cy="5400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15" name="Google Shape;115;p1"/>
          <p:cNvGrpSpPr/>
          <p:nvPr/>
        </p:nvGrpSpPr>
        <p:grpSpPr>
          <a:xfrm>
            <a:off x="14953608" y="313045"/>
            <a:ext cx="3185117" cy="772224"/>
            <a:chOff x="0" y="-38100"/>
            <a:chExt cx="1404154" cy="340434"/>
          </a:xfrm>
        </p:grpSpPr>
        <p:sp>
          <p:nvSpPr>
            <p:cNvPr id="116" name="Google Shape;116;p1"/>
            <p:cNvSpPr/>
            <p:nvPr/>
          </p:nvSpPr>
          <p:spPr>
            <a:xfrm>
              <a:off x="0" y="0"/>
              <a:ext cx="1404154" cy="302334"/>
            </a:xfrm>
            <a:custGeom>
              <a:rect b="b" l="l" r="r" t="t"/>
              <a:pathLst>
                <a:path extrusionOk="0" h="302334" w="1404154">
                  <a:moveTo>
                    <a:pt x="0" y="0"/>
                  </a:moveTo>
                  <a:lnTo>
                    <a:pt x="1404154" y="0"/>
                  </a:lnTo>
                  <a:lnTo>
                    <a:pt x="1404154" y="302334"/>
                  </a:lnTo>
                  <a:lnTo>
                    <a:pt x="0" y="302334"/>
                  </a:lnTo>
                  <a:close/>
                </a:path>
              </a:pathLst>
            </a:custGeom>
            <a:solidFill>
              <a:srgbClr val="000000">
                <a:alpha val="0"/>
              </a:srgbClr>
            </a:solidFill>
            <a:ln cap="sq" cmpd="sng" w="38100">
              <a:solidFill>
                <a:srgbClr val="3E5BB2"/>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 name="Google Shape;117;p1"/>
            <p:cNvSpPr txBox="1"/>
            <p:nvPr/>
          </p:nvSpPr>
          <p:spPr>
            <a:xfrm>
              <a:off x="0" y="-38100"/>
              <a:ext cx="1404154" cy="340434"/>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118" name="Google Shape;118;p1"/>
          <p:cNvPicPr preferRelativeResize="0"/>
          <p:nvPr/>
        </p:nvPicPr>
        <p:blipFill rotWithShape="1">
          <a:blip r:embed="rId5">
            <a:alphaModFix/>
          </a:blip>
          <a:srcRect b="0" l="0" r="0" t="0"/>
          <a:stretch/>
        </p:blipFill>
        <p:spPr>
          <a:xfrm>
            <a:off x="952512" y="6281693"/>
            <a:ext cx="423675" cy="2905200"/>
          </a:xfrm>
          <a:prstGeom prst="rect">
            <a:avLst/>
          </a:prstGeom>
          <a:noFill/>
          <a:ln>
            <a:noFill/>
          </a:ln>
        </p:spPr>
      </p:pic>
    </p:spTree>
  </p:cSld>
  <p:clrMapOvr>
    <a:masterClrMapping/>
  </p:clrMapOvr>
  <mc:AlternateContent>
    <mc:Choice Requires="p14">
      <p:transition spd="slow" p14:dur="900">
        <p14:flythrough dir="out" hasBounce="1"/>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4E9"/>
        </a:solidFill>
      </p:bgPr>
    </p:bg>
    <p:spTree>
      <p:nvGrpSpPr>
        <p:cNvPr id="122" name="Shape 122"/>
        <p:cNvGrpSpPr/>
        <p:nvPr/>
      </p:nvGrpSpPr>
      <p:grpSpPr>
        <a:xfrm>
          <a:off x="0" y="0"/>
          <a:ext cx="0" cy="0"/>
          <a:chOff x="0" y="0"/>
          <a:chExt cx="0" cy="0"/>
        </a:xfrm>
      </p:grpSpPr>
      <p:grpSp>
        <p:nvGrpSpPr>
          <p:cNvPr id="123" name="Google Shape;123;p2"/>
          <p:cNvGrpSpPr/>
          <p:nvPr/>
        </p:nvGrpSpPr>
        <p:grpSpPr>
          <a:xfrm>
            <a:off x="8696112" y="8188624"/>
            <a:ext cx="9591888" cy="2098376"/>
            <a:chOff x="0" y="-38100"/>
            <a:chExt cx="3214520" cy="703226"/>
          </a:xfrm>
        </p:grpSpPr>
        <p:sp>
          <p:nvSpPr>
            <p:cNvPr id="124" name="Google Shape;124;p2"/>
            <p:cNvSpPr/>
            <p:nvPr/>
          </p:nvSpPr>
          <p:spPr>
            <a:xfrm>
              <a:off x="0" y="0"/>
              <a:ext cx="3214520" cy="665126"/>
            </a:xfrm>
            <a:custGeom>
              <a:rect b="b" l="l" r="r" t="t"/>
              <a:pathLst>
                <a:path extrusionOk="0" h="665126" w="3214520">
                  <a:moveTo>
                    <a:pt x="0" y="0"/>
                  </a:moveTo>
                  <a:lnTo>
                    <a:pt x="3214520" y="0"/>
                  </a:lnTo>
                  <a:lnTo>
                    <a:pt x="3214520" y="665126"/>
                  </a:lnTo>
                  <a:lnTo>
                    <a:pt x="0" y="665126"/>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
            <p:cNvSpPr txBox="1"/>
            <p:nvPr/>
          </p:nvSpPr>
          <p:spPr>
            <a:xfrm>
              <a:off x="0" y="-38100"/>
              <a:ext cx="3214520" cy="70322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126" name="Google Shape;126;p2"/>
          <p:cNvPicPr preferRelativeResize="0"/>
          <p:nvPr/>
        </p:nvPicPr>
        <p:blipFill rotWithShape="1">
          <a:blip r:embed="rId3">
            <a:alphaModFix/>
          </a:blip>
          <a:srcRect b="0" l="0" r="0" t="0"/>
          <a:stretch/>
        </p:blipFill>
        <p:spPr>
          <a:xfrm>
            <a:off x="5908247" y="9331625"/>
            <a:ext cx="7333203" cy="452225"/>
          </a:xfrm>
          <a:prstGeom prst="rect">
            <a:avLst/>
          </a:prstGeom>
          <a:noFill/>
          <a:ln>
            <a:noFill/>
          </a:ln>
        </p:spPr>
      </p:pic>
      <p:grpSp>
        <p:nvGrpSpPr>
          <p:cNvPr id="127" name="Google Shape;127;p2"/>
          <p:cNvGrpSpPr/>
          <p:nvPr/>
        </p:nvGrpSpPr>
        <p:grpSpPr>
          <a:xfrm>
            <a:off x="0" y="-113688"/>
            <a:ext cx="4725014" cy="1142388"/>
            <a:chOff x="0" y="-38100"/>
            <a:chExt cx="1583489" cy="382847"/>
          </a:xfrm>
        </p:grpSpPr>
        <p:sp>
          <p:nvSpPr>
            <p:cNvPr id="128" name="Google Shape;128;p2"/>
            <p:cNvSpPr/>
            <p:nvPr/>
          </p:nvSpPr>
          <p:spPr>
            <a:xfrm>
              <a:off x="0" y="0"/>
              <a:ext cx="1583489" cy="344747"/>
            </a:xfrm>
            <a:custGeom>
              <a:rect b="b" l="l" r="r" t="t"/>
              <a:pathLst>
                <a:path extrusionOk="0" h="344747" w="1583489">
                  <a:moveTo>
                    <a:pt x="0" y="0"/>
                  </a:moveTo>
                  <a:lnTo>
                    <a:pt x="1583489" y="0"/>
                  </a:lnTo>
                  <a:lnTo>
                    <a:pt x="1583489" y="344747"/>
                  </a:lnTo>
                  <a:lnTo>
                    <a:pt x="0" y="344747"/>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
            <p:cNvSpPr txBox="1"/>
            <p:nvPr/>
          </p:nvSpPr>
          <p:spPr>
            <a:xfrm>
              <a:off x="0" y="-38100"/>
              <a:ext cx="1583489" cy="38284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0" name="Google Shape;130;p2"/>
          <p:cNvGrpSpPr/>
          <p:nvPr/>
        </p:nvGrpSpPr>
        <p:grpSpPr>
          <a:xfrm>
            <a:off x="-249595" y="400662"/>
            <a:ext cx="5607178" cy="1108329"/>
            <a:chOff x="0" y="-38100"/>
            <a:chExt cx="1879128" cy="371433"/>
          </a:xfrm>
        </p:grpSpPr>
        <p:sp>
          <p:nvSpPr>
            <p:cNvPr id="131" name="Google Shape;131;p2"/>
            <p:cNvSpPr/>
            <p:nvPr/>
          </p:nvSpPr>
          <p:spPr>
            <a:xfrm>
              <a:off x="0" y="0"/>
              <a:ext cx="1879128" cy="333333"/>
            </a:xfrm>
            <a:custGeom>
              <a:rect b="b" l="l" r="r" t="t"/>
              <a:pathLst>
                <a:path extrusionOk="0" h="333333" w="1879128">
                  <a:moveTo>
                    <a:pt x="0" y="0"/>
                  </a:moveTo>
                  <a:lnTo>
                    <a:pt x="1879128" y="0"/>
                  </a:lnTo>
                  <a:lnTo>
                    <a:pt x="1879128" y="333333"/>
                  </a:lnTo>
                  <a:lnTo>
                    <a:pt x="0" y="333333"/>
                  </a:lnTo>
                  <a:close/>
                </a:path>
              </a:pathLst>
            </a:custGeom>
            <a:solidFill>
              <a:srgbClr val="000000">
                <a:alpha val="0"/>
              </a:srgbClr>
            </a:solidFill>
            <a:ln cap="sq" cmpd="sng" w="38100">
              <a:solidFill>
                <a:srgbClr val="3E5BB2"/>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
            <p:cNvSpPr txBox="1"/>
            <p:nvPr/>
          </p:nvSpPr>
          <p:spPr>
            <a:xfrm>
              <a:off x="0" y="-38100"/>
              <a:ext cx="1879128" cy="37143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33" name="Google Shape;133;p2"/>
          <p:cNvSpPr txBox="1"/>
          <p:nvPr/>
        </p:nvSpPr>
        <p:spPr>
          <a:xfrm>
            <a:off x="6258767" y="3789283"/>
            <a:ext cx="11130000" cy="2709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800"/>
              <a:buFont typeface="Arial"/>
              <a:buNone/>
            </a:pPr>
            <a:r>
              <a:rPr b="1" lang="en-US" sz="8800">
                <a:solidFill>
                  <a:schemeClr val="accent2"/>
                </a:solidFill>
                <a:latin typeface="Montserrat"/>
                <a:ea typeface="Montserrat"/>
                <a:cs typeface="Montserrat"/>
                <a:sym typeface="Montserrat"/>
              </a:rPr>
              <a:t>Các thành phần của Power BI</a:t>
            </a:r>
            <a:endParaRPr b="0" i="0" sz="1100" u="none" cap="none" strike="noStrike">
              <a:solidFill>
                <a:schemeClr val="accent2"/>
              </a:solidFill>
              <a:latin typeface="Arial"/>
              <a:ea typeface="Arial"/>
              <a:cs typeface="Arial"/>
              <a:sym typeface="Arial"/>
            </a:endParaRPr>
          </a:p>
        </p:txBody>
      </p:sp>
      <p:sp>
        <p:nvSpPr>
          <p:cNvPr id="134" name="Google Shape;134;p2"/>
          <p:cNvSpPr txBox="1"/>
          <p:nvPr/>
        </p:nvSpPr>
        <p:spPr>
          <a:xfrm>
            <a:off x="783145" y="1622679"/>
            <a:ext cx="5024373" cy="6463308"/>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30000"/>
              <a:buFont typeface="Arial"/>
              <a:buNone/>
            </a:pPr>
            <a:r>
              <a:rPr b="1" i="0" lang="en-US" sz="30000" u="none" cap="none" strike="noStrike">
                <a:solidFill>
                  <a:schemeClr val="accent2"/>
                </a:solidFill>
                <a:latin typeface="Montserrat"/>
                <a:ea typeface="Montserrat"/>
                <a:cs typeface="Montserrat"/>
                <a:sym typeface="Montserrat"/>
              </a:rPr>
              <a:t>01</a:t>
            </a:r>
            <a:endParaRPr b="0" i="0" sz="3200" u="none" cap="none" strike="noStrike">
              <a:solidFill>
                <a:schemeClr val="accent2"/>
              </a:solidFill>
              <a:latin typeface="Arial"/>
              <a:ea typeface="Arial"/>
              <a:cs typeface="Arial"/>
              <a:sym typeface="Arial"/>
            </a:endParaRPr>
          </a:p>
        </p:txBody>
      </p:sp>
      <p:pic>
        <p:nvPicPr>
          <p:cNvPr id="135" name="Google Shape;135;p2"/>
          <p:cNvPicPr preferRelativeResize="0"/>
          <p:nvPr/>
        </p:nvPicPr>
        <p:blipFill rotWithShape="1">
          <a:blip r:embed="rId4">
            <a:alphaModFix/>
          </a:blip>
          <a:srcRect b="0" l="0" r="0" t="0"/>
          <a:stretch/>
        </p:blipFill>
        <p:spPr>
          <a:xfrm>
            <a:off x="16087004" y="1028708"/>
            <a:ext cx="761350" cy="700442"/>
          </a:xfrm>
          <a:prstGeom prst="rect">
            <a:avLst/>
          </a:prstGeom>
          <a:noFill/>
          <a:ln>
            <a:noFill/>
          </a:ln>
        </p:spPr>
      </p:pic>
      <p:pic>
        <p:nvPicPr>
          <p:cNvPr id="136" name="Google Shape;136;p2"/>
          <p:cNvPicPr preferRelativeResize="0"/>
          <p:nvPr/>
        </p:nvPicPr>
        <p:blipFill rotWithShape="1">
          <a:blip r:embed="rId5">
            <a:alphaModFix/>
          </a:blip>
          <a:srcRect b="0" l="0" r="0" t="0"/>
          <a:stretch/>
        </p:blipFill>
        <p:spPr>
          <a:xfrm flipH="1">
            <a:off x="819150" y="524365"/>
            <a:ext cx="423675" cy="2905200"/>
          </a:xfrm>
          <a:prstGeom prst="rect">
            <a:avLst/>
          </a:prstGeom>
          <a:noFill/>
          <a:ln>
            <a:noFill/>
          </a:ln>
        </p:spPr>
      </p:pic>
    </p:spTree>
  </p:cSld>
  <p:clrMapOvr>
    <a:masterClrMapping/>
  </p:clrMapOvr>
  <mc:AlternateContent>
    <mc:Choice Requires="p14">
      <p:transition spd="slow" p14:dur="900">
        <p14:flythrough dir="out" hasBounce="1"/>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nvSpPr>
        <p:spPr>
          <a:xfrm>
            <a:off x="3741750" y="1342221"/>
            <a:ext cx="10804500" cy="1077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7000" u="none" cap="none" strike="noStrike">
                <a:solidFill>
                  <a:schemeClr val="accent2"/>
                </a:solidFill>
                <a:latin typeface="Montserrat"/>
                <a:ea typeface="Montserrat"/>
                <a:cs typeface="Montserrat"/>
                <a:sym typeface="Montserrat"/>
              </a:rPr>
              <a:t>Khái niệm về Power BI</a:t>
            </a:r>
            <a:endParaRPr sz="7000">
              <a:solidFill>
                <a:schemeClr val="accent2"/>
              </a:solidFill>
              <a:latin typeface="Montserrat"/>
              <a:ea typeface="Montserrat"/>
              <a:cs typeface="Montserrat"/>
              <a:sym typeface="Montserrat"/>
            </a:endParaRPr>
          </a:p>
        </p:txBody>
      </p:sp>
      <p:sp>
        <p:nvSpPr>
          <p:cNvPr id="142" name="Google Shape;142;p8"/>
          <p:cNvSpPr txBox="1"/>
          <p:nvPr/>
        </p:nvSpPr>
        <p:spPr>
          <a:xfrm>
            <a:off x="8877050" y="3473396"/>
            <a:ext cx="7660800" cy="10620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i="0" lang="en-US" sz="3000" u="none" cap="none" strike="noStrike">
                <a:solidFill>
                  <a:schemeClr val="dk1"/>
                </a:solidFill>
                <a:latin typeface="Montserrat"/>
                <a:ea typeface="Montserrat"/>
                <a:cs typeface="Montserrat"/>
                <a:sym typeface="Montserrat"/>
              </a:rPr>
              <a:t>Là nền tảng phân tích dữ liệu kinh doanh của Microsoft.</a:t>
            </a:r>
            <a:endParaRPr sz="3000">
              <a:solidFill>
                <a:schemeClr val="dk1"/>
              </a:solidFill>
              <a:latin typeface="Montserrat"/>
              <a:ea typeface="Montserrat"/>
              <a:cs typeface="Montserrat"/>
              <a:sym typeface="Montserrat"/>
            </a:endParaRPr>
          </a:p>
        </p:txBody>
      </p:sp>
      <p:sp>
        <p:nvSpPr>
          <p:cNvPr id="143" name="Google Shape;143;p8"/>
          <p:cNvSpPr txBox="1"/>
          <p:nvPr/>
        </p:nvSpPr>
        <p:spPr>
          <a:xfrm>
            <a:off x="8877050" y="5280521"/>
            <a:ext cx="7660800" cy="10620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i="0" lang="en-US" sz="3000" u="none" cap="none" strike="noStrike">
                <a:solidFill>
                  <a:schemeClr val="dk1"/>
                </a:solidFill>
                <a:latin typeface="Montserrat"/>
                <a:ea typeface="Montserrat"/>
                <a:cs typeface="Montserrat"/>
                <a:sym typeface="Montserrat"/>
              </a:rPr>
              <a:t>Chuyển đổi dữ liệu thô thành những thông tin hữu ích và có giá trị.</a:t>
            </a:r>
            <a:endParaRPr sz="3000">
              <a:solidFill>
                <a:schemeClr val="dk1"/>
              </a:solidFill>
              <a:latin typeface="Montserrat"/>
              <a:ea typeface="Montserrat"/>
              <a:cs typeface="Montserrat"/>
              <a:sym typeface="Montserrat"/>
            </a:endParaRPr>
          </a:p>
        </p:txBody>
      </p:sp>
      <p:cxnSp>
        <p:nvCxnSpPr>
          <p:cNvPr id="144" name="Google Shape;144;p8"/>
          <p:cNvCxnSpPr/>
          <p:nvPr/>
        </p:nvCxnSpPr>
        <p:spPr>
          <a:xfrm>
            <a:off x="8877050" y="4875711"/>
            <a:ext cx="7660800" cy="0"/>
          </a:xfrm>
          <a:prstGeom prst="straightConnector1">
            <a:avLst/>
          </a:prstGeom>
          <a:noFill/>
          <a:ln cap="rnd" cmpd="sng" w="28575">
            <a:solidFill>
              <a:schemeClr val="dk2"/>
            </a:solidFill>
            <a:prstDash val="solid"/>
            <a:round/>
            <a:headEnd len="sm" w="sm" type="none"/>
            <a:tailEnd len="sm" w="sm" type="none"/>
          </a:ln>
        </p:spPr>
      </p:cxnSp>
      <p:sp>
        <p:nvSpPr>
          <p:cNvPr id="145" name="Google Shape;145;p8"/>
          <p:cNvSpPr txBox="1"/>
          <p:nvPr/>
        </p:nvSpPr>
        <p:spPr>
          <a:xfrm>
            <a:off x="8877050" y="7268697"/>
            <a:ext cx="7660800" cy="10620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i="0" lang="en-US" sz="3000" u="none" cap="none" strike="noStrike">
                <a:solidFill>
                  <a:schemeClr val="dk1"/>
                </a:solidFill>
                <a:latin typeface="Montserrat"/>
                <a:ea typeface="Montserrat"/>
                <a:cs typeface="Montserrat"/>
                <a:sym typeface="Montserrat"/>
              </a:rPr>
              <a:t>Cho phép kết nối, xử lý, trực quan hóa và chia sẻ báo cáo, dashboard</a:t>
            </a:r>
            <a:endParaRPr sz="1200">
              <a:solidFill>
                <a:schemeClr val="dk1"/>
              </a:solidFill>
              <a:latin typeface="Montserrat"/>
              <a:ea typeface="Montserrat"/>
              <a:cs typeface="Montserrat"/>
              <a:sym typeface="Montserrat"/>
            </a:endParaRPr>
          </a:p>
        </p:txBody>
      </p:sp>
      <p:cxnSp>
        <p:nvCxnSpPr>
          <p:cNvPr id="146" name="Google Shape;146;p8"/>
          <p:cNvCxnSpPr/>
          <p:nvPr/>
        </p:nvCxnSpPr>
        <p:spPr>
          <a:xfrm>
            <a:off x="8877050" y="6825787"/>
            <a:ext cx="7660800" cy="0"/>
          </a:xfrm>
          <a:prstGeom prst="straightConnector1">
            <a:avLst/>
          </a:prstGeom>
          <a:noFill/>
          <a:ln cap="rnd" cmpd="sng" w="28575">
            <a:solidFill>
              <a:schemeClr val="dk2"/>
            </a:solidFill>
            <a:prstDash val="solid"/>
            <a:round/>
            <a:headEnd len="sm" w="sm" type="none"/>
            <a:tailEnd len="sm" w="sm" type="none"/>
          </a:ln>
        </p:spPr>
      </p:cxnSp>
      <p:pic>
        <p:nvPicPr>
          <p:cNvPr id="147" name="Google Shape;147;p8"/>
          <p:cNvPicPr preferRelativeResize="0"/>
          <p:nvPr/>
        </p:nvPicPr>
        <p:blipFill>
          <a:blip r:embed="rId3">
            <a:alphaModFix/>
          </a:blip>
          <a:stretch>
            <a:fillRect/>
          </a:stretch>
        </p:blipFill>
        <p:spPr>
          <a:xfrm>
            <a:off x="1750150" y="3824696"/>
            <a:ext cx="6232099" cy="4154726"/>
          </a:xfrm>
          <a:prstGeom prst="rect">
            <a:avLst/>
          </a:prstGeom>
          <a:noFill/>
          <a:ln>
            <a:noFill/>
          </a:ln>
        </p:spPr>
      </p:pic>
    </p:spTree>
  </p:cSld>
  <p:clrMapOvr>
    <a:masterClrMapping/>
  </p:clrMapOvr>
  <mc:AlternateContent>
    <mc:Choice Requires="p14">
      <p:transition spd="slow" p14:dur="900">
        <p14:flythrough dir="out" hasBounce="1"/>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9afd2df374_4_349"/>
          <p:cNvSpPr/>
          <p:nvPr/>
        </p:nvSpPr>
        <p:spPr>
          <a:xfrm>
            <a:off x="1527575" y="541400"/>
            <a:ext cx="15224760" cy="8563266"/>
          </a:xfrm>
          <a:custGeom>
            <a:rect b="b" l="l" r="r" t="t"/>
            <a:pathLst>
              <a:path extrusionOk="0" h="9594696" w="16459200">
                <a:moveTo>
                  <a:pt x="0" y="0"/>
                </a:moveTo>
                <a:lnTo>
                  <a:pt x="16459200" y="0"/>
                </a:lnTo>
                <a:lnTo>
                  <a:pt x="16459200" y="9594696"/>
                </a:lnTo>
                <a:lnTo>
                  <a:pt x="0" y="9594696"/>
                </a:lnTo>
                <a:lnTo>
                  <a:pt x="0" y="0"/>
                </a:lnTo>
                <a:close/>
              </a:path>
            </a:pathLst>
          </a:custGeom>
          <a:blipFill rotWithShape="1">
            <a:blip r:embed="rId3">
              <a:alphaModFix/>
            </a:blip>
            <a:stretch>
              <a:fillRect b="0" l="0" r="0" t="-2929"/>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9afd2df374_3_9"/>
          <p:cNvSpPr txBox="1"/>
          <p:nvPr/>
        </p:nvSpPr>
        <p:spPr>
          <a:xfrm>
            <a:off x="4353600" y="1195750"/>
            <a:ext cx="9580800" cy="10776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lang="en-US" sz="7000" u="none" cap="none" strike="noStrike">
                <a:solidFill>
                  <a:schemeClr val="accent2"/>
                </a:solidFill>
                <a:latin typeface="Montserrat"/>
                <a:ea typeface="Montserrat"/>
                <a:cs typeface="Montserrat"/>
                <a:sym typeface="Montserrat"/>
              </a:rPr>
              <a:t>Power BI Desktop</a:t>
            </a:r>
            <a:endParaRPr b="1" sz="7000">
              <a:solidFill>
                <a:schemeClr val="accent2"/>
              </a:solidFill>
              <a:latin typeface="Montserrat"/>
              <a:ea typeface="Montserrat"/>
              <a:cs typeface="Montserrat"/>
              <a:sym typeface="Montserrat"/>
            </a:endParaRPr>
          </a:p>
        </p:txBody>
      </p:sp>
      <p:sp>
        <p:nvSpPr>
          <p:cNvPr id="158" name="Google Shape;158;g39afd2df374_3_9"/>
          <p:cNvSpPr txBox="1"/>
          <p:nvPr/>
        </p:nvSpPr>
        <p:spPr>
          <a:xfrm>
            <a:off x="2258338" y="3652979"/>
            <a:ext cx="8169600" cy="3925500"/>
          </a:xfrm>
          <a:prstGeom prst="rect">
            <a:avLst/>
          </a:prstGeom>
          <a:noFill/>
          <a:ln>
            <a:noFill/>
          </a:ln>
        </p:spPr>
        <p:txBody>
          <a:bodyPr anchorCtr="0" anchor="t" bIns="0" lIns="0" spcFirstLastPara="1" rIns="0" wrap="square" tIns="0">
            <a:spAutoFit/>
          </a:bodyPr>
          <a:lstStyle/>
          <a:p>
            <a:pPr indent="-419100" lvl="0" marL="457200" marR="0" rtl="0" algn="just">
              <a:lnSpc>
                <a:spcPct val="150014"/>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Là ứng dụng miễn phí cài đặt trên máy tính, cho phép người dùng </a:t>
            </a:r>
            <a:r>
              <a:rPr b="1" lang="en-US" sz="3000">
                <a:solidFill>
                  <a:schemeClr val="dk1"/>
                </a:solidFill>
                <a:latin typeface="Montserrat"/>
                <a:ea typeface="Montserrat"/>
                <a:cs typeface="Montserrat"/>
                <a:sym typeface="Montserrat"/>
              </a:rPr>
              <a:t>kết nối, xử lý và trực quan hóa</a:t>
            </a:r>
            <a:r>
              <a:rPr lang="en-US" sz="3000">
                <a:solidFill>
                  <a:schemeClr val="dk1"/>
                </a:solidFill>
                <a:latin typeface="Montserrat"/>
                <a:ea typeface="Montserrat"/>
                <a:cs typeface="Montserrat"/>
                <a:sym typeface="Montserrat"/>
              </a:rPr>
              <a:t> dữ liệu.</a:t>
            </a:r>
            <a:endParaRPr sz="3000">
              <a:solidFill>
                <a:schemeClr val="dk1"/>
              </a:solidFill>
              <a:latin typeface="Montserrat"/>
              <a:ea typeface="Montserrat"/>
              <a:cs typeface="Montserrat"/>
              <a:sym typeface="Montserrat"/>
            </a:endParaRPr>
          </a:p>
          <a:p>
            <a:pPr indent="-419100" lvl="0" marL="457200" marR="0" rtl="0" algn="just">
              <a:lnSpc>
                <a:spcPct val="150014"/>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Là công cụ chính để </a:t>
            </a:r>
            <a:r>
              <a:rPr b="1" lang="en-US" sz="3000">
                <a:solidFill>
                  <a:schemeClr val="dk1"/>
                </a:solidFill>
                <a:latin typeface="Montserrat"/>
                <a:ea typeface="Montserrat"/>
                <a:cs typeface="Montserrat"/>
                <a:sym typeface="Montserrat"/>
              </a:rPr>
              <a:t>xây dựng mô hình dữ liệu và thiết kế báo cáo</a:t>
            </a:r>
            <a:r>
              <a:rPr lang="en-US" sz="3000">
                <a:solidFill>
                  <a:schemeClr val="dk1"/>
                </a:solidFill>
                <a:latin typeface="Montserrat"/>
                <a:ea typeface="Montserrat"/>
                <a:cs typeface="Montserrat"/>
                <a:sym typeface="Montserrat"/>
              </a:rPr>
              <a:t> một cách chi tiết.</a:t>
            </a:r>
            <a:endParaRPr sz="3000">
              <a:solidFill>
                <a:schemeClr val="dk1"/>
              </a:solidFill>
              <a:latin typeface="Montserrat"/>
              <a:ea typeface="Montserrat"/>
              <a:cs typeface="Montserrat"/>
              <a:sym typeface="Montserrat"/>
            </a:endParaRPr>
          </a:p>
        </p:txBody>
      </p:sp>
      <p:pic>
        <p:nvPicPr>
          <p:cNvPr id="159" name="Google Shape;159;g39afd2df374_3_9"/>
          <p:cNvPicPr preferRelativeResize="0"/>
          <p:nvPr/>
        </p:nvPicPr>
        <p:blipFill>
          <a:blip r:embed="rId3">
            <a:alphaModFix/>
          </a:blip>
          <a:stretch>
            <a:fillRect/>
          </a:stretch>
        </p:blipFill>
        <p:spPr>
          <a:xfrm>
            <a:off x="11419163" y="3310504"/>
            <a:ext cx="4610500" cy="4610473"/>
          </a:xfrm>
          <a:prstGeom prst="rect">
            <a:avLst/>
          </a:prstGeom>
          <a:noFill/>
          <a:ln>
            <a:noFill/>
          </a:ln>
        </p:spPr>
      </p:pic>
      <p:sp>
        <p:nvSpPr>
          <p:cNvPr id="160" name="Google Shape;160;g39afd2df374_3_9"/>
          <p:cNvSpPr/>
          <p:nvPr/>
        </p:nvSpPr>
        <p:spPr>
          <a:xfrm>
            <a:off x="11615862" y="3947360"/>
            <a:ext cx="4248389" cy="2782400"/>
          </a:xfrm>
          <a:custGeom>
            <a:rect b="b" l="l" r="r" t="t"/>
            <a:pathLst>
              <a:path extrusionOk="0" h="2846445" w="4227253">
                <a:moveTo>
                  <a:pt x="0" y="0"/>
                </a:moveTo>
                <a:lnTo>
                  <a:pt x="4227253" y="0"/>
                </a:lnTo>
                <a:lnTo>
                  <a:pt x="4227253" y="2846445"/>
                </a:lnTo>
                <a:lnTo>
                  <a:pt x="0" y="2846445"/>
                </a:lnTo>
                <a:lnTo>
                  <a:pt x="0" y="0"/>
                </a:lnTo>
                <a:close/>
              </a:path>
            </a:pathLst>
          </a:custGeom>
          <a:blipFill rotWithShape="1">
            <a:blip r:embed="rId4">
              <a:alphaModFix/>
            </a:blip>
            <a:stretch>
              <a:fillRect b="-59" l="-1129"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9afd2df374_3_27"/>
          <p:cNvSpPr txBox="1"/>
          <p:nvPr/>
        </p:nvSpPr>
        <p:spPr>
          <a:xfrm>
            <a:off x="3910050" y="708025"/>
            <a:ext cx="10467900" cy="1077300"/>
          </a:xfrm>
          <a:prstGeom prst="rect">
            <a:avLst/>
          </a:prstGeom>
          <a:noFill/>
          <a:ln>
            <a:noFill/>
          </a:ln>
        </p:spPr>
        <p:txBody>
          <a:bodyPr anchorCtr="0" anchor="t" bIns="0" lIns="0" spcFirstLastPara="1" rIns="0" wrap="square" tIns="0">
            <a:spAutoFit/>
          </a:bodyPr>
          <a:lstStyle/>
          <a:p>
            <a:pPr indent="0" lvl="0" marL="0" rtl="0" algn="ctr">
              <a:lnSpc>
                <a:spcPct val="120002"/>
              </a:lnSpc>
              <a:spcBef>
                <a:spcPts val="0"/>
              </a:spcBef>
              <a:spcAft>
                <a:spcPts val="0"/>
              </a:spcAft>
              <a:buClr>
                <a:schemeClr val="dk1"/>
              </a:buClr>
              <a:buFont typeface="Arial"/>
              <a:buNone/>
            </a:pPr>
            <a:r>
              <a:rPr b="1" lang="en-US" sz="6999">
                <a:solidFill>
                  <a:schemeClr val="accent2"/>
                </a:solidFill>
                <a:latin typeface="Montserrat"/>
                <a:ea typeface="Montserrat"/>
                <a:cs typeface="Montserrat"/>
                <a:sym typeface="Montserrat"/>
              </a:rPr>
              <a:t>Công cụ &amp; Chức năng</a:t>
            </a:r>
            <a:endParaRPr b="1" sz="7200">
              <a:solidFill>
                <a:schemeClr val="accent2"/>
              </a:solidFill>
              <a:latin typeface="Montserrat"/>
              <a:ea typeface="Montserrat"/>
              <a:cs typeface="Montserrat"/>
              <a:sym typeface="Montserrat"/>
            </a:endParaRPr>
          </a:p>
        </p:txBody>
      </p:sp>
      <p:sp>
        <p:nvSpPr>
          <p:cNvPr id="166" name="Google Shape;166;g39afd2df374_3_27"/>
          <p:cNvSpPr txBox="1"/>
          <p:nvPr/>
        </p:nvSpPr>
        <p:spPr>
          <a:xfrm>
            <a:off x="2047914" y="2657704"/>
            <a:ext cx="14008500" cy="5310900"/>
          </a:xfrm>
          <a:prstGeom prst="rect">
            <a:avLst/>
          </a:prstGeom>
          <a:noFill/>
          <a:ln>
            <a:noFill/>
          </a:ln>
        </p:spPr>
        <p:txBody>
          <a:bodyPr anchorCtr="0" anchor="t" bIns="0" lIns="0" spcFirstLastPara="1" rIns="0" wrap="square" tIns="0">
            <a:spAutoFit/>
          </a:bodyPr>
          <a:lstStyle/>
          <a:p>
            <a:pPr indent="-419100" lvl="0" marL="457200" marR="0" rtl="0" algn="just">
              <a:lnSpc>
                <a:spcPct val="150014"/>
              </a:lnSpc>
              <a:spcBef>
                <a:spcPts val="0"/>
              </a:spcBef>
              <a:spcAft>
                <a:spcPts val="0"/>
              </a:spcAft>
              <a:buClr>
                <a:schemeClr val="dk1"/>
              </a:buClr>
              <a:buSzPts val="3000"/>
              <a:buFont typeface="Montserrat"/>
              <a:buChar char="●"/>
            </a:pPr>
            <a:r>
              <a:rPr b="1" i="0" lang="en-US" sz="3000" u="none" cap="none" strike="noStrike">
                <a:solidFill>
                  <a:schemeClr val="dk1"/>
                </a:solidFill>
                <a:latin typeface="Montserrat"/>
                <a:ea typeface="Montserrat"/>
                <a:cs typeface="Montserrat"/>
                <a:sym typeface="Montserrat"/>
              </a:rPr>
              <a:t>Power Query</a:t>
            </a:r>
            <a:r>
              <a:rPr i="0" lang="en-US" sz="3000" u="none" cap="none" strike="noStrike">
                <a:solidFill>
                  <a:schemeClr val="dk1"/>
                </a:solidFill>
                <a:latin typeface="Montserrat"/>
                <a:ea typeface="Montserrat"/>
                <a:cs typeface="Montserrat"/>
                <a:sym typeface="Montserrat"/>
              </a:rPr>
              <a:t> </a:t>
            </a:r>
            <a:r>
              <a:rPr b="1" lang="en-US" sz="3000">
                <a:solidFill>
                  <a:schemeClr val="dk1"/>
                </a:solidFill>
                <a:latin typeface="Montserrat"/>
                <a:ea typeface="Montserrat"/>
                <a:cs typeface="Montserrat"/>
                <a:sym typeface="Montserrat"/>
              </a:rPr>
              <a:t>(Data Transformation &amp; Modeling) </a:t>
            </a:r>
            <a:endParaRPr b="1" sz="3000">
              <a:solidFill>
                <a:schemeClr val="dk1"/>
              </a:solidFill>
              <a:latin typeface="Montserrat"/>
              <a:ea typeface="Montserrat"/>
              <a:cs typeface="Montserrat"/>
              <a:sym typeface="Montserrat"/>
            </a:endParaRPr>
          </a:p>
          <a:p>
            <a:pPr indent="-419100" lvl="1" marL="914400" marR="0" rtl="0" algn="just">
              <a:lnSpc>
                <a:spcPct val="150014"/>
              </a:lnSpc>
              <a:spcBef>
                <a:spcPts val="0"/>
              </a:spcBef>
              <a:spcAft>
                <a:spcPts val="0"/>
              </a:spcAft>
              <a:buClr>
                <a:schemeClr val="dk1"/>
              </a:buClr>
              <a:buSzPts val="3000"/>
              <a:buFont typeface="Montserrat"/>
              <a:buChar char="○"/>
            </a:pPr>
            <a:r>
              <a:rPr i="0" lang="en-US" sz="3000" u="none" cap="none" strike="noStrike">
                <a:solidFill>
                  <a:schemeClr val="dk1"/>
                </a:solidFill>
                <a:latin typeface="Montserrat"/>
                <a:ea typeface="Montserrat"/>
                <a:cs typeface="Montserrat"/>
                <a:sym typeface="Montserrat"/>
              </a:rPr>
              <a:t>Trích xuất, làm sạch và biến đổi dữ liệu (ETL) từ nhiều nguồn khác nhau</a:t>
            </a:r>
            <a:endParaRPr sz="3000">
              <a:solidFill>
                <a:schemeClr val="dk1"/>
              </a:solidFill>
              <a:latin typeface="Montserrat"/>
              <a:ea typeface="Montserrat"/>
              <a:cs typeface="Montserrat"/>
              <a:sym typeface="Montserrat"/>
            </a:endParaRPr>
          </a:p>
          <a:p>
            <a:pPr indent="-419100" lvl="0" marL="457200" marR="0" rtl="0" algn="just">
              <a:lnSpc>
                <a:spcPct val="150014"/>
              </a:lnSpc>
              <a:spcBef>
                <a:spcPts val="0"/>
              </a:spcBef>
              <a:spcAft>
                <a:spcPts val="0"/>
              </a:spcAft>
              <a:buClr>
                <a:schemeClr val="dk1"/>
              </a:buClr>
              <a:buSzPts val="3000"/>
              <a:buFont typeface="Montserrat"/>
              <a:buChar char="●"/>
            </a:pPr>
            <a:r>
              <a:rPr b="1" i="0" lang="en-US" sz="3000" u="none" cap="none" strike="noStrike">
                <a:solidFill>
                  <a:schemeClr val="dk1"/>
                </a:solidFill>
                <a:latin typeface="Montserrat"/>
                <a:ea typeface="Montserrat"/>
                <a:cs typeface="Montserrat"/>
                <a:sym typeface="Montserrat"/>
              </a:rPr>
              <a:t>Power Pivot</a:t>
            </a:r>
            <a:r>
              <a:rPr i="0" lang="en-US" sz="3000" u="none" cap="none" strike="noStrike">
                <a:solidFill>
                  <a:schemeClr val="dk1"/>
                </a:solidFill>
                <a:latin typeface="Montserrat"/>
                <a:ea typeface="Montserrat"/>
                <a:cs typeface="Montserrat"/>
                <a:sym typeface="Montserrat"/>
              </a:rPr>
              <a:t> </a:t>
            </a:r>
            <a:r>
              <a:rPr b="1" lang="en-US" sz="3000">
                <a:solidFill>
                  <a:schemeClr val="dk1"/>
                </a:solidFill>
                <a:latin typeface="Montserrat"/>
                <a:ea typeface="Montserrat"/>
                <a:cs typeface="Montserrat"/>
                <a:sym typeface="Montserrat"/>
              </a:rPr>
              <a:t>(Data Transformation &amp; Modeling) </a:t>
            </a:r>
            <a:endParaRPr sz="3000">
              <a:solidFill>
                <a:schemeClr val="dk1"/>
              </a:solidFill>
              <a:latin typeface="Montserrat"/>
              <a:ea typeface="Montserrat"/>
              <a:cs typeface="Montserrat"/>
              <a:sym typeface="Montserrat"/>
            </a:endParaRPr>
          </a:p>
          <a:p>
            <a:pPr indent="-419100" lvl="1" marL="914400" marR="0" rtl="0" algn="just">
              <a:lnSpc>
                <a:spcPct val="150014"/>
              </a:lnSpc>
              <a:spcBef>
                <a:spcPts val="0"/>
              </a:spcBef>
              <a:spcAft>
                <a:spcPts val="0"/>
              </a:spcAft>
              <a:buClr>
                <a:schemeClr val="dk1"/>
              </a:buClr>
              <a:buSzPts val="3000"/>
              <a:buFont typeface="Montserrat"/>
              <a:buChar char="○"/>
            </a:pPr>
            <a:r>
              <a:rPr i="0" lang="en-US" sz="3000" u="none" cap="none" strike="noStrike">
                <a:solidFill>
                  <a:schemeClr val="dk1"/>
                </a:solidFill>
                <a:latin typeface="Montserrat"/>
                <a:ea typeface="Montserrat"/>
                <a:cs typeface="Montserrat"/>
                <a:sym typeface="Montserrat"/>
              </a:rPr>
              <a:t>Mô hình hóa dữ liệu, tạo mối quan hệ và thực hiện tính toán bằng ngôn ngữ DAX</a:t>
            </a:r>
            <a:endParaRPr sz="3000">
              <a:solidFill>
                <a:schemeClr val="dk1"/>
              </a:solidFill>
              <a:latin typeface="Montserrat"/>
              <a:ea typeface="Montserrat"/>
              <a:cs typeface="Montserrat"/>
              <a:sym typeface="Montserrat"/>
            </a:endParaRPr>
          </a:p>
          <a:p>
            <a:pPr indent="-419100" lvl="0" marL="457200" marR="0" rtl="0" algn="just">
              <a:lnSpc>
                <a:spcPct val="150014"/>
              </a:lnSpc>
              <a:spcBef>
                <a:spcPts val="0"/>
              </a:spcBef>
              <a:spcAft>
                <a:spcPts val="0"/>
              </a:spcAft>
              <a:buClr>
                <a:schemeClr val="dk1"/>
              </a:buClr>
              <a:buSzPts val="3000"/>
              <a:buFont typeface="Montserrat"/>
              <a:buChar char="●"/>
            </a:pPr>
            <a:r>
              <a:rPr b="1" i="0" lang="en-US" sz="3000" u="none" cap="none" strike="noStrike">
                <a:solidFill>
                  <a:schemeClr val="dk1"/>
                </a:solidFill>
                <a:latin typeface="Montserrat"/>
                <a:ea typeface="Montserrat"/>
                <a:cs typeface="Montserrat"/>
                <a:sym typeface="Montserrat"/>
              </a:rPr>
              <a:t>Power View </a:t>
            </a:r>
            <a:r>
              <a:rPr b="1" lang="en-US" sz="3000">
                <a:solidFill>
                  <a:schemeClr val="dk1"/>
                </a:solidFill>
                <a:latin typeface="Montserrat"/>
                <a:ea typeface="Montserrat"/>
                <a:cs typeface="Montserrat"/>
                <a:sym typeface="Montserrat"/>
              </a:rPr>
              <a:t>(Data Visualization &amp; Report) </a:t>
            </a:r>
            <a:endParaRPr sz="3000">
              <a:solidFill>
                <a:schemeClr val="dk1"/>
              </a:solidFill>
              <a:latin typeface="Montserrat"/>
              <a:ea typeface="Montserrat"/>
              <a:cs typeface="Montserrat"/>
              <a:sym typeface="Montserrat"/>
            </a:endParaRPr>
          </a:p>
          <a:p>
            <a:pPr indent="-419100" lvl="1" marL="914400" marR="0" rtl="0" algn="just">
              <a:lnSpc>
                <a:spcPct val="150014"/>
              </a:lnSpc>
              <a:spcBef>
                <a:spcPts val="0"/>
              </a:spcBef>
              <a:spcAft>
                <a:spcPts val="0"/>
              </a:spcAft>
              <a:buClr>
                <a:schemeClr val="dk1"/>
              </a:buClr>
              <a:buSzPts val="3000"/>
              <a:buFont typeface="Montserrat"/>
              <a:buChar char="○"/>
            </a:pPr>
            <a:r>
              <a:rPr i="0" lang="en-US" sz="3000" u="none" cap="none" strike="noStrike">
                <a:solidFill>
                  <a:schemeClr val="dk1"/>
                </a:solidFill>
                <a:latin typeface="Montserrat"/>
                <a:ea typeface="Montserrat"/>
                <a:cs typeface="Montserrat"/>
                <a:sym typeface="Montserrat"/>
              </a:rPr>
              <a:t>Trực quan hóa dữ liệu bằng các loại biểu đồ, bản đồ và dashboard</a:t>
            </a:r>
            <a:endParaRPr sz="30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500"/>
                                        <p:tgtEl>
                                          <p:spTgt spid="165"/>
                                        </p:tgtEl>
                                        <p:attrNameLst>
                                          <p:attrName>ppt_w</p:attrName>
                                        </p:attrNameLst>
                                      </p:cBhvr>
                                      <p:tavLst>
                                        <p:tav fmla="" tm="0">
                                          <p:val>
                                            <p:strVal val="0"/>
                                          </p:val>
                                        </p:tav>
                                        <p:tav fmla="" tm="100000">
                                          <p:val>
                                            <p:strVal val="#ppt_w"/>
                                          </p:val>
                                        </p:tav>
                                      </p:tavLst>
                                    </p:anim>
                                    <p:anim calcmode="lin" valueType="num">
                                      <p:cBhvr additive="base">
                                        <p:cTn dur="500"/>
                                        <p:tgtEl>
                                          <p:spTgt spid="16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9afd2df374_3_47"/>
          <p:cNvSpPr txBox="1"/>
          <p:nvPr/>
        </p:nvSpPr>
        <p:spPr>
          <a:xfrm>
            <a:off x="2064714" y="3221008"/>
            <a:ext cx="14008500" cy="3925500"/>
          </a:xfrm>
          <a:prstGeom prst="rect">
            <a:avLst/>
          </a:prstGeom>
          <a:noFill/>
          <a:ln>
            <a:noFill/>
          </a:ln>
        </p:spPr>
        <p:txBody>
          <a:bodyPr anchorCtr="0" anchor="t" bIns="0" lIns="0" spcFirstLastPara="1" rIns="0" wrap="square" tIns="0">
            <a:spAutoFit/>
          </a:bodyPr>
          <a:lstStyle/>
          <a:p>
            <a:pPr indent="-419100" lvl="0" marL="457200" rtl="0" algn="just">
              <a:lnSpc>
                <a:spcPct val="150014"/>
              </a:lnSpc>
              <a:spcBef>
                <a:spcPts val="0"/>
              </a:spcBef>
              <a:spcAft>
                <a:spcPts val="0"/>
              </a:spcAft>
              <a:buClr>
                <a:schemeClr val="dk1"/>
              </a:buClr>
              <a:buSzPts val="3000"/>
              <a:buFont typeface="Montserrat"/>
              <a:buChar char="●"/>
            </a:pPr>
            <a:r>
              <a:rPr b="1" lang="en-US" sz="3000">
                <a:solidFill>
                  <a:schemeClr val="dk1"/>
                </a:solidFill>
                <a:latin typeface="Montserrat"/>
                <a:ea typeface="Montserrat"/>
                <a:cs typeface="Montserrat"/>
                <a:sym typeface="Montserrat"/>
              </a:rPr>
              <a:t>Power Map (Data Visualization &amp; Report)</a:t>
            </a:r>
            <a:endParaRPr sz="3000">
              <a:solidFill>
                <a:schemeClr val="dk1"/>
              </a:solidFill>
              <a:latin typeface="Montserrat"/>
              <a:ea typeface="Montserrat"/>
              <a:cs typeface="Montserrat"/>
              <a:sym typeface="Montserrat"/>
            </a:endParaRPr>
          </a:p>
          <a:p>
            <a:pPr indent="-419100" lvl="1" marL="914400" rtl="0" algn="just">
              <a:lnSpc>
                <a:spcPct val="150014"/>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Biểu diễn dữ liệu không gian 3D trên bản đồ địa lý, giúp phân tích theo khu vực.</a:t>
            </a:r>
            <a:endParaRPr sz="3000">
              <a:solidFill>
                <a:schemeClr val="dk1"/>
              </a:solidFill>
              <a:latin typeface="Montserrat"/>
              <a:ea typeface="Montserrat"/>
              <a:cs typeface="Montserrat"/>
              <a:sym typeface="Montserrat"/>
            </a:endParaRPr>
          </a:p>
          <a:p>
            <a:pPr indent="-419100" lvl="0" marL="457200" rtl="0" algn="just">
              <a:lnSpc>
                <a:spcPct val="150014"/>
              </a:lnSpc>
              <a:spcBef>
                <a:spcPts val="0"/>
              </a:spcBef>
              <a:spcAft>
                <a:spcPts val="0"/>
              </a:spcAft>
              <a:buClr>
                <a:schemeClr val="dk1"/>
              </a:buClr>
              <a:buSzPts val="3000"/>
              <a:buFont typeface="Montserrat"/>
              <a:buChar char="●"/>
            </a:pPr>
            <a:r>
              <a:rPr b="1" lang="en-US" sz="3000">
                <a:solidFill>
                  <a:schemeClr val="dk1"/>
                </a:solidFill>
                <a:latin typeface="Montserrat"/>
                <a:ea typeface="Montserrat"/>
                <a:cs typeface="Montserrat"/>
                <a:sym typeface="Montserrat"/>
              </a:rPr>
              <a:t>Power Q&amp;A (User &amp; AI Interaction)</a:t>
            </a:r>
            <a:endParaRPr sz="3000">
              <a:solidFill>
                <a:schemeClr val="dk1"/>
              </a:solidFill>
              <a:latin typeface="Montserrat"/>
              <a:ea typeface="Montserrat"/>
              <a:cs typeface="Montserrat"/>
              <a:sym typeface="Montserrat"/>
            </a:endParaRPr>
          </a:p>
          <a:p>
            <a:pPr indent="-419100" lvl="1" marL="914400" rtl="0" algn="just">
              <a:lnSpc>
                <a:spcPct val="150014"/>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Cho phép người dùng đặt câu hỏi bằng ngôn ngữ tự nhiên để truy vấn dữ liệu</a:t>
            </a:r>
            <a:endParaRPr b="1" sz="3000">
              <a:solidFill>
                <a:schemeClr val="dk1"/>
              </a:solidFill>
              <a:latin typeface="Montserrat"/>
              <a:ea typeface="Montserrat"/>
              <a:cs typeface="Montserrat"/>
              <a:sym typeface="Montserrat"/>
            </a:endParaRPr>
          </a:p>
        </p:txBody>
      </p:sp>
      <p:sp>
        <p:nvSpPr>
          <p:cNvPr id="172" name="Google Shape;172;g39afd2df374_3_47"/>
          <p:cNvSpPr txBox="1"/>
          <p:nvPr/>
        </p:nvSpPr>
        <p:spPr>
          <a:xfrm>
            <a:off x="3910050" y="1111425"/>
            <a:ext cx="10467900" cy="1077300"/>
          </a:xfrm>
          <a:prstGeom prst="rect">
            <a:avLst/>
          </a:prstGeom>
          <a:noFill/>
          <a:ln>
            <a:noFill/>
          </a:ln>
        </p:spPr>
        <p:txBody>
          <a:bodyPr anchorCtr="0" anchor="t" bIns="0" lIns="0" spcFirstLastPara="1" rIns="0" wrap="square" tIns="0">
            <a:spAutoFit/>
          </a:bodyPr>
          <a:lstStyle/>
          <a:p>
            <a:pPr indent="0" lvl="0" marL="0" rtl="0" algn="ctr">
              <a:lnSpc>
                <a:spcPct val="120002"/>
              </a:lnSpc>
              <a:spcBef>
                <a:spcPts val="0"/>
              </a:spcBef>
              <a:spcAft>
                <a:spcPts val="0"/>
              </a:spcAft>
              <a:buClr>
                <a:schemeClr val="dk1"/>
              </a:buClr>
              <a:buFont typeface="Arial"/>
              <a:buNone/>
            </a:pPr>
            <a:r>
              <a:rPr b="1" lang="en-US" sz="6999">
                <a:solidFill>
                  <a:schemeClr val="accent2"/>
                </a:solidFill>
                <a:latin typeface="Montserrat"/>
                <a:ea typeface="Montserrat"/>
                <a:cs typeface="Montserrat"/>
                <a:sym typeface="Montserrat"/>
              </a:rPr>
              <a:t>Công cụ &amp; Chức năng</a:t>
            </a:r>
            <a:endParaRPr b="1" sz="7200">
              <a:solidFill>
                <a:schemeClr val="accent2"/>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9afd2df374_3_58"/>
          <p:cNvSpPr txBox="1"/>
          <p:nvPr/>
        </p:nvSpPr>
        <p:spPr>
          <a:xfrm>
            <a:off x="4336775" y="1363825"/>
            <a:ext cx="9580800" cy="10776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lang="en-US" sz="7000">
                <a:solidFill>
                  <a:schemeClr val="accent2"/>
                </a:solidFill>
                <a:latin typeface="Montserrat"/>
                <a:ea typeface="Montserrat"/>
                <a:cs typeface="Montserrat"/>
                <a:sym typeface="Montserrat"/>
              </a:rPr>
              <a:t>Power BI Service</a:t>
            </a:r>
            <a:endParaRPr b="1" sz="7000">
              <a:solidFill>
                <a:schemeClr val="accent2"/>
              </a:solidFill>
              <a:latin typeface="Montserrat"/>
              <a:ea typeface="Montserrat"/>
              <a:cs typeface="Montserrat"/>
              <a:sym typeface="Montserrat"/>
            </a:endParaRPr>
          </a:p>
        </p:txBody>
      </p:sp>
      <p:sp>
        <p:nvSpPr>
          <p:cNvPr id="178" name="Google Shape;178;g39afd2df374_3_58"/>
          <p:cNvSpPr txBox="1"/>
          <p:nvPr/>
        </p:nvSpPr>
        <p:spPr>
          <a:xfrm>
            <a:off x="8243025" y="4210055"/>
            <a:ext cx="6918600" cy="2878500"/>
          </a:xfrm>
          <a:prstGeom prst="rect">
            <a:avLst/>
          </a:prstGeom>
          <a:noFill/>
          <a:ln>
            <a:noFill/>
          </a:ln>
        </p:spPr>
        <p:txBody>
          <a:bodyPr anchorCtr="0" anchor="t" bIns="0" lIns="0" spcFirstLastPara="1" rIns="0" wrap="square" tIns="0">
            <a:spAutoFit/>
          </a:bodyPr>
          <a:lstStyle/>
          <a:p>
            <a:pPr indent="0" lvl="0" marL="0" marR="0" rtl="0" algn="just">
              <a:lnSpc>
                <a:spcPct val="150014"/>
              </a:lnSpc>
              <a:spcBef>
                <a:spcPts val="0"/>
              </a:spcBef>
              <a:spcAft>
                <a:spcPts val="0"/>
              </a:spcAft>
              <a:buNone/>
            </a:pPr>
            <a:r>
              <a:rPr lang="en-US" sz="3400">
                <a:solidFill>
                  <a:schemeClr val="dk1"/>
                </a:solidFill>
                <a:latin typeface="Montserrat"/>
                <a:ea typeface="Montserrat"/>
                <a:cs typeface="Montserrat"/>
                <a:sym typeface="Montserrat"/>
              </a:rPr>
              <a:t>Nền tảng web cho phép lưu trữ, chia sẻ và tương tác với các báo cáo được tạo từ Power BI Desktop.</a:t>
            </a:r>
            <a:endParaRPr sz="3400">
              <a:solidFill>
                <a:schemeClr val="dk1"/>
              </a:solidFill>
              <a:latin typeface="Montserrat"/>
              <a:ea typeface="Montserrat"/>
              <a:cs typeface="Montserrat"/>
              <a:sym typeface="Montserrat"/>
            </a:endParaRPr>
          </a:p>
        </p:txBody>
      </p:sp>
      <p:pic>
        <p:nvPicPr>
          <p:cNvPr id="179" name="Google Shape;179;g39afd2df374_3_58"/>
          <p:cNvPicPr preferRelativeResize="0"/>
          <p:nvPr/>
        </p:nvPicPr>
        <p:blipFill>
          <a:blip r:embed="rId3">
            <a:alphaModFix/>
          </a:blip>
          <a:stretch>
            <a:fillRect/>
          </a:stretch>
        </p:blipFill>
        <p:spPr>
          <a:xfrm>
            <a:off x="2976275" y="3497005"/>
            <a:ext cx="4304650" cy="4304625"/>
          </a:xfrm>
          <a:prstGeom prst="rect">
            <a:avLst/>
          </a:prstGeom>
          <a:noFill/>
          <a:ln>
            <a:noFill/>
          </a:ln>
        </p:spPr>
      </p:pic>
      <p:sp>
        <p:nvSpPr>
          <p:cNvPr id="180" name="Google Shape;180;g39afd2df374_3_58"/>
          <p:cNvSpPr/>
          <p:nvPr/>
        </p:nvSpPr>
        <p:spPr>
          <a:xfrm>
            <a:off x="3142375" y="4126018"/>
            <a:ext cx="3972446" cy="2627805"/>
          </a:xfrm>
          <a:custGeom>
            <a:rect b="b" l="l" r="r" t="t"/>
            <a:pathLst>
              <a:path extrusionOk="0" h="2723114" w="3424522">
                <a:moveTo>
                  <a:pt x="0" y="0"/>
                </a:moveTo>
                <a:lnTo>
                  <a:pt x="3424522" y="0"/>
                </a:lnTo>
                <a:lnTo>
                  <a:pt x="3424522" y="2723114"/>
                </a:lnTo>
                <a:lnTo>
                  <a:pt x="0" y="2723114"/>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g3af219a3a28_1_10"/>
          <p:cNvPicPr preferRelativeResize="0"/>
          <p:nvPr/>
        </p:nvPicPr>
        <p:blipFill rotWithShape="1">
          <a:blip r:embed="rId3">
            <a:alphaModFix/>
          </a:blip>
          <a:srcRect b="0" l="0" r="0" t="0"/>
          <a:stretch/>
        </p:blipFill>
        <p:spPr>
          <a:xfrm>
            <a:off x="10790895" y="9608158"/>
            <a:ext cx="7332981" cy="452200"/>
          </a:xfrm>
          <a:prstGeom prst="rect">
            <a:avLst/>
          </a:prstGeom>
          <a:noFill/>
          <a:ln>
            <a:noFill/>
          </a:ln>
        </p:spPr>
      </p:pic>
      <p:grpSp>
        <p:nvGrpSpPr>
          <p:cNvPr id="186" name="Google Shape;186;g3af219a3a28_1_10"/>
          <p:cNvGrpSpPr/>
          <p:nvPr/>
        </p:nvGrpSpPr>
        <p:grpSpPr>
          <a:xfrm>
            <a:off x="0" y="-113687"/>
            <a:ext cx="3750762" cy="736985"/>
            <a:chOff x="0" y="-38100"/>
            <a:chExt cx="1257000" cy="246987"/>
          </a:xfrm>
        </p:grpSpPr>
        <p:sp>
          <p:nvSpPr>
            <p:cNvPr id="187" name="Google Shape;187;g3af219a3a28_1_10"/>
            <p:cNvSpPr/>
            <p:nvPr/>
          </p:nvSpPr>
          <p:spPr>
            <a:xfrm>
              <a:off x="0" y="0"/>
              <a:ext cx="1256901" cy="208887"/>
            </a:xfrm>
            <a:custGeom>
              <a:rect b="b" l="l" r="r" t="t"/>
              <a:pathLst>
                <a:path extrusionOk="0" h="208887" w="1256901">
                  <a:moveTo>
                    <a:pt x="0" y="0"/>
                  </a:moveTo>
                  <a:lnTo>
                    <a:pt x="1256901" y="0"/>
                  </a:lnTo>
                  <a:lnTo>
                    <a:pt x="1256901" y="208887"/>
                  </a:lnTo>
                  <a:lnTo>
                    <a:pt x="0" y="208887"/>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g3af219a3a28_1_10"/>
            <p:cNvSpPr txBox="1"/>
            <p:nvPr/>
          </p:nvSpPr>
          <p:spPr>
            <a:xfrm>
              <a:off x="0" y="-38100"/>
              <a:ext cx="1257000" cy="246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189" name="Google Shape;189;g3af219a3a28_1_10"/>
          <p:cNvPicPr preferRelativeResize="0"/>
          <p:nvPr/>
        </p:nvPicPr>
        <p:blipFill rotWithShape="1">
          <a:blip r:embed="rId4">
            <a:alphaModFix/>
          </a:blip>
          <a:srcRect b="0" l="0" r="0" t="0"/>
          <a:stretch/>
        </p:blipFill>
        <p:spPr>
          <a:xfrm flipH="1">
            <a:off x="918100" y="-460028"/>
            <a:ext cx="315975" cy="2166685"/>
          </a:xfrm>
          <a:prstGeom prst="rect">
            <a:avLst/>
          </a:prstGeom>
          <a:noFill/>
          <a:ln>
            <a:noFill/>
          </a:ln>
        </p:spPr>
      </p:pic>
      <p:sp>
        <p:nvSpPr>
          <p:cNvPr id="190" name="Google Shape;190;g3af219a3a28_1_10"/>
          <p:cNvSpPr txBox="1"/>
          <p:nvPr/>
        </p:nvSpPr>
        <p:spPr>
          <a:xfrm>
            <a:off x="2305050" y="566795"/>
            <a:ext cx="136779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i="0" lang="en-US" sz="7200" u="none" cap="none" strike="noStrike">
                <a:solidFill>
                  <a:schemeClr val="accent5"/>
                </a:solidFill>
                <a:latin typeface="Montserrat"/>
                <a:ea typeface="Montserrat"/>
                <a:cs typeface="Montserrat"/>
                <a:sym typeface="Montserrat"/>
              </a:rPr>
              <a:t>Tính năng</a:t>
            </a:r>
            <a:endParaRPr b="1" i="0" sz="7200" u="none" cap="none" strike="noStrike">
              <a:solidFill>
                <a:schemeClr val="accent5"/>
              </a:solidFill>
              <a:latin typeface="Montserrat"/>
              <a:ea typeface="Montserrat"/>
              <a:cs typeface="Montserrat"/>
              <a:sym typeface="Montserrat"/>
            </a:endParaRPr>
          </a:p>
        </p:txBody>
      </p:sp>
      <p:grpSp>
        <p:nvGrpSpPr>
          <p:cNvPr id="191" name="Google Shape;191;g3af219a3a28_1_10"/>
          <p:cNvGrpSpPr/>
          <p:nvPr/>
        </p:nvGrpSpPr>
        <p:grpSpPr>
          <a:xfrm>
            <a:off x="703118" y="3568165"/>
            <a:ext cx="17091988" cy="4335126"/>
            <a:chOff x="6431" y="3341523"/>
            <a:chExt cx="17091988" cy="4335126"/>
          </a:xfrm>
        </p:grpSpPr>
        <p:sp>
          <p:nvSpPr>
            <p:cNvPr id="192" name="Google Shape;192;g3af219a3a28_1_10"/>
            <p:cNvSpPr/>
            <p:nvPr/>
          </p:nvSpPr>
          <p:spPr>
            <a:xfrm>
              <a:off x="6431" y="3341523"/>
              <a:ext cx="3867000" cy="1546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g3af219a3a28_1_10"/>
            <p:cNvSpPr txBox="1"/>
            <p:nvPr/>
          </p:nvSpPr>
          <p:spPr>
            <a:xfrm>
              <a:off x="6431" y="3341523"/>
              <a:ext cx="3867000" cy="1546800"/>
            </a:xfrm>
            <a:prstGeom prst="rect">
              <a:avLst/>
            </a:prstGeom>
            <a:noFill/>
            <a:ln>
              <a:noFill/>
            </a:ln>
          </p:spPr>
          <p:txBody>
            <a:bodyPr anchorCtr="0" anchor="ctr" bIns="264150" lIns="462275" spcFirstLastPara="1" rIns="462275" wrap="square" tIns="264150">
              <a:noAutofit/>
            </a:bodyPr>
            <a:lstStyle/>
            <a:p>
              <a:pPr indent="0" lvl="0" marL="0" marR="0" rtl="0" algn="ctr">
                <a:lnSpc>
                  <a:spcPct val="90000"/>
                </a:lnSpc>
                <a:spcBef>
                  <a:spcPts val="0"/>
                </a:spcBef>
                <a:spcAft>
                  <a:spcPts val="0"/>
                </a:spcAft>
                <a:buClr>
                  <a:srgbClr val="000000"/>
                </a:buClr>
                <a:buSzPts val="6500"/>
                <a:buFont typeface="Arial"/>
                <a:buNone/>
              </a:pPr>
              <a:r>
                <a:rPr b="1" i="0" lang="en-US" sz="3600" u="none" cap="none" strike="noStrike">
                  <a:solidFill>
                    <a:schemeClr val="lt1"/>
                  </a:solidFill>
                  <a:latin typeface="Montserrat"/>
                  <a:ea typeface="Montserrat"/>
                  <a:cs typeface="Montserrat"/>
                  <a:sym typeface="Montserrat"/>
                </a:rPr>
                <a:t>Workspaces</a:t>
              </a:r>
              <a:endParaRPr b="1" i="0" sz="6500" u="none" cap="none" strike="noStrike">
                <a:solidFill>
                  <a:schemeClr val="lt1"/>
                </a:solidFill>
                <a:latin typeface="Montserrat"/>
                <a:ea typeface="Montserrat"/>
                <a:cs typeface="Montserrat"/>
                <a:sym typeface="Montserrat"/>
              </a:endParaRPr>
            </a:p>
          </p:txBody>
        </p:sp>
        <p:sp>
          <p:nvSpPr>
            <p:cNvPr id="194" name="Google Shape;194;g3af219a3a28_1_10"/>
            <p:cNvSpPr/>
            <p:nvPr/>
          </p:nvSpPr>
          <p:spPr>
            <a:xfrm>
              <a:off x="6431" y="4821849"/>
              <a:ext cx="3867000" cy="2854800"/>
            </a:xfrm>
            <a:prstGeom prst="rect">
              <a:avLst/>
            </a:prstGeom>
            <a:solidFill>
              <a:srgbClr val="FBD0CE">
                <a:alpha val="8941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g3af219a3a28_1_10"/>
            <p:cNvSpPr txBox="1"/>
            <p:nvPr/>
          </p:nvSpPr>
          <p:spPr>
            <a:xfrm>
              <a:off x="6431" y="4821849"/>
              <a:ext cx="3867000" cy="2854800"/>
            </a:xfrm>
            <a:prstGeom prst="rect">
              <a:avLst/>
            </a:prstGeom>
            <a:noFill/>
            <a:ln>
              <a:noFill/>
            </a:ln>
          </p:spPr>
          <p:txBody>
            <a:bodyPr anchorCtr="0" anchor="ctr" bIns="256025" lIns="170675" spcFirstLastPara="1" rIns="227575" wrap="square" tIns="170675">
              <a:noAutofit/>
            </a:bodyPr>
            <a:lstStyle/>
            <a:p>
              <a:pPr indent="0" lvl="1" marL="0" marR="0" rtl="0" algn="ctr">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Montserrat"/>
                  <a:ea typeface="Montserrat"/>
                  <a:cs typeface="Montserrat"/>
                  <a:sym typeface="Montserrat"/>
                </a:rPr>
                <a:t>Làm việc nhóm, quản lý báo cáo trong cùng không gian.</a:t>
              </a:r>
              <a:endParaRPr b="0" i="0" sz="3200" u="none" cap="none" strike="noStrike">
                <a:solidFill>
                  <a:srgbClr val="000000"/>
                </a:solidFill>
                <a:latin typeface="Montserrat"/>
                <a:ea typeface="Montserrat"/>
                <a:cs typeface="Montserrat"/>
                <a:sym typeface="Montserrat"/>
              </a:endParaRPr>
            </a:p>
          </p:txBody>
        </p:sp>
        <p:sp>
          <p:nvSpPr>
            <p:cNvPr id="196" name="Google Shape;196;g3af219a3a28_1_10"/>
            <p:cNvSpPr/>
            <p:nvPr/>
          </p:nvSpPr>
          <p:spPr>
            <a:xfrm>
              <a:off x="4179435" y="3341523"/>
              <a:ext cx="3867000" cy="15468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3af219a3a28_1_10"/>
            <p:cNvSpPr txBox="1"/>
            <p:nvPr/>
          </p:nvSpPr>
          <p:spPr>
            <a:xfrm>
              <a:off x="4179435" y="3341523"/>
              <a:ext cx="3867000" cy="1546800"/>
            </a:xfrm>
            <a:prstGeom prst="rect">
              <a:avLst/>
            </a:prstGeom>
            <a:noFill/>
            <a:ln>
              <a:noFill/>
            </a:ln>
          </p:spPr>
          <p:txBody>
            <a:bodyPr anchorCtr="0" anchor="ctr" bIns="264150" lIns="462275" spcFirstLastPara="1" rIns="462275" wrap="square" tIns="264150">
              <a:noAutofit/>
            </a:bodyPr>
            <a:lstStyle/>
            <a:p>
              <a:pPr indent="0" lvl="0" marL="0" marR="0" rtl="0" algn="ctr">
                <a:lnSpc>
                  <a:spcPct val="90000"/>
                </a:lnSpc>
                <a:spcBef>
                  <a:spcPts val="0"/>
                </a:spcBef>
                <a:spcAft>
                  <a:spcPts val="0"/>
                </a:spcAft>
                <a:buClr>
                  <a:srgbClr val="000000"/>
                </a:buClr>
                <a:buSzPts val="6500"/>
                <a:buFont typeface="Arial"/>
                <a:buNone/>
              </a:pPr>
              <a:r>
                <a:rPr b="1" i="0" lang="en-US" sz="3600" u="none" cap="none" strike="noStrike">
                  <a:solidFill>
                    <a:schemeClr val="lt1"/>
                  </a:solidFill>
                  <a:latin typeface="Montserrat"/>
                  <a:ea typeface="Montserrat"/>
                  <a:cs typeface="Montserrat"/>
                  <a:sym typeface="Montserrat"/>
                </a:rPr>
                <a:t>Ứng dụng</a:t>
              </a:r>
              <a:endParaRPr b="1" i="0" sz="3600" u="none" cap="none" strike="noStrike">
                <a:solidFill>
                  <a:schemeClr val="lt1"/>
                </a:solidFill>
                <a:latin typeface="Montserrat"/>
                <a:ea typeface="Montserrat"/>
                <a:cs typeface="Montserrat"/>
                <a:sym typeface="Montserrat"/>
              </a:endParaRPr>
            </a:p>
          </p:txBody>
        </p:sp>
        <p:sp>
          <p:nvSpPr>
            <p:cNvPr id="198" name="Google Shape;198;g3af219a3a28_1_10"/>
            <p:cNvSpPr/>
            <p:nvPr/>
          </p:nvSpPr>
          <p:spPr>
            <a:xfrm>
              <a:off x="4179435" y="4821849"/>
              <a:ext cx="3867000" cy="2854800"/>
            </a:xfrm>
            <a:prstGeom prst="rect">
              <a:avLst/>
            </a:prstGeom>
            <a:solidFill>
              <a:srgbClr val="D6DDF0">
                <a:alpha val="8941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3af219a3a28_1_10"/>
            <p:cNvSpPr txBox="1"/>
            <p:nvPr/>
          </p:nvSpPr>
          <p:spPr>
            <a:xfrm>
              <a:off x="4179435" y="4821849"/>
              <a:ext cx="3867000" cy="2854800"/>
            </a:xfrm>
            <a:prstGeom prst="rect">
              <a:avLst/>
            </a:prstGeom>
            <a:noFill/>
            <a:ln>
              <a:noFill/>
            </a:ln>
          </p:spPr>
          <p:txBody>
            <a:bodyPr anchorCtr="0" anchor="ctr" bIns="256025" lIns="170675" spcFirstLastPara="1" rIns="227575" wrap="square" tIns="170675">
              <a:noAutofit/>
            </a:bodyPr>
            <a:lstStyle/>
            <a:p>
              <a:pPr indent="0" lvl="1"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Montserrat"/>
                  <a:ea typeface="Montserrat"/>
                  <a:cs typeface="Montserrat"/>
                  <a:sym typeface="Montserrat"/>
                </a:rPr>
                <a:t>Phân phối dashboard và báo cáo cho người dùng</a:t>
              </a:r>
              <a:endParaRPr b="0" i="0" sz="3200" u="none" cap="none" strike="noStrike">
                <a:solidFill>
                  <a:srgbClr val="000000"/>
                </a:solidFill>
                <a:latin typeface="Montserrat"/>
                <a:ea typeface="Montserrat"/>
                <a:cs typeface="Montserrat"/>
                <a:sym typeface="Montserrat"/>
              </a:endParaRPr>
            </a:p>
          </p:txBody>
        </p:sp>
        <p:sp>
          <p:nvSpPr>
            <p:cNvPr id="200" name="Google Shape;200;g3af219a3a28_1_10"/>
            <p:cNvSpPr/>
            <p:nvPr/>
          </p:nvSpPr>
          <p:spPr>
            <a:xfrm>
              <a:off x="9041624" y="3341523"/>
              <a:ext cx="3867000" cy="1546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g3af219a3a28_1_10"/>
            <p:cNvSpPr txBox="1"/>
            <p:nvPr/>
          </p:nvSpPr>
          <p:spPr>
            <a:xfrm>
              <a:off x="9041614" y="3370048"/>
              <a:ext cx="3867000" cy="1546800"/>
            </a:xfrm>
            <a:prstGeom prst="rect">
              <a:avLst/>
            </a:prstGeom>
            <a:noFill/>
            <a:ln>
              <a:noFill/>
            </a:ln>
          </p:spPr>
          <p:txBody>
            <a:bodyPr anchorCtr="0" anchor="ctr" bIns="264150" lIns="462275" spcFirstLastPara="1" rIns="462275" wrap="square" tIns="264150">
              <a:noAutofit/>
            </a:bodyPr>
            <a:lstStyle/>
            <a:p>
              <a:pPr indent="0" lvl="0" marL="0" marR="0" rtl="0" algn="ctr">
                <a:lnSpc>
                  <a:spcPct val="90000"/>
                </a:lnSpc>
                <a:spcBef>
                  <a:spcPts val="0"/>
                </a:spcBef>
                <a:spcAft>
                  <a:spcPts val="0"/>
                </a:spcAft>
                <a:buClr>
                  <a:srgbClr val="000000"/>
                </a:buClr>
                <a:buSzPts val="6500"/>
                <a:buFont typeface="Arial"/>
                <a:buNone/>
              </a:pPr>
              <a:r>
                <a:rPr b="1" i="0" lang="en-US" sz="3600" u="none" cap="none" strike="noStrike">
                  <a:solidFill>
                    <a:schemeClr val="lt1"/>
                  </a:solidFill>
                  <a:latin typeface="Montserrat"/>
                  <a:ea typeface="Montserrat"/>
                  <a:cs typeface="Montserrat"/>
                  <a:sym typeface="Montserrat"/>
                </a:rPr>
                <a:t>Dataflows</a:t>
              </a:r>
              <a:endParaRPr b="1" i="0" sz="3600" u="none" cap="none" strike="noStrike">
                <a:solidFill>
                  <a:schemeClr val="lt1"/>
                </a:solidFill>
                <a:latin typeface="Montserrat"/>
                <a:ea typeface="Montserrat"/>
                <a:cs typeface="Montserrat"/>
                <a:sym typeface="Montserrat"/>
              </a:endParaRPr>
            </a:p>
          </p:txBody>
        </p:sp>
        <p:sp>
          <p:nvSpPr>
            <p:cNvPr id="202" name="Google Shape;202;g3af219a3a28_1_10"/>
            <p:cNvSpPr/>
            <p:nvPr/>
          </p:nvSpPr>
          <p:spPr>
            <a:xfrm>
              <a:off x="9041604" y="4821849"/>
              <a:ext cx="3867000" cy="2854800"/>
            </a:xfrm>
            <a:prstGeom prst="rect">
              <a:avLst/>
            </a:prstGeom>
            <a:solidFill>
              <a:srgbClr val="FBD0CE">
                <a:alpha val="8941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g3af219a3a28_1_10"/>
            <p:cNvSpPr txBox="1"/>
            <p:nvPr/>
          </p:nvSpPr>
          <p:spPr>
            <a:xfrm>
              <a:off x="9041614" y="4766937"/>
              <a:ext cx="3867000" cy="2854800"/>
            </a:xfrm>
            <a:prstGeom prst="rect">
              <a:avLst/>
            </a:prstGeom>
            <a:noFill/>
            <a:ln>
              <a:noFill/>
            </a:ln>
          </p:spPr>
          <p:txBody>
            <a:bodyPr anchorCtr="0" anchor="ctr" bIns="256025" lIns="170675" spcFirstLastPara="1" rIns="227575" wrap="square" tIns="170675">
              <a:noAutofit/>
            </a:bodyPr>
            <a:lstStyle/>
            <a:p>
              <a:pPr indent="0" lvl="1"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Montserrat"/>
                  <a:ea typeface="Montserrat"/>
                  <a:cs typeface="Montserrat"/>
                  <a:sym typeface="Montserrat"/>
                </a:rPr>
                <a:t>Chuẩn bị và xử lý dữ liệu một lần, tái sử dụng cho nhiều báo cáo</a:t>
              </a:r>
              <a:endParaRPr b="0" i="0" sz="3200" u="none" cap="none" strike="noStrike">
                <a:solidFill>
                  <a:srgbClr val="000000"/>
                </a:solidFill>
                <a:latin typeface="Montserrat"/>
                <a:ea typeface="Montserrat"/>
                <a:cs typeface="Montserrat"/>
                <a:sym typeface="Montserrat"/>
              </a:endParaRPr>
            </a:p>
          </p:txBody>
        </p:sp>
        <p:sp>
          <p:nvSpPr>
            <p:cNvPr id="204" name="Google Shape;204;g3af219a3a28_1_10"/>
            <p:cNvSpPr/>
            <p:nvPr/>
          </p:nvSpPr>
          <p:spPr>
            <a:xfrm>
              <a:off x="13231419" y="3341523"/>
              <a:ext cx="3867000" cy="15468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3af219a3a28_1_10"/>
            <p:cNvSpPr txBox="1"/>
            <p:nvPr/>
          </p:nvSpPr>
          <p:spPr>
            <a:xfrm>
              <a:off x="13231419" y="3341523"/>
              <a:ext cx="3867000" cy="1546800"/>
            </a:xfrm>
            <a:prstGeom prst="rect">
              <a:avLst/>
            </a:prstGeom>
            <a:noFill/>
            <a:ln>
              <a:noFill/>
            </a:ln>
          </p:spPr>
          <p:txBody>
            <a:bodyPr anchorCtr="0" anchor="ctr" bIns="264150" lIns="462275" spcFirstLastPara="1" rIns="462275" wrap="square" tIns="264150">
              <a:noAutofit/>
            </a:bodyPr>
            <a:lstStyle/>
            <a:p>
              <a:pPr indent="0" lvl="0" marL="0" marR="0" rtl="0" algn="ctr">
                <a:lnSpc>
                  <a:spcPct val="90000"/>
                </a:lnSpc>
                <a:spcBef>
                  <a:spcPts val="0"/>
                </a:spcBef>
                <a:spcAft>
                  <a:spcPts val="0"/>
                </a:spcAft>
                <a:buClr>
                  <a:srgbClr val="000000"/>
                </a:buClr>
                <a:buSzPts val="6500"/>
                <a:buFont typeface="Arial"/>
                <a:buNone/>
              </a:pPr>
              <a:r>
                <a:rPr b="1" i="0" lang="en-US" sz="3600" u="none" cap="none" strike="noStrike">
                  <a:solidFill>
                    <a:schemeClr val="lt1"/>
                  </a:solidFill>
                  <a:latin typeface="Montserrat"/>
                  <a:ea typeface="Montserrat"/>
                  <a:cs typeface="Montserrat"/>
                  <a:sym typeface="Montserrat"/>
                </a:rPr>
                <a:t>Datasets</a:t>
              </a:r>
              <a:endParaRPr b="1" i="0" sz="6500" u="none" cap="none" strike="noStrike">
                <a:solidFill>
                  <a:schemeClr val="lt1"/>
                </a:solidFill>
                <a:latin typeface="Montserrat"/>
                <a:ea typeface="Montserrat"/>
                <a:cs typeface="Montserrat"/>
                <a:sym typeface="Montserrat"/>
              </a:endParaRPr>
            </a:p>
          </p:txBody>
        </p:sp>
        <p:sp>
          <p:nvSpPr>
            <p:cNvPr id="206" name="Google Shape;206;g3af219a3a28_1_10"/>
            <p:cNvSpPr/>
            <p:nvPr/>
          </p:nvSpPr>
          <p:spPr>
            <a:xfrm>
              <a:off x="13231419" y="4821849"/>
              <a:ext cx="3867000" cy="2854800"/>
            </a:xfrm>
            <a:prstGeom prst="rect">
              <a:avLst/>
            </a:prstGeom>
            <a:solidFill>
              <a:srgbClr val="D6DDF0">
                <a:alpha val="8941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3af219a3a28_1_10"/>
            <p:cNvSpPr txBox="1"/>
            <p:nvPr/>
          </p:nvSpPr>
          <p:spPr>
            <a:xfrm>
              <a:off x="13231419" y="4821849"/>
              <a:ext cx="3867000" cy="2854800"/>
            </a:xfrm>
            <a:prstGeom prst="rect">
              <a:avLst/>
            </a:prstGeom>
            <a:noFill/>
            <a:ln>
              <a:noFill/>
            </a:ln>
          </p:spPr>
          <p:txBody>
            <a:bodyPr anchorCtr="0" anchor="t" bIns="256025" lIns="170675" spcFirstLastPara="1" rIns="227575" wrap="square" tIns="170675">
              <a:noAutofit/>
            </a:bodyPr>
            <a:lstStyle/>
            <a:p>
              <a:pPr indent="0" lvl="1"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Montserrat"/>
                  <a:ea typeface="Montserrat"/>
                  <a:cs typeface="Montserrat"/>
                  <a:sym typeface="Montserrat"/>
                </a:rPr>
                <a:t>Dùng chung giữa nhiều báo cáo, đảm bảo nhất quán dữ liệu.</a:t>
              </a:r>
              <a:endParaRPr b="0" i="0" sz="3200" u="none" cap="none" strike="noStrike">
                <a:solidFill>
                  <a:srgbClr val="000000"/>
                </a:solidFill>
                <a:latin typeface="Montserrat"/>
                <a:ea typeface="Montserrat"/>
                <a:cs typeface="Montserrat"/>
                <a:sym typeface="Montserrat"/>
              </a:endParaRPr>
            </a:p>
          </p:txBody>
        </p:sp>
      </p:grpSp>
      <p:sp>
        <p:nvSpPr>
          <p:cNvPr id="208" name="Google Shape;208;g3af219a3a28_1_10"/>
          <p:cNvSpPr txBox="1"/>
          <p:nvPr/>
        </p:nvSpPr>
        <p:spPr>
          <a:xfrm>
            <a:off x="2235575" y="2494900"/>
            <a:ext cx="55638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8006"/>
              </a:lnSpc>
              <a:spcBef>
                <a:spcPts val="0"/>
              </a:spcBef>
              <a:spcAft>
                <a:spcPts val="0"/>
              </a:spcAft>
              <a:buClr>
                <a:schemeClr val="dk1"/>
              </a:buClr>
              <a:buSzPts val="3600"/>
              <a:buFont typeface="Arial"/>
              <a:buNone/>
            </a:pPr>
            <a:r>
              <a:rPr b="1" i="0" lang="en-US" sz="3600" u="none" cap="none" strike="noStrike">
                <a:solidFill>
                  <a:schemeClr val="dk2"/>
                </a:solidFill>
                <a:latin typeface="Montserrat"/>
                <a:ea typeface="Montserrat"/>
                <a:cs typeface="Montserrat"/>
                <a:sym typeface="Montserrat"/>
              </a:rPr>
              <a:t>Cộng tác &amp; Phân phối</a:t>
            </a:r>
            <a:endParaRPr b="0" i="0" sz="3600" u="none" cap="none" strike="noStrike">
              <a:solidFill>
                <a:schemeClr val="dk2"/>
              </a:solidFill>
              <a:latin typeface="Montserrat"/>
              <a:ea typeface="Montserrat"/>
              <a:cs typeface="Montserrat"/>
              <a:sym typeface="Montserrat"/>
            </a:endParaRPr>
          </a:p>
        </p:txBody>
      </p:sp>
      <p:sp>
        <p:nvSpPr>
          <p:cNvPr id="209" name="Google Shape;209;g3af219a3a28_1_10"/>
          <p:cNvSpPr txBox="1"/>
          <p:nvPr/>
        </p:nvSpPr>
        <p:spPr>
          <a:xfrm>
            <a:off x="11110275" y="2494900"/>
            <a:ext cx="5396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8006"/>
              </a:lnSpc>
              <a:spcBef>
                <a:spcPts val="0"/>
              </a:spcBef>
              <a:spcAft>
                <a:spcPts val="0"/>
              </a:spcAft>
              <a:buClr>
                <a:srgbClr val="000000"/>
              </a:buClr>
              <a:buSzPts val="3600"/>
              <a:buFont typeface="Arial"/>
              <a:buNone/>
            </a:pPr>
            <a:r>
              <a:rPr b="1" i="0" lang="en-US" sz="3600" u="none" cap="none" strike="noStrike">
                <a:solidFill>
                  <a:schemeClr val="dk2"/>
                </a:solidFill>
                <a:latin typeface="Montserrat"/>
                <a:ea typeface="Montserrat"/>
                <a:cs typeface="Montserrat"/>
                <a:sym typeface="Montserrat"/>
              </a:rPr>
              <a:t>Dữ liệu dùng chung</a:t>
            </a:r>
            <a:endParaRPr b="1" i="0" sz="3600" u="none" cap="none" strike="noStrike">
              <a:solidFill>
                <a:schemeClr val="dk2"/>
              </a:solidFill>
              <a:latin typeface="Montserrat"/>
              <a:ea typeface="Montserrat"/>
              <a:cs typeface="Montserrat"/>
              <a:sym typeface="Montserrat"/>
            </a:endParaRPr>
          </a:p>
        </p:txBody>
      </p:sp>
      <p:cxnSp>
        <p:nvCxnSpPr>
          <p:cNvPr id="210" name="Google Shape;210;g3af219a3a28_1_10"/>
          <p:cNvCxnSpPr/>
          <p:nvPr/>
        </p:nvCxnSpPr>
        <p:spPr>
          <a:xfrm flipH="1">
            <a:off x="9228050" y="2151525"/>
            <a:ext cx="33600" cy="7042800"/>
          </a:xfrm>
          <a:prstGeom prst="straightConnector1">
            <a:avLst/>
          </a:prstGeom>
          <a:noFill/>
          <a:ln cap="flat" cmpd="sng" w="28575">
            <a:solidFill>
              <a:schemeClr val="dk2"/>
            </a:solidFill>
            <a:prstDash val="dash"/>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0"/>
                                        </p:tgtEl>
                                        <p:attrNameLst>
                                          <p:attrName>style.visibility</p:attrName>
                                        </p:attrNameLst>
                                      </p:cBhvr>
                                      <p:to>
                                        <p:strVal val="visible"/>
                                      </p:to>
                                    </p:set>
                                    <p:anim calcmode="lin" valueType="num">
                                      <p:cBhvr additive="base">
                                        <p:cTn dur="500"/>
                                        <p:tgtEl>
                                          <p:spTgt spid="190"/>
                                        </p:tgtEl>
                                        <p:attrNameLst>
                                          <p:attrName>ppt_w</p:attrName>
                                        </p:attrNameLst>
                                      </p:cBhvr>
                                      <p:tavLst>
                                        <p:tav fmla="" tm="0">
                                          <p:val>
                                            <p:strVal val="0"/>
                                          </p:val>
                                        </p:tav>
                                        <p:tav fmla="" tm="100000">
                                          <p:val>
                                            <p:strVal val="#ppt_w"/>
                                          </p:val>
                                        </p:tav>
                                      </p:tavLst>
                                    </p:anim>
                                    <p:anim calcmode="lin" valueType="num">
                                      <p:cBhvr additive="base">
                                        <p:cTn dur="500"/>
                                        <p:tgtEl>
                                          <p:spTgt spid="19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g3af219a3a28_1_39"/>
          <p:cNvPicPr preferRelativeResize="0"/>
          <p:nvPr/>
        </p:nvPicPr>
        <p:blipFill rotWithShape="1">
          <a:blip r:embed="rId3">
            <a:alphaModFix/>
          </a:blip>
          <a:srcRect b="0" l="0" r="0" t="0"/>
          <a:stretch/>
        </p:blipFill>
        <p:spPr>
          <a:xfrm>
            <a:off x="10790895" y="9608158"/>
            <a:ext cx="7332981" cy="452200"/>
          </a:xfrm>
          <a:prstGeom prst="rect">
            <a:avLst/>
          </a:prstGeom>
          <a:noFill/>
          <a:ln>
            <a:noFill/>
          </a:ln>
        </p:spPr>
      </p:pic>
      <p:grpSp>
        <p:nvGrpSpPr>
          <p:cNvPr id="216" name="Google Shape;216;g3af219a3a28_1_39"/>
          <p:cNvGrpSpPr/>
          <p:nvPr/>
        </p:nvGrpSpPr>
        <p:grpSpPr>
          <a:xfrm>
            <a:off x="0" y="-113687"/>
            <a:ext cx="3750762" cy="736985"/>
            <a:chOff x="0" y="-38100"/>
            <a:chExt cx="1257000" cy="246987"/>
          </a:xfrm>
        </p:grpSpPr>
        <p:sp>
          <p:nvSpPr>
            <p:cNvPr id="217" name="Google Shape;217;g3af219a3a28_1_39"/>
            <p:cNvSpPr/>
            <p:nvPr/>
          </p:nvSpPr>
          <p:spPr>
            <a:xfrm>
              <a:off x="0" y="0"/>
              <a:ext cx="1256901" cy="208887"/>
            </a:xfrm>
            <a:custGeom>
              <a:rect b="b" l="l" r="r" t="t"/>
              <a:pathLst>
                <a:path extrusionOk="0" h="208887" w="1256901">
                  <a:moveTo>
                    <a:pt x="0" y="0"/>
                  </a:moveTo>
                  <a:lnTo>
                    <a:pt x="1256901" y="0"/>
                  </a:lnTo>
                  <a:lnTo>
                    <a:pt x="1256901" y="208887"/>
                  </a:lnTo>
                  <a:lnTo>
                    <a:pt x="0" y="208887"/>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g3af219a3a28_1_39"/>
            <p:cNvSpPr txBox="1"/>
            <p:nvPr/>
          </p:nvSpPr>
          <p:spPr>
            <a:xfrm>
              <a:off x="0" y="-38100"/>
              <a:ext cx="1257000" cy="246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219" name="Google Shape;219;g3af219a3a28_1_39"/>
          <p:cNvPicPr preferRelativeResize="0"/>
          <p:nvPr/>
        </p:nvPicPr>
        <p:blipFill rotWithShape="1">
          <a:blip r:embed="rId4">
            <a:alphaModFix/>
          </a:blip>
          <a:srcRect b="0" l="0" r="0" t="0"/>
          <a:stretch/>
        </p:blipFill>
        <p:spPr>
          <a:xfrm flipH="1">
            <a:off x="918100" y="-460028"/>
            <a:ext cx="315975" cy="2166685"/>
          </a:xfrm>
          <a:prstGeom prst="rect">
            <a:avLst/>
          </a:prstGeom>
          <a:noFill/>
          <a:ln>
            <a:noFill/>
          </a:ln>
        </p:spPr>
      </p:pic>
      <p:sp>
        <p:nvSpPr>
          <p:cNvPr id="220" name="Google Shape;220;g3af219a3a28_1_39"/>
          <p:cNvSpPr txBox="1"/>
          <p:nvPr/>
        </p:nvSpPr>
        <p:spPr>
          <a:xfrm>
            <a:off x="2305050" y="566795"/>
            <a:ext cx="136779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i="0" lang="en-US" sz="7200" u="none" cap="none" strike="noStrike">
                <a:solidFill>
                  <a:schemeClr val="accent5"/>
                </a:solidFill>
                <a:latin typeface="Montserrat"/>
                <a:ea typeface="Montserrat"/>
                <a:cs typeface="Montserrat"/>
                <a:sym typeface="Montserrat"/>
              </a:rPr>
              <a:t>Tính năng</a:t>
            </a:r>
            <a:endParaRPr b="1" i="0" sz="7200" u="none" cap="none" strike="noStrike">
              <a:solidFill>
                <a:schemeClr val="accent5"/>
              </a:solidFill>
              <a:latin typeface="Montserrat"/>
              <a:ea typeface="Montserrat"/>
              <a:cs typeface="Montserrat"/>
              <a:sym typeface="Montserrat"/>
            </a:endParaRPr>
          </a:p>
        </p:txBody>
      </p:sp>
      <p:grpSp>
        <p:nvGrpSpPr>
          <p:cNvPr id="221" name="Google Shape;221;g3af219a3a28_1_39"/>
          <p:cNvGrpSpPr/>
          <p:nvPr/>
        </p:nvGrpSpPr>
        <p:grpSpPr>
          <a:xfrm>
            <a:off x="703118" y="3568165"/>
            <a:ext cx="14911433" cy="4335135"/>
            <a:chOff x="6431" y="3341523"/>
            <a:chExt cx="14911433" cy="4335135"/>
          </a:xfrm>
        </p:grpSpPr>
        <p:sp>
          <p:nvSpPr>
            <p:cNvPr id="222" name="Google Shape;222;g3af219a3a28_1_39"/>
            <p:cNvSpPr/>
            <p:nvPr/>
          </p:nvSpPr>
          <p:spPr>
            <a:xfrm>
              <a:off x="6431" y="3341523"/>
              <a:ext cx="3867000" cy="1546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g3af219a3a28_1_39"/>
            <p:cNvSpPr txBox="1"/>
            <p:nvPr/>
          </p:nvSpPr>
          <p:spPr>
            <a:xfrm>
              <a:off x="6431" y="3341523"/>
              <a:ext cx="3867000" cy="1546800"/>
            </a:xfrm>
            <a:prstGeom prst="rect">
              <a:avLst/>
            </a:prstGeom>
            <a:noFill/>
            <a:ln>
              <a:noFill/>
            </a:ln>
          </p:spPr>
          <p:txBody>
            <a:bodyPr anchorCtr="0" anchor="ctr" bIns="264150" lIns="462275" spcFirstLastPara="1" rIns="462275" wrap="square" tIns="264150">
              <a:noAutofit/>
            </a:bodyPr>
            <a:lstStyle/>
            <a:p>
              <a:pPr indent="0" lvl="0" marL="0" marR="0" rtl="0" algn="ctr">
                <a:lnSpc>
                  <a:spcPct val="90000"/>
                </a:lnSpc>
                <a:spcBef>
                  <a:spcPts val="0"/>
                </a:spcBef>
                <a:spcAft>
                  <a:spcPts val="0"/>
                </a:spcAft>
                <a:buClr>
                  <a:srgbClr val="000000"/>
                </a:buClr>
                <a:buSzPts val="6500"/>
                <a:buFont typeface="Arial"/>
                <a:buNone/>
              </a:pPr>
              <a:r>
                <a:rPr b="1" i="0" lang="en-US" sz="3600" u="none" cap="none" strike="noStrike">
                  <a:solidFill>
                    <a:schemeClr val="lt1"/>
                  </a:solidFill>
                  <a:latin typeface="Montserrat"/>
                  <a:ea typeface="Montserrat"/>
                  <a:cs typeface="Montserrat"/>
                  <a:sym typeface="Montserrat"/>
                </a:rPr>
                <a:t>Real-time Dashboards</a:t>
              </a:r>
              <a:endParaRPr b="1" i="0" sz="3600" u="none" cap="none" strike="noStrike">
                <a:solidFill>
                  <a:schemeClr val="lt1"/>
                </a:solidFill>
                <a:latin typeface="Montserrat"/>
                <a:ea typeface="Montserrat"/>
                <a:cs typeface="Montserrat"/>
                <a:sym typeface="Montserrat"/>
              </a:endParaRPr>
            </a:p>
          </p:txBody>
        </p:sp>
        <p:sp>
          <p:nvSpPr>
            <p:cNvPr id="224" name="Google Shape;224;g3af219a3a28_1_39"/>
            <p:cNvSpPr/>
            <p:nvPr/>
          </p:nvSpPr>
          <p:spPr>
            <a:xfrm>
              <a:off x="6431" y="4821849"/>
              <a:ext cx="3867000" cy="2854800"/>
            </a:xfrm>
            <a:prstGeom prst="rect">
              <a:avLst/>
            </a:prstGeom>
            <a:solidFill>
              <a:srgbClr val="FBD0CE">
                <a:alpha val="8941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g3af219a3a28_1_39"/>
            <p:cNvSpPr txBox="1"/>
            <p:nvPr/>
          </p:nvSpPr>
          <p:spPr>
            <a:xfrm>
              <a:off x="6431" y="4821849"/>
              <a:ext cx="3867000" cy="2854800"/>
            </a:xfrm>
            <a:prstGeom prst="rect">
              <a:avLst/>
            </a:prstGeom>
            <a:noFill/>
            <a:ln>
              <a:noFill/>
            </a:ln>
          </p:spPr>
          <p:txBody>
            <a:bodyPr anchorCtr="0" anchor="ctr" bIns="256025" lIns="170675" spcFirstLastPara="1" rIns="227575" wrap="square" tIns="170675">
              <a:noAutofit/>
            </a:bodyPr>
            <a:lstStyle/>
            <a:p>
              <a:pPr indent="0" lvl="1" marL="0" marR="0" rtl="0" algn="ctr">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Montserrat"/>
                  <a:ea typeface="Montserrat"/>
                  <a:cs typeface="Montserrat"/>
                  <a:sym typeface="Montserrat"/>
                </a:rPr>
                <a:t>Hiển thị và cập nhật dữ liệu liên tục</a:t>
              </a:r>
              <a:endParaRPr b="0" i="0" sz="3200" u="none" cap="none" strike="noStrike">
                <a:solidFill>
                  <a:schemeClr val="dk1"/>
                </a:solidFill>
                <a:latin typeface="Montserrat"/>
                <a:ea typeface="Montserrat"/>
                <a:cs typeface="Montserrat"/>
                <a:sym typeface="Montserrat"/>
              </a:endParaRPr>
            </a:p>
          </p:txBody>
        </p:sp>
        <p:sp>
          <p:nvSpPr>
            <p:cNvPr id="226" name="Google Shape;226;g3af219a3a28_1_39"/>
            <p:cNvSpPr/>
            <p:nvPr/>
          </p:nvSpPr>
          <p:spPr>
            <a:xfrm>
              <a:off x="4179435" y="3341523"/>
              <a:ext cx="3867000" cy="15468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3af219a3a28_1_39"/>
            <p:cNvSpPr txBox="1"/>
            <p:nvPr/>
          </p:nvSpPr>
          <p:spPr>
            <a:xfrm>
              <a:off x="4179435" y="3341523"/>
              <a:ext cx="3867000" cy="1546800"/>
            </a:xfrm>
            <a:prstGeom prst="rect">
              <a:avLst/>
            </a:prstGeom>
            <a:noFill/>
            <a:ln>
              <a:noFill/>
            </a:ln>
          </p:spPr>
          <p:txBody>
            <a:bodyPr anchorCtr="0" anchor="ctr" bIns="264150" lIns="462275" spcFirstLastPara="1" rIns="462275" wrap="square" tIns="264150">
              <a:noAutofit/>
            </a:bodyPr>
            <a:lstStyle/>
            <a:p>
              <a:pPr indent="0" lvl="0" marL="0" marR="0" rtl="0" algn="ctr">
                <a:lnSpc>
                  <a:spcPct val="90000"/>
                </a:lnSpc>
                <a:spcBef>
                  <a:spcPts val="0"/>
                </a:spcBef>
                <a:spcAft>
                  <a:spcPts val="0"/>
                </a:spcAft>
                <a:buClr>
                  <a:srgbClr val="000000"/>
                </a:buClr>
                <a:buSzPts val="6500"/>
                <a:buFont typeface="Arial"/>
                <a:buNone/>
              </a:pPr>
              <a:r>
                <a:rPr b="1" i="0" lang="en-US" sz="2200" u="none" cap="none" strike="noStrike">
                  <a:solidFill>
                    <a:schemeClr val="lt1"/>
                  </a:solidFill>
                  <a:latin typeface="Montserrat"/>
                  <a:ea typeface="Montserrat"/>
                  <a:cs typeface="Montserrat"/>
                  <a:sym typeface="Montserrat"/>
                </a:rPr>
                <a:t>Schedule Refresh, Alerts, Q&amp;A, Embedding, Export</a:t>
              </a:r>
              <a:endParaRPr b="1" i="0" sz="3600" u="none" cap="none" strike="noStrike">
                <a:solidFill>
                  <a:schemeClr val="lt1"/>
                </a:solidFill>
                <a:latin typeface="Montserrat"/>
                <a:ea typeface="Montserrat"/>
                <a:cs typeface="Montserrat"/>
                <a:sym typeface="Montserrat"/>
              </a:endParaRPr>
            </a:p>
          </p:txBody>
        </p:sp>
        <p:sp>
          <p:nvSpPr>
            <p:cNvPr id="228" name="Google Shape;228;g3af219a3a28_1_39"/>
            <p:cNvSpPr/>
            <p:nvPr/>
          </p:nvSpPr>
          <p:spPr>
            <a:xfrm>
              <a:off x="4179435" y="4821849"/>
              <a:ext cx="3867000" cy="2854800"/>
            </a:xfrm>
            <a:prstGeom prst="rect">
              <a:avLst/>
            </a:prstGeom>
            <a:solidFill>
              <a:srgbClr val="D6DDF0">
                <a:alpha val="8941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3af219a3a28_1_39"/>
            <p:cNvSpPr txBox="1"/>
            <p:nvPr/>
          </p:nvSpPr>
          <p:spPr>
            <a:xfrm>
              <a:off x="4179435" y="4821849"/>
              <a:ext cx="3867000" cy="2854800"/>
            </a:xfrm>
            <a:prstGeom prst="rect">
              <a:avLst/>
            </a:prstGeom>
            <a:noFill/>
            <a:ln>
              <a:noFill/>
            </a:ln>
          </p:spPr>
          <p:txBody>
            <a:bodyPr anchorCtr="0" anchor="ctr" bIns="256025" lIns="170675" spcFirstLastPara="1" rIns="227575" wrap="square" tIns="170675">
              <a:noAutofit/>
            </a:bodyPr>
            <a:lstStyle/>
            <a:p>
              <a:pPr indent="0" lvl="1"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Montserrat"/>
                  <a:ea typeface="Montserrat"/>
                  <a:cs typeface="Montserrat"/>
                  <a:sym typeface="Montserrat"/>
                </a:rPr>
                <a:t>Tự động hóa và tương tác dễ dàng</a:t>
              </a:r>
              <a:endParaRPr b="0" i="0" sz="3200" u="none" cap="none" strike="noStrike">
                <a:solidFill>
                  <a:srgbClr val="000000"/>
                </a:solidFill>
                <a:latin typeface="Montserrat"/>
                <a:ea typeface="Montserrat"/>
                <a:cs typeface="Montserrat"/>
                <a:sym typeface="Montserrat"/>
              </a:endParaRPr>
            </a:p>
          </p:txBody>
        </p:sp>
        <p:sp>
          <p:nvSpPr>
            <p:cNvPr id="230" name="Google Shape;230;g3af219a3a28_1_39"/>
            <p:cNvSpPr/>
            <p:nvPr/>
          </p:nvSpPr>
          <p:spPr>
            <a:xfrm>
              <a:off x="11050863" y="3341533"/>
              <a:ext cx="3867000" cy="1546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g3af219a3a28_1_39"/>
            <p:cNvSpPr txBox="1"/>
            <p:nvPr/>
          </p:nvSpPr>
          <p:spPr>
            <a:xfrm>
              <a:off x="11050863" y="3341533"/>
              <a:ext cx="3867000" cy="1546800"/>
            </a:xfrm>
            <a:prstGeom prst="rect">
              <a:avLst/>
            </a:prstGeom>
            <a:noFill/>
            <a:ln>
              <a:noFill/>
            </a:ln>
          </p:spPr>
          <p:txBody>
            <a:bodyPr anchorCtr="0" anchor="ctr" bIns="264150" lIns="462275" spcFirstLastPara="1" rIns="462275" wrap="square" tIns="264150">
              <a:noAutofit/>
            </a:bodyPr>
            <a:lstStyle/>
            <a:p>
              <a:pPr indent="0" lvl="0" marL="0" marR="0" rtl="0" algn="ctr">
                <a:lnSpc>
                  <a:spcPct val="90000"/>
                </a:lnSpc>
                <a:spcBef>
                  <a:spcPts val="0"/>
                </a:spcBef>
                <a:spcAft>
                  <a:spcPts val="0"/>
                </a:spcAft>
                <a:buClr>
                  <a:srgbClr val="000000"/>
                </a:buClr>
                <a:buSzPts val="6500"/>
                <a:buFont typeface="Arial"/>
                <a:buNone/>
              </a:pPr>
              <a:r>
                <a:rPr b="1" i="0" lang="en-US" sz="2200" u="none" cap="none" strike="noStrike">
                  <a:solidFill>
                    <a:schemeClr val="lt1"/>
                  </a:solidFill>
                  <a:latin typeface="Montserrat"/>
                  <a:ea typeface="Montserrat"/>
                  <a:cs typeface="Montserrat"/>
                  <a:sym typeface="Montserrat"/>
                </a:rPr>
                <a:t>RLS, Sensitivity Labels, Usage Metrics, Audit Logs</a:t>
              </a:r>
              <a:endParaRPr b="1" i="0" sz="2200" u="none" cap="none" strike="noStrike">
                <a:solidFill>
                  <a:schemeClr val="lt1"/>
                </a:solidFill>
                <a:latin typeface="Montserrat"/>
                <a:ea typeface="Montserrat"/>
                <a:cs typeface="Montserrat"/>
                <a:sym typeface="Montserrat"/>
              </a:endParaRPr>
            </a:p>
          </p:txBody>
        </p:sp>
        <p:sp>
          <p:nvSpPr>
            <p:cNvPr id="232" name="Google Shape;232;g3af219a3a28_1_39"/>
            <p:cNvSpPr/>
            <p:nvPr/>
          </p:nvSpPr>
          <p:spPr>
            <a:xfrm>
              <a:off x="11050864" y="4821858"/>
              <a:ext cx="3867000" cy="2854800"/>
            </a:xfrm>
            <a:prstGeom prst="rect">
              <a:avLst/>
            </a:prstGeom>
            <a:solidFill>
              <a:srgbClr val="FBD0CE">
                <a:alpha val="8941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3af219a3a28_1_39"/>
            <p:cNvSpPr txBox="1"/>
            <p:nvPr/>
          </p:nvSpPr>
          <p:spPr>
            <a:xfrm>
              <a:off x="11108913" y="4821858"/>
              <a:ext cx="3750900" cy="2854800"/>
            </a:xfrm>
            <a:prstGeom prst="rect">
              <a:avLst/>
            </a:prstGeom>
            <a:noFill/>
            <a:ln>
              <a:noFill/>
            </a:ln>
          </p:spPr>
          <p:txBody>
            <a:bodyPr anchorCtr="0" anchor="ctr" bIns="256025" lIns="170675" spcFirstLastPara="1" rIns="227575" wrap="square" tIns="170675">
              <a:noAutofit/>
            </a:bodyPr>
            <a:lstStyle/>
            <a:p>
              <a:pPr indent="0" lvl="1"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Montserrat"/>
                  <a:ea typeface="Montserrat"/>
                  <a:cs typeface="Montserrat"/>
                  <a:sym typeface="Montserrat"/>
                </a:rPr>
                <a:t>Kiểm soát truy cập và bảo mật nâng cao</a:t>
              </a:r>
              <a:endParaRPr b="0" i="0" sz="3200" u="none" cap="none" strike="noStrike">
                <a:solidFill>
                  <a:srgbClr val="000000"/>
                </a:solidFill>
                <a:latin typeface="Montserrat"/>
                <a:ea typeface="Montserrat"/>
                <a:cs typeface="Montserrat"/>
                <a:sym typeface="Montserrat"/>
              </a:endParaRPr>
            </a:p>
          </p:txBody>
        </p:sp>
      </p:grpSp>
      <p:sp>
        <p:nvSpPr>
          <p:cNvPr id="234" name="Google Shape;234;g3af219a3a28_1_39"/>
          <p:cNvSpPr txBox="1"/>
          <p:nvPr/>
        </p:nvSpPr>
        <p:spPr>
          <a:xfrm>
            <a:off x="2235575" y="2494900"/>
            <a:ext cx="55638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8006"/>
              </a:lnSpc>
              <a:spcBef>
                <a:spcPts val="0"/>
              </a:spcBef>
              <a:spcAft>
                <a:spcPts val="0"/>
              </a:spcAft>
              <a:buClr>
                <a:srgbClr val="000000"/>
              </a:buClr>
              <a:buSzPts val="3600"/>
              <a:buFont typeface="Arial"/>
              <a:buNone/>
            </a:pPr>
            <a:r>
              <a:rPr b="1" i="0" lang="en-US" sz="3600" u="none" cap="none" strike="noStrike">
                <a:solidFill>
                  <a:schemeClr val="dk2"/>
                </a:solidFill>
                <a:latin typeface="Montserrat"/>
                <a:ea typeface="Montserrat"/>
                <a:cs typeface="Montserrat"/>
                <a:sym typeface="Montserrat"/>
              </a:rPr>
              <a:t>Trực quan &amp; Tự động</a:t>
            </a:r>
            <a:endParaRPr b="1" i="0" sz="3600" u="none" cap="none" strike="noStrike">
              <a:solidFill>
                <a:schemeClr val="dk2"/>
              </a:solidFill>
              <a:latin typeface="Montserrat"/>
              <a:ea typeface="Montserrat"/>
              <a:cs typeface="Montserrat"/>
              <a:sym typeface="Montserrat"/>
            </a:endParaRPr>
          </a:p>
        </p:txBody>
      </p:sp>
      <p:sp>
        <p:nvSpPr>
          <p:cNvPr id="235" name="Google Shape;235;g3af219a3a28_1_39"/>
          <p:cNvSpPr txBox="1"/>
          <p:nvPr/>
        </p:nvSpPr>
        <p:spPr>
          <a:xfrm>
            <a:off x="11244750" y="2494900"/>
            <a:ext cx="48726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8006"/>
              </a:lnSpc>
              <a:spcBef>
                <a:spcPts val="0"/>
              </a:spcBef>
              <a:spcAft>
                <a:spcPts val="0"/>
              </a:spcAft>
              <a:buClr>
                <a:srgbClr val="000000"/>
              </a:buClr>
              <a:buSzPts val="3600"/>
              <a:buFont typeface="Arial"/>
              <a:buNone/>
            </a:pPr>
            <a:r>
              <a:rPr b="1" i="0" lang="en-US" sz="3600" u="none" cap="none" strike="noStrike">
                <a:solidFill>
                  <a:schemeClr val="dk2"/>
                </a:solidFill>
                <a:latin typeface="Montserrat"/>
                <a:ea typeface="Montserrat"/>
                <a:cs typeface="Montserrat"/>
                <a:sym typeface="Montserrat"/>
              </a:rPr>
              <a:t>Bảo mật &amp; Quản trị</a:t>
            </a:r>
            <a:endParaRPr b="1" i="0" sz="3600" u="none" cap="none" strike="noStrike">
              <a:solidFill>
                <a:schemeClr val="dk2"/>
              </a:solidFill>
              <a:latin typeface="Montserrat"/>
              <a:ea typeface="Montserrat"/>
              <a:cs typeface="Montserrat"/>
              <a:sym typeface="Montserrat"/>
            </a:endParaRPr>
          </a:p>
        </p:txBody>
      </p:sp>
      <p:cxnSp>
        <p:nvCxnSpPr>
          <p:cNvPr id="236" name="Google Shape;236;g3af219a3a28_1_39"/>
          <p:cNvCxnSpPr/>
          <p:nvPr/>
        </p:nvCxnSpPr>
        <p:spPr>
          <a:xfrm flipH="1">
            <a:off x="9228050" y="2151525"/>
            <a:ext cx="33600" cy="7042800"/>
          </a:xfrm>
          <a:prstGeom prst="straightConnector1">
            <a:avLst/>
          </a:prstGeom>
          <a:noFill/>
          <a:ln cap="flat" cmpd="sng" w="28575">
            <a:solidFill>
              <a:schemeClr val="dk2"/>
            </a:solidFill>
            <a:prstDash val="dash"/>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0"/>
                                        </p:tgtEl>
                                        <p:attrNameLst>
                                          <p:attrName>style.visibility</p:attrName>
                                        </p:attrNameLst>
                                      </p:cBhvr>
                                      <p:to>
                                        <p:strVal val="visible"/>
                                      </p:to>
                                    </p:set>
                                    <p:anim calcmode="lin" valueType="num">
                                      <p:cBhvr additive="base">
                                        <p:cTn dur="500"/>
                                        <p:tgtEl>
                                          <p:spTgt spid="220"/>
                                        </p:tgtEl>
                                        <p:attrNameLst>
                                          <p:attrName>ppt_w</p:attrName>
                                        </p:attrNameLst>
                                      </p:cBhvr>
                                      <p:tavLst>
                                        <p:tav fmla="" tm="0">
                                          <p:val>
                                            <p:strVal val="0"/>
                                          </p:val>
                                        </p:tav>
                                        <p:tav fmla="" tm="100000">
                                          <p:val>
                                            <p:strVal val="#ppt_w"/>
                                          </p:val>
                                        </p:tav>
                                      </p:tavLst>
                                    </p:anim>
                                    <p:anim calcmode="lin" valueType="num">
                                      <p:cBhvr additive="base">
                                        <p:cTn dur="500"/>
                                        <p:tgtEl>
                                          <p:spTgt spid="22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9afd2df374_3_126"/>
          <p:cNvSpPr txBox="1"/>
          <p:nvPr/>
        </p:nvSpPr>
        <p:spPr>
          <a:xfrm>
            <a:off x="4353600" y="1094900"/>
            <a:ext cx="9580800" cy="10776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lang="en-US" sz="7000">
                <a:solidFill>
                  <a:schemeClr val="accent2"/>
                </a:solidFill>
                <a:latin typeface="Montserrat"/>
                <a:ea typeface="Montserrat"/>
                <a:cs typeface="Montserrat"/>
                <a:sym typeface="Montserrat"/>
              </a:rPr>
              <a:t>Power BI Gateway</a:t>
            </a:r>
            <a:endParaRPr b="1" sz="7000">
              <a:solidFill>
                <a:schemeClr val="accent2"/>
              </a:solidFill>
              <a:latin typeface="Montserrat"/>
              <a:ea typeface="Montserrat"/>
              <a:cs typeface="Montserrat"/>
              <a:sym typeface="Montserrat"/>
            </a:endParaRPr>
          </a:p>
        </p:txBody>
      </p:sp>
      <p:sp>
        <p:nvSpPr>
          <p:cNvPr id="242" name="Google Shape;242;g39afd2df374_3_126"/>
          <p:cNvSpPr txBox="1"/>
          <p:nvPr/>
        </p:nvSpPr>
        <p:spPr>
          <a:xfrm>
            <a:off x="1866897" y="3484878"/>
            <a:ext cx="8216700" cy="3925500"/>
          </a:xfrm>
          <a:prstGeom prst="rect">
            <a:avLst/>
          </a:prstGeom>
          <a:noFill/>
          <a:ln>
            <a:noFill/>
          </a:ln>
        </p:spPr>
        <p:txBody>
          <a:bodyPr anchorCtr="0" anchor="t" bIns="0" lIns="0" spcFirstLastPara="1" rIns="0" wrap="square" tIns="0">
            <a:spAutoFit/>
          </a:bodyPr>
          <a:lstStyle/>
          <a:p>
            <a:pPr indent="-419100" lvl="0" marL="457200" marR="0" rtl="0" algn="just">
              <a:lnSpc>
                <a:spcPct val="150014"/>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Là cầu nối giữa dữ liệu cục bộ và Power BI trên cloud.</a:t>
            </a:r>
            <a:endParaRPr sz="3000">
              <a:solidFill>
                <a:schemeClr val="dk1"/>
              </a:solidFill>
              <a:latin typeface="Montserrat"/>
              <a:ea typeface="Montserrat"/>
              <a:cs typeface="Montserrat"/>
              <a:sym typeface="Montserrat"/>
            </a:endParaRPr>
          </a:p>
          <a:p>
            <a:pPr indent="-419100" lvl="0" marL="457200" marR="0" rtl="0" algn="just">
              <a:lnSpc>
                <a:spcPct val="150014"/>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Cho phép truy cập, cập nhật dữ liệu nội bộ mà không cần di chuyển lên cloud.</a:t>
            </a:r>
            <a:endParaRPr sz="3000">
              <a:solidFill>
                <a:schemeClr val="dk1"/>
              </a:solidFill>
              <a:latin typeface="Montserrat"/>
              <a:ea typeface="Montserrat"/>
              <a:cs typeface="Montserrat"/>
              <a:sym typeface="Montserrat"/>
            </a:endParaRPr>
          </a:p>
          <a:p>
            <a:pPr indent="-419100" lvl="0" marL="457200" marR="0" rtl="0" algn="just">
              <a:lnSpc>
                <a:spcPct val="150014"/>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Giúp báo cáo cập nhật tự động và bảo mật dữ liệu doanh nghiệp.</a:t>
            </a:r>
            <a:endParaRPr sz="3000">
              <a:solidFill>
                <a:schemeClr val="dk1"/>
              </a:solidFill>
              <a:latin typeface="Montserrat"/>
              <a:ea typeface="Montserrat"/>
              <a:cs typeface="Montserrat"/>
              <a:sym typeface="Montserrat"/>
            </a:endParaRPr>
          </a:p>
        </p:txBody>
      </p:sp>
      <p:pic>
        <p:nvPicPr>
          <p:cNvPr id="243" name="Google Shape;243;g39afd2df374_3_126"/>
          <p:cNvPicPr preferRelativeResize="0"/>
          <p:nvPr/>
        </p:nvPicPr>
        <p:blipFill>
          <a:blip r:embed="rId3">
            <a:alphaModFix/>
          </a:blip>
          <a:stretch>
            <a:fillRect/>
          </a:stretch>
        </p:blipFill>
        <p:spPr>
          <a:xfrm>
            <a:off x="11454988" y="3396155"/>
            <a:ext cx="4304650" cy="4304625"/>
          </a:xfrm>
          <a:prstGeom prst="rect">
            <a:avLst/>
          </a:prstGeom>
          <a:noFill/>
          <a:ln>
            <a:noFill/>
          </a:ln>
        </p:spPr>
      </p:pic>
      <p:sp>
        <p:nvSpPr>
          <p:cNvPr id="244" name="Google Shape;244;g39afd2df374_3_126"/>
          <p:cNvSpPr/>
          <p:nvPr/>
        </p:nvSpPr>
        <p:spPr>
          <a:xfrm>
            <a:off x="11631075" y="4000491"/>
            <a:ext cx="3952482" cy="2586215"/>
          </a:xfrm>
          <a:custGeom>
            <a:rect b="b" l="l" r="r" t="t"/>
            <a:pathLst>
              <a:path extrusionOk="0" h="2529306" w="4227253">
                <a:moveTo>
                  <a:pt x="0" y="0"/>
                </a:moveTo>
                <a:lnTo>
                  <a:pt x="4227254" y="0"/>
                </a:lnTo>
                <a:lnTo>
                  <a:pt x="4227254" y="2529306"/>
                </a:lnTo>
                <a:lnTo>
                  <a:pt x="0" y="252930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a3d77955e8_4_0"/>
          <p:cNvSpPr txBox="1"/>
          <p:nvPr/>
        </p:nvSpPr>
        <p:spPr>
          <a:xfrm>
            <a:off x="2047950" y="708025"/>
            <a:ext cx="14008500" cy="1077300"/>
          </a:xfrm>
          <a:prstGeom prst="rect">
            <a:avLst/>
          </a:prstGeom>
          <a:noFill/>
          <a:ln>
            <a:noFill/>
          </a:ln>
        </p:spPr>
        <p:txBody>
          <a:bodyPr anchorCtr="0" anchor="t" bIns="0" lIns="0" spcFirstLastPara="1" rIns="0" wrap="square" tIns="0">
            <a:spAutoFit/>
          </a:bodyPr>
          <a:lstStyle/>
          <a:p>
            <a:pPr indent="0" lvl="0" marL="0" rtl="0" algn="ctr">
              <a:lnSpc>
                <a:spcPct val="120002"/>
              </a:lnSpc>
              <a:spcBef>
                <a:spcPts val="0"/>
              </a:spcBef>
              <a:spcAft>
                <a:spcPts val="0"/>
              </a:spcAft>
              <a:buClr>
                <a:schemeClr val="dk1"/>
              </a:buClr>
              <a:buFont typeface="Arial"/>
              <a:buNone/>
            </a:pPr>
            <a:r>
              <a:rPr b="1" lang="en-US" sz="6999">
                <a:solidFill>
                  <a:schemeClr val="accent2"/>
                </a:solidFill>
                <a:latin typeface="Montserrat"/>
                <a:ea typeface="Montserrat"/>
                <a:cs typeface="Montserrat"/>
                <a:sym typeface="Montserrat"/>
              </a:rPr>
              <a:t>Visualization Components</a:t>
            </a:r>
            <a:endParaRPr b="1" sz="7200">
              <a:solidFill>
                <a:schemeClr val="accent2"/>
              </a:solidFill>
              <a:latin typeface="Montserrat"/>
              <a:ea typeface="Montserrat"/>
              <a:cs typeface="Montserrat"/>
              <a:sym typeface="Montserrat"/>
            </a:endParaRPr>
          </a:p>
        </p:txBody>
      </p:sp>
      <p:pic>
        <p:nvPicPr>
          <p:cNvPr id="250" name="Google Shape;250;g3a3d77955e8_4_0"/>
          <p:cNvPicPr preferRelativeResize="0"/>
          <p:nvPr/>
        </p:nvPicPr>
        <p:blipFill>
          <a:blip r:embed="rId3">
            <a:alphaModFix/>
          </a:blip>
          <a:stretch>
            <a:fillRect/>
          </a:stretch>
        </p:blipFill>
        <p:spPr>
          <a:xfrm>
            <a:off x="9359811" y="1846924"/>
            <a:ext cx="5444157" cy="3350250"/>
          </a:xfrm>
          <a:prstGeom prst="rect">
            <a:avLst/>
          </a:prstGeom>
          <a:noFill/>
          <a:ln>
            <a:noFill/>
          </a:ln>
        </p:spPr>
      </p:pic>
      <p:sp>
        <p:nvSpPr>
          <p:cNvPr id="251" name="Google Shape;251;g3a3d77955e8_4_0"/>
          <p:cNvSpPr txBox="1"/>
          <p:nvPr/>
        </p:nvSpPr>
        <p:spPr>
          <a:xfrm>
            <a:off x="14932350" y="2983400"/>
            <a:ext cx="1124100" cy="107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Montserrat"/>
                <a:ea typeface="Montserrat"/>
                <a:cs typeface="Montserrat"/>
                <a:sym typeface="Montserrat"/>
              </a:rPr>
              <a:t>Line</a:t>
            </a:r>
            <a:endParaRPr b="1" sz="24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US" sz="2400">
                <a:solidFill>
                  <a:schemeClr val="dk1"/>
                </a:solidFill>
                <a:latin typeface="Montserrat"/>
                <a:ea typeface="Montserrat"/>
                <a:cs typeface="Montserrat"/>
                <a:sym typeface="Montserrat"/>
              </a:rPr>
              <a:t>Chart</a:t>
            </a:r>
            <a:endParaRPr b="1" sz="2400">
              <a:solidFill>
                <a:schemeClr val="dk1"/>
              </a:solidFill>
              <a:latin typeface="Montserrat"/>
              <a:ea typeface="Montserrat"/>
              <a:cs typeface="Montserrat"/>
              <a:sym typeface="Montserrat"/>
            </a:endParaRPr>
          </a:p>
        </p:txBody>
      </p:sp>
      <p:pic>
        <p:nvPicPr>
          <p:cNvPr id="252" name="Google Shape;252;g3a3d77955e8_4_0"/>
          <p:cNvPicPr preferRelativeResize="0"/>
          <p:nvPr/>
        </p:nvPicPr>
        <p:blipFill rotWithShape="1">
          <a:blip r:embed="rId4">
            <a:alphaModFix/>
          </a:blip>
          <a:srcRect b="4089" l="0" r="0" t="-4090"/>
          <a:stretch/>
        </p:blipFill>
        <p:spPr>
          <a:xfrm>
            <a:off x="2925675" y="1785325"/>
            <a:ext cx="5576696" cy="3494375"/>
          </a:xfrm>
          <a:prstGeom prst="rect">
            <a:avLst/>
          </a:prstGeom>
          <a:noFill/>
          <a:ln>
            <a:noFill/>
          </a:ln>
        </p:spPr>
      </p:pic>
      <p:pic>
        <p:nvPicPr>
          <p:cNvPr id="253" name="Google Shape;253;g3a3d77955e8_4_0"/>
          <p:cNvPicPr preferRelativeResize="0"/>
          <p:nvPr/>
        </p:nvPicPr>
        <p:blipFill>
          <a:blip r:embed="rId5">
            <a:alphaModFix/>
          </a:blip>
          <a:stretch>
            <a:fillRect/>
          </a:stretch>
        </p:blipFill>
        <p:spPr>
          <a:xfrm>
            <a:off x="5918913" y="6243150"/>
            <a:ext cx="6450175" cy="3573050"/>
          </a:xfrm>
          <a:prstGeom prst="rect">
            <a:avLst/>
          </a:prstGeom>
          <a:noFill/>
          <a:ln>
            <a:noFill/>
          </a:ln>
        </p:spPr>
      </p:pic>
      <p:sp>
        <p:nvSpPr>
          <p:cNvPr id="254" name="Google Shape;254;g3a3d77955e8_4_0"/>
          <p:cNvSpPr txBox="1"/>
          <p:nvPr/>
        </p:nvSpPr>
        <p:spPr>
          <a:xfrm>
            <a:off x="1539975" y="3062475"/>
            <a:ext cx="1108800" cy="10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Montserrat"/>
                <a:ea typeface="Montserrat"/>
                <a:cs typeface="Montserrat"/>
                <a:sym typeface="Montserrat"/>
              </a:rPr>
              <a:t>Area Chart</a:t>
            </a:r>
            <a:endParaRPr b="1" sz="2400">
              <a:solidFill>
                <a:schemeClr val="dk1"/>
              </a:solidFill>
              <a:latin typeface="Montserrat"/>
              <a:ea typeface="Montserrat"/>
              <a:cs typeface="Montserrat"/>
              <a:sym typeface="Montserrat"/>
            </a:endParaRPr>
          </a:p>
        </p:txBody>
      </p:sp>
      <p:sp>
        <p:nvSpPr>
          <p:cNvPr id="255" name="Google Shape;255;g3a3d77955e8_4_0"/>
          <p:cNvSpPr txBox="1"/>
          <p:nvPr/>
        </p:nvSpPr>
        <p:spPr>
          <a:xfrm>
            <a:off x="4025525" y="7273550"/>
            <a:ext cx="1355400" cy="10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Montserrat"/>
                <a:ea typeface="Montserrat"/>
                <a:cs typeface="Montserrat"/>
                <a:sym typeface="Montserrat"/>
              </a:rPr>
              <a:t>Ribbon Chart</a:t>
            </a:r>
            <a:endParaRPr b="1" sz="24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500"/>
                                        <p:tgtEl>
                                          <p:spTgt spid="249"/>
                                        </p:tgtEl>
                                        <p:attrNameLst>
                                          <p:attrName>ppt_w</p:attrName>
                                        </p:attrNameLst>
                                      </p:cBhvr>
                                      <p:tavLst>
                                        <p:tav fmla="" tm="0">
                                          <p:val>
                                            <p:strVal val="0"/>
                                          </p:val>
                                        </p:tav>
                                        <p:tav fmla="" tm="100000">
                                          <p:val>
                                            <p:strVal val="#ppt_w"/>
                                          </p:val>
                                        </p:tav>
                                      </p:tavLst>
                                    </p:anim>
                                    <p:anim calcmode="lin" valueType="num">
                                      <p:cBhvr additive="base">
                                        <p:cTn dur="500"/>
                                        <p:tgtEl>
                                          <p:spTgt spid="24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94f7c0b530_0_29"/>
          <p:cNvSpPr txBox="1"/>
          <p:nvPr/>
        </p:nvSpPr>
        <p:spPr>
          <a:xfrm>
            <a:off x="2047950" y="708025"/>
            <a:ext cx="14008500" cy="1077300"/>
          </a:xfrm>
          <a:prstGeom prst="rect">
            <a:avLst/>
          </a:prstGeom>
          <a:noFill/>
          <a:ln>
            <a:noFill/>
          </a:ln>
        </p:spPr>
        <p:txBody>
          <a:bodyPr anchorCtr="0" anchor="t" bIns="0" lIns="0" spcFirstLastPara="1" rIns="0" wrap="square" tIns="0">
            <a:spAutoFit/>
          </a:bodyPr>
          <a:lstStyle/>
          <a:p>
            <a:pPr indent="0" lvl="0" marL="0" rtl="0" algn="ctr">
              <a:lnSpc>
                <a:spcPct val="120002"/>
              </a:lnSpc>
              <a:spcBef>
                <a:spcPts val="0"/>
              </a:spcBef>
              <a:spcAft>
                <a:spcPts val="0"/>
              </a:spcAft>
              <a:buClr>
                <a:schemeClr val="dk1"/>
              </a:buClr>
              <a:buFont typeface="Arial"/>
              <a:buNone/>
            </a:pPr>
            <a:r>
              <a:rPr b="1" lang="en-US" sz="6999">
                <a:solidFill>
                  <a:schemeClr val="accent2"/>
                </a:solidFill>
                <a:latin typeface="Montserrat"/>
                <a:ea typeface="Montserrat"/>
                <a:cs typeface="Montserrat"/>
                <a:sym typeface="Montserrat"/>
              </a:rPr>
              <a:t>Visualization Components</a:t>
            </a:r>
            <a:endParaRPr b="1" sz="7200">
              <a:solidFill>
                <a:schemeClr val="accent2"/>
              </a:solidFill>
              <a:latin typeface="Montserrat"/>
              <a:ea typeface="Montserrat"/>
              <a:cs typeface="Montserrat"/>
              <a:sym typeface="Montserrat"/>
            </a:endParaRPr>
          </a:p>
        </p:txBody>
      </p:sp>
      <p:sp>
        <p:nvSpPr>
          <p:cNvPr id="261" name="Google Shape;261;g394f7c0b530_0_29"/>
          <p:cNvSpPr txBox="1"/>
          <p:nvPr/>
        </p:nvSpPr>
        <p:spPr>
          <a:xfrm>
            <a:off x="2787075" y="2549653"/>
            <a:ext cx="14008500" cy="461700"/>
          </a:xfrm>
          <a:prstGeom prst="rect">
            <a:avLst/>
          </a:prstGeom>
          <a:noFill/>
          <a:ln>
            <a:noFill/>
          </a:ln>
        </p:spPr>
        <p:txBody>
          <a:bodyPr anchorCtr="0" anchor="t" bIns="0" lIns="0" spcFirstLastPara="1" rIns="0" wrap="square" tIns="0">
            <a:spAutoFit/>
          </a:bodyPr>
          <a:lstStyle/>
          <a:p>
            <a:pPr indent="0" lvl="0" marL="0" rtl="0" algn="just">
              <a:lnSpc>
                <a:spcPct val="150014"/>
              </a:lnSpc>
              <a:spcBef>
                <a:spcPts val="0"/>
              </a:spcBef>
              <a:spcAft>
                <a:spcPts val="0"/>
              </a:spcAft>
              <a:buNone/>
            </a:pPr>
            <a:r>
              <a:t/>
            </a:r>
            <a:endParaRPr b="1" sz="3000">
              <a:solidFill>
                <a:schemeClr val="dk1"/>
              </a:solidFill>
              <a:latin typeface="Montserrat"/>
              <a:ea typeface="Montserrat"/>
              <a:cs typeface="Montserrat"/>
              <a:sym typeface="Montserrat"/>
            </a:endParaRPr>
          </a:p>
        </p:txBody>
      </p:sp>
      <p:pic>
        <p:nvPicPr>
          <p:cNvPr id="262" name="Google Shape;262;g394f7c0b530_0_29"/>
          <p:cNvPicPr preferRelativeResize="0"/>
          <p:nvPr/>
        </p:nvPicPr>
        <p:blipFill>
          <a:blip r:embed="rId3">
            <a:alphaModFix/>
          </a:blip>
          <a:stretch>
            <a:fillRect/>
          </a:stretch>
        </p:blipFill>
        <p:spPr>
          <a:xfrm>
            <a:off x="2787086" y="1816749"/>
            <a:ext cx="5367275" cy="6700500"/>
          </a:xfrm>
          <a:prstGeom prst="rect">
            <a:avLst/>
          </a:prstGeom>
          <a:noFill/>
          <a:ln>
            <a:noFill/>
          </a:ln>
        </p:spPr>
      </p:pic>
      <p:sp>
        <p:nvSpPr>
          <p:cNvPr id="263" name="Google Shape;263;g394f7c0b530_0_29"/>
          <p:cNvSpPr txBox="1"/>
          <p:nvPr/>
        </p:nvSpPr>
        <p:spPr>
          <a:xfrm>
            <a:off x="3807513" y="8685425"/>
            <a:ext cx="33264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Montserrat"/>
                <a:ea typeface="Montserrat"/>
                <a:cs typeface="Montserrat"/>
                <a:sym typeface="Montserrat"/>
              </a:rPr>
              <a:t>Bar &amp; Column chart</a:t>
            </a:r>
            <a:endParaRPr b="1" sz="24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400">
              <a:solidFill>
                <a:schemeClr val="dk1"/>
              </a:solidFill>
              <a:latin typeface="Montserrat"/>
              <a:ea typeface="Montserrat"/>
              <a:cs typeface="Montserrat"/>
              <a:sym typeface="Montserrat"/>
            </a:endParaRPr>
          </a:p>
        </p:txBody>
      </p:sp>
      <p:pic>
        <p:nvPicPr>
          <p:cNvPr id="264" name="Google Shape;264;g394f7c0b530_0_29"/>
          <p:cNvPicPr preferRelativeResize="0"/>
          <p:nvPr/>
        </p:nvPicPr>
        <p:blipFill>
          <a:blip r:embed="rId4">
            <a:alphaModFix/>
          </a:blip>
          <a:stretch>
            <a:fillRect/>
          </a:stretch>
        </p:blipFill>
        <p:spPr>
          <a:xfrm>
            <a:off x="9590825" y="1892550"/>
            <a:ext cx="5489823" cy="3387150"/>
          </a:xfrm>
          <a:prstGeom prst="rect">
            <a:avLst/>
          </a:prstGeom>
          <a:noFill/>
          <a:ln>
            <a:noFill/>
          </a:ln>
        </p:spPr>
      </p:pic>
      <p:sp>
        <p:nvSpPr>
          <p:cNvPr id="265" name="Google Shape;265;g394f7c0b530_0_29"/>
          <p:cNvSpPr txBox="1"/>
          <p:nvPr/>
        </p:nvSpPr>
        <p:spPr>
          <a:xfrm>
            <a:off x="15368900" y="3062475"/>
            <a:ext cx="1355400" cy="10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Montserrat"/>
                <a:ea typeface="Montserrat"/>
                <a:cs typeface="Montserrat"/>
                <a:sym typeface="Montserrat"/>
              </a:rPr>
              <a:t>Combo Chart</a:t>
            </a:r>
            <a:endParaRPr b="1" sz="2400">
              <a:solidFill>
                <a:schemeClr val="dk1"/>
              </a:solidFill>
              <a:latin typeface="Montserrat"/>
              <a:ea typeface="Montserrat"/>
              <a:cs typeface="Montserrat"/>
              <a:sym typeface="Montserrat"/>
            </a:endParaRPr>
          </a:p>
        </p:txBody>
      </p:sp>
      <p:pic>
        <p:nvPicPr>
          <p:cNvPr id="266" name="Google Shape;266;g394f7c0b530_0_29"/>
          <p:cNvPicPr preferRelativeResize="0"/>
          <p:nvPr/>
        </p:nvPicPr>
        <p:blipFill>
          <a:blip r:embed="rId5">
            <a:alphaModFix/>
          </a:blip>
          <a:stretch>
            <a:fillRect/>
          </a:stretch>
        </p:blipFill>
        <p:spPr>
          <a:xfrm>
            <a:off x="9613650" y="5386925"/>
            <a:ext cx="5489825" cy="3116725"/>
          </a:xfrm>
          <a:prstGeom prst="rect">
            <a:avLst/>
          </a:prstGeom>
          <a:noFill/>
          <a:ln>
            <a:noFill/>
          </a:ln>
        </p:spPr>
      </p:pic>
      <p:sp>
        <p:nvSpPr>
          <p:cNvPr id="267" name="Google Shape;267;g394f7c0b530_0_29"/>
          <p:cNvSpPr txBox="1"/>
          <p:nvPr/>
        </p:nvSpPr>
        <p:spPr>
          <a:xfrm>
            <a:off x="15519300" y="6492500"/>
            <a:ext cx="1426800" cy="120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Montserrat"/>
                <a:ea typeface="Montserrat"/>
                <a:cs typeface="Montserrat"/>
                <a:sym typeface="Montserrat"/>
              </a:rPr>
              <a:t>Pie Chart</a:t>
            </a:r>
            <a:endParaRPr b="1" sz="24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500"/>
                                        <p:tgtEl>
                                          <p:spTgt spid="260"/>
                                        </p:tgtEl>
                                        <p:attrNameLst>
                                          <p:attrName>ppt_w</p:attrName>
                                        </p:attrNameLst>
                                      </p:cBhvr>
                                      <p:tavLst>
                                        <p:tav fmla="" tm="0">
                                          <p:val>
                                            <p:strVal val="0"/>
                                          </p:val>
                                        </p:tav>
                                        <p:tav fmla="" tm="100000">
                                          <p:val>
                                            <p:strVal val="#ppt_w"/>
                                          </p:val>
                                        </p:tav>
                                      </p:tavLst>
                                    </p:anim>
                                    <p:anim calcmode="lin" valueType="num">
                                      <p:cBhvr additive="base">
                                        <p:cTn dur="500"/>
                                        <p:tgtEl>
                                          <p:spTgt spid="26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94f7c0b530_0_41"/>
          <p:cNvSpPr txBox="1"/>
          <p:nvPr/>
        </p:nvSpPr>
        <p:spPr>
          <a:xfrm>
            <a:off x="2177850" y="632800"/>
            <a:ext cx="14008500" cy="1077300"/>
          </a:xfrm>
          <a:prstGeom prst="rect">
            <a:avLst/>
          </a:prstGeom>
          <a:noFill/>
          <a:ln>
            <a:noFill/>
          </a:ln>
        </p:spPr>
        <p:txBody>
          <a:bodyPr anchorCtr="0" anchor="t" bIns="0" lIns="0" spcFirstLastPara="1" rIns="0" wrap="square" tIns="0">
            <a:spAutoFit/>
          </a:bodyPr>
          <a:lstStyle/>
          <a:p>
            <a:pPr indent="0" lvl="0" marL="0" rtl="0" algn="ctr">
              <a:lnSpc>
                <a:spcPct val="120002"/>
              </a:lnSpc>
              <a:spcBef>
                <a:spcPts val="0"/>
              </a:spcBef>
              <a:spcAft>
                <a:spcPts val="0"/>
              </a:spcAft>
              <a:buClr>
                <a:schemeClr val="dk1"/>
              </a:buClr>
              <a:buFont typeface="Arial"/>
              <a:buNone/>
            </a:pPr>
            <a:r>
              <a:rPr b="1" lang="en-US" sz="6999">
                <a:solidFill>
                  <a:schemeClr val="accent2"/>
                </a:solidFill>
                <a:latin typeface="Montserrat"/>
                <a:ea typeface="Montserrat"/>
                <a:cs typeface="Montserrat"/>
                <a:sym typeface="Montserrat"/>
              </a:rPr>
              <a:t>Visualization Components</a:t>
            </a:r>
            <a:endParaRPr b="1" sz="7200">
              <a:solidFill>
                <a:schemeClr val="accent2"/>
              </a:solidFill>
              <a:latin typeface="Montserrat"/>
              <a:ea typeface="Montserrat"/>
              <a:cs typeface="Montserrat"/>
              <a:sym typeface="Montserrat"/>
            </a:endParaRPr>
          </a:p>
        </p:txBody>
      </p:sp>
      <p:pic>
        <p:nvPicPr>
          <p:cNvPr id="273" name="Google Shape;273;g394f7c0b530_0_41"/>
          <p:cNvPicPr preferRelativeResize="0"/>
          <p:nvPr/>
        </p:nvPicPr>
        <p:blipFill>
          <a:blip r:embed="rId3">
            <a:alphaModFix/>
          </a:blip>
          <a:stretch>
            <a:fillRect/>
          </a:stretch>
        </p:blipFill>
        <p:spPr>
          <a:xfrm>
            <a:off x="2577875" y="5509737"/>
            <a:ext cx="6216601" cy="3797350"/>
          </a:xfrm>
          <a:prstGeom prst="rect">
            <a:avLst/>
          </a:prstGeom>
          <a:noFill/>
          <a:ln>
            <a:noFill/>
          </a:ln>
        </p:spPr>
      </p:pic>
      <p:sp>
        <p:nvSpPr>
          <p:cNvPr id="274" name="Google Shape;274;g394f7c0b530_0_41"/>
          <p:cNvSpPr txBox="1"/>
          <p:nvPr/>
        </p:nvSpPr>
        <p:spPr>
          <a:xfrm>
            <a:off x="785324" y="7101825"/>
            <a:ext cx="1153800" cy="613200"/>
          </a:xfrm>
          <a:prstGeom prst="rect">
            <a:avLst/>
          </a:prstGeom>
          <a:noFill/>
          <a:ln>
            <a:noFill/>
          </a:ln>
        </p:spPr>
        <p:txBody>
          <a:bodyPr anchorCtr="0" anchor="t" bIns="95350" lIns="95350" spcFirstLastPara="1" rIns="95350" wrap="square" tIns="95350">
            <a:noAutofit/>
          </a:bodyPr>
          <a:lstStyle/>
          <a:p>
            <a:pPr indent="0" lvl="0" marL="0" rtl="0" algn="l">
              <a:spcBef>
                <a:spcPts val="0"/>
              </a:spcBef>
              <a:spcAft>
                <a:spcPts val="0"/>
              </a:spcAft>
              <a:buNone/>
            </a:pPr>
            <a:r>
              <a:rPr b="1" lang="en-US" sz="2503">
                <a:solidFill>
                  <a:schemeClr val="dk1"/>
                </a:solidFill>
                <a:latin typeface="Montserrat"/>
                <a:ea typeface="Montserrat"/>
                <a:cs typeface="Montserrat"/>
                <a:sym typeface="Montserrat"/>
              </a:rPr>
              <a:t>Maps</a:t>
            </a:r>
            <a:endParaRPr b="1" sz="2503">
              <a:solidFill>
                <a:schemeClr val="dk1"/>
              </a:solidFill>
              <a:latin typeface="Montserrat"/>
              <a:ea typeface="Montserrat"/>
              <a:cs typeface="Montserrat"/>
              <a:sym typeface="Montserrat"/>
            </a:endParaRPr>
          </a:p>
        </p:txBody>
      </p:sp>
      <p:pic>
        <p:nvPicPr>
          <p:cNvPr id="275" name="Google Shape;275;g394f7c0b530_0_41"/>
          <p:cNvPicPr preferRelativeResize="0"/>
          <p:nvPr/>
        </p:nvPicPr>
        <p:blipFill>
          <a:blip r:embed="rId4">
            <a:alphaModFix/>
          </a:blip>
          <a:stretch>
            <a:fillRect/>
          </a:stretch>
        </p:blipFill>
        <p:spPr>
          <a:xfrm>
            <a:off x="9318626" y="5586537"/>
            <a:ext cx="6066524" cy="3643800"/>
          </a:xfrm>
          <a:prstGeom prst="rect">
            <a:avLst/>
          </a:prstGeom>
          <a:noFill/>
          <a:ln>
            <a:noFill/>
          </a:ln>
        </p:spPr>
      </p:pic>
      <p:sp>
        <p:nvSpPr>
          <p:cNvPr id="276" name="Google Shape;276;g394f7c0b530_0_41"/>
          <p:cNvSpPr txBox="1"/>
          <p:nvPr/>
        </p:nvSpPr>
        <p:spPr>
          <a:xfrm>
            <a:off x="15909312" y="7101833"/>
            <a:ext cx="1413600" cy="744000"/>
          </a:xfrm>
          <a:prstGeom prst="rect">
            <a:avLst/>
          </a:prstGeom>
          <a:noFill/>
          <a:ln>
            <a:noFill/>
          </a:ln>
        </p:spPr>
        <p:txBody>
          <a:bodyPr anchorCtr="0" anchor="t" bIns="95350" lIns="95350" spcFirstLastPara="1" rIns="95350" wrap="square" tIns="95350">
            <a:noAutofit/>
          </a:bodyPr>
          <a:lstStyle/>
          <a:p>
            <a:pPr indent="0" lvl="0" marL="0" rtl="0" algn="l">
              <a:spcBef>
                <a:spcPts val="0"/>
              </a:spcBef>
              <a:spcAft>
                <a:spcPts val="0"/>
              </a:spcAft>
              <a:buNone/>
            </a:pPr>
            <a:r>
              <a:rPr b="1" lang="en-US" sz="2503">
                <a:solidFill>
                  <a:schemeClr val="dk1"/>
                </a:solidFill>
                <a:latin typeface="Montserrat"/>
                <a:ea typeface="Montserrat"/>
                <a:cs typeface="Montserrat"/>
                <a:sym typeface="Montserrat"/>
              </a:rPr>
              <a:t>Gauge</a:t>
            </a:r>
            <a:endParaRPr b="1" sz="2503">
              <a:solidFill>
                <a:schemeClr val="dk1"/>
              </a:solidFill>
              <a:latin typeface="Montserrat"/>
              <a:ea typeface="Montserrat"/>
              <a:cs typeface="Montserrat"/>
              <a:sym typeface="Montserrat"/>
            </a:endParaRPr>
          </a:p>
        </p:txBody>
      </p:sp>
      <p:pic>
        <p:nvPicPr>
          <p:cNvPr id="277" name="Google Shape;277;g394f7c0b530_0_41"/>
          <p:cNvPicPr preferRelativeResize="0"/>
          <p:nvPr/>
        </p:nvPicPr>
        <p:blipFill>
          <a:blip r:embed="rId5">
            <a:alphaModFix/>
          </a:blip>
          <a:stretch>
            <a:fillRect/>
          </a:stretch>
        </p:blipFill>
        <p:spPr>
          <a:xfrm>
            <a:off x="3237050" y="2230338"/>
            <a:ext cx="4898243" cy="2959700"/>
          </a:xfrm>
          <a:prstGeom prst="rect">
            <a:avLst/>
          </a:prstGeom>
          <a:noFill/>
          <a:ln>
            <a:noFill/>
          </a:ln>
        </p:spPr>
      </p:pic>
      <p:pic>
        <p:nvPicPr>
          <p:cNvPr id="278" name="Google Shape;278;g394f7c0b530_0_41"/>
          <p:cNvPicPr preferRelativeResize="0"/>
          <p:nvPr/>
        </p:nvPicPr>
        <p:blipFill>
          <a:blip r:embed="rId6">
            <a:alphaModFix/>
          </a:blip>
          <a:stretch>
            <a:fillRect/>
          </a:stretch>
        </p:blipFill>
        <p:spPr>
          <a:xfrm>
            <a:off x="10181827" y="2268737"/>
            <a:ext cx="4340123" cy="2959675"/>
          </a:xfrm>
          <a:prstGeom prst="rect">
            <a:avLst/>
          </a:prstGeom>
          <a:noFill/>
          <a:ln>
            <a:noFill/>
          </a:ln>
        </p:spPr>
      </p:pic>
      <p:sp>
        <p:nvSpPr>
          <p:cNvPr id="279" name="Google Shape;279;g394f7c0b530_0_41"/>
          <p:cNvSpPr txBox="1"/>
          <p:nvPr/>
        </p:nvSpPr>
        <p:spPr>
          <a:xfrm>
            <a:off x="1939125" y="3441963"/>
            <a:ext cx="915000" cy="613200"/>
          </a:xfrm>
          <a:prstGeom prst="rect">
            <a:avLst/>
          </a:prstGeom>
          <a:noFill/>
          <a:ln>
            <a:noFill/>
          </a:ln>
        </p:spPr>
        <p:txBody>
          <a:bodyPr anchorCtr="0" anchor="t" bIns="95350" lIns="95350" spcFirstLastPara="1" rIns="95350" wrap="square" tIns="95350">
            <a:noAutofit/>
          </a:bodyPr>
          <a:lstStyle/>
          <a:p>
            <a:pPr indent="0" lvl="0" marL="0" rtl="0" algn="l">
              <a:spcBef>
                <a:spcPts val="0"/>
              </a:spcBef>
              <a:spcAft>
                <a:spcPts val="0"/>
              </a:spcAft>
              <a:buNone/>
            </a:pPr>
            <a:r>
              <a:rPr b="1" lang="en-US" sz="2503">
                <a:solidFill>
                  <a:schemeClr val="dk1"/>
                </a:solidFill>
                <a:latin typeface="Montserrat"/>
                <a:ea typeface="Montserrat"/>
                <a:cs typeface="Montserrat"/>
                <a:sym typeface="Montserrat"/>
              </a:rPr>
              <a:t>KPI</a:t>
            </a:r>
            <a:endParaRPr b="1" sz="2503">
              <a:solidFill>
                <a:schemeClr val="dk1"/>
              </a:solidFill>
              <a:latin typeface="Montserrat"/>
              <a:ea typeface="Montserrat"/>
              <a:cs typeface="Montserrat"/>
              <a:sym typeface="Montserrat"/>
            </a:endParaRPr>
          </a:p>
        </p:txBody>
      </p:sp>
      <p:sp>
        <p:nvSpPr>
          <p:cNvPr id="280" name="Google Shape;280;g394f7c0b530_0_41"/>
          <p:cNvSpPr txBox="1"/>
          <p:nvPr/>
        </p:nvSpPr>
        <p:spPr>
          <a:xfrm>
            <a:off x="15034012" y="3441983"/>
            <a:ext cx="1413600" cy="744000"/>
          </a:xfrm>
          <a:prstGeom prst="rect">
            <a:avLst/>
          </a:prstGeom>
          <a:noFill/>
          <a:ln>
            <a:noFill/>
          </a:ln>
        </p:spPr>
        <p:txBody>
          <a:bodyPr anchorCtr="0" anchor="t" bIns="95350" lIns="95350" spcFirstLastPara="1" rIns="95350" wrap="square" tIns="95350">
            <a:noAutofit/>
          </a:bodyPr>
          <a:lstStyle/>
          <a:p>
            <a:pPr indent="0" lvl="0" marL="0" rtl="0" algn="l">
              <a:spcBef>
                <a:spcPts val="0"/>
              </a:spcBef>
              <a:spcAft>
                <a:spcPts val="0"/>
              </a:spcAft>
              <a:buNone/>
            </a:pPr>
            <a:r>
              <a:rPr b="1" lang="en-US" sz="2503">
                <a:solidFill>
                  <a:schemeClr val="dk1"/>
                </a:solidFill>
                <a:latin typeface="Montserrat"/>
                <a:ea typeface="Montserrat"/>
                <a:cs typeface="Montserrat"/>
                <a:sym typeface="Montserrat"/>
              </a:rPr>
              <a:t>Card</a:t>
            </a:r>
            <a:endParaRPr b="1" sz="2503">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500"/>
                                        <p:tgtEl>
                                          <p:spTgt spid="272"/>
                                        </p:tgtEl>
                                        <p:attrNameLst>
                                          <p:attrName>ppt_w</p:attrName>
                                        </p:attrNameLst>
                                      </p:cBhvr>
                                      <p:tavLst>
                                        <p:tav fmla="" tm="0">
                                          <p:val>
                                            <p:strVal val="0"/>
                                          </p:val>
                                        </p:tav>
                                        <p:tav fmla="" tm="100000">
                                          <p:val>
                                            <p:strVal val="#ppt_w"/>
                                          </p:val>
                                        </p:tav>
                                      </p:tavLst>
                                    </p:anim>
                                    <p:anim calcmode="lin" valueType="num">
                                      <p:cBhvr additive="base">
                                        <p:cTn dur="500"/>
                                        <p:tgtEl>
                                          <p:spTgt spid="27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94f7c0b530_0_68"/>
          <p:cNvSpPr txBox="1"/>
          <p:nvPr/>
        </p:nvSpPr>
        <p:spPr>
          <a:xfrm>
            <a:off x="2047950" y="708025"/>
            <a:ext cx="14008500" cy="1077300"/>
          </a:xfrm>
          <a:prstGeom prst="rect">
            <a:avLst/>
          </a:prstGeom>
          <a:noFill/>
          <a:ln>
            <a:noFill/>
          </a:ln>
        </p:spPr>
        <p:txBody>
          <a:bodyPr anchorCtr="0" anchor="t" bIns="0" lIns="0" spcFirstLastPara="1" rIns="0" wrap="square" tIns="0">
            <a:spAutoFit/>
          </a:bodyPr>
          <a:lstStyle/>
          <a:p>
            <a:pPr indent="0" lvl="0" marL="0" rtl="0" algn="ctr">
              <a:lnSpc>
                <a:spcPct val="120002"/>
              </a:lnSpc>
              <a:spcBef>
                <a:spcPts val="0"/>
              </a:spcBef>
              <a:spcAft>
                <a:spcPts val="0"/>
              </a:spcAft>
              <a:buClr>
                <a:schemeClr val="dk1"/>
              </a:buClr>
              <a:buFont typeface="Arial"/>
              <a:buNone/>
            </a:pPr>
            <a:r>
              <a:rPr b="1" lang="en-US" sz="6999">
                <a:solidFill>
                  <a:schemeClr val="accent2"/>
                </a:solidFill>
                <a:latin typeface="Montserrat"/>
                <a:ea typeface="Montserrat"/>
                <a:cs typeface="Montserrat"/>
                <a:sym typeface="Montserrat"/>
              </a:rPr>
              <a:t>Visualization Components</a:t>
            </a:r>
            <a:endParaRPr b="1" sz="7200">
              <a:solidFill>
                <a:schemeClr val="accent2"/>
              </a:solidFill>
              <a:latin typeface="Montserrat"/>
              <a:ea typeface="Montserrat"/>
              <a:cs typeface="Montserrat"/>
              <a:sym typeface="Montserrat"/>
            </a:endParaRPr>
          </a:p>
        </p:txBody>
      </p:sp>
      <p:sp>
        <p:nvSpPr>
          <p:cNvPr id="286" name="Google Shape;286;g394f7c0b530_0_68"/>
          <p:cNvSpPr txBox="1"/>
          <p:nvPr/>
        </p:nvSpPr>
        <p:spPr>
          <a:xfrm>
            <a:off x="2698387" y="2574700"/>
            <a:ext cx="14597700" cy="481200"/>
          </a:xfrm>
          <a:prstGeom prst="rect">
            <a:avLst/>
          </a:prstGeom>
          <a:noFill/>
          <a:ln>
            <a:noFill/>
          </a:ln>
        </p:spPr>
        <p:txBody>
          <a:bodyPr anchorCtr="0" anchor="t" bIns="0" lIns="0" spcFirstLastPara="1" rIns="0" wrap="square" tIns="0">
            <a:spAutoFit/>
          </a:bodyPr>
          <a:lstStyle/>
          <a:p>
            <a:pPr indent="0" lvl="0" marL="0" rtl="0" algn="just">
              <a:lnSpc>
                <a:spcPct val="150014"/>
              </a:lnSpc>
              <a:spcBef>
                <a:spcPts val="0"/>
              </a:spcBef>
              <a:spcAft>
                <a:spcPts val="0"/>
              </a:spcAft>
              <a:buNone/>
            </a:pPr>
            <a:r>
              <a:t/>
            </a:r>
            <a:endParaRPr b="1" sz="3126">
              <a:solidFill>
                <a:schemeClr val="dk1"/>
              </a:solidFill>
              <a:latin typeface="Montserrat"/>
              <a:ea typeface="Montserrat"/>
              <a:cs typeface="Montserrat"/>
              <a:sym typeface="Montserrat"/>
            </a:endParaRPr>
          </a:p>
        </p:txBody>
      </p:sp>
      <p:sp>
        <p:nvSpPr>
          <p:cNvPr id="287" name="Google Shape;287;g394f7c0b530_0_68"/>
          <p:cNvSpPr txBox="1"/>
          <p:nvPr/>
        </p:nvSpPr>
        <p:spPr>
          <a:xfrm>
            <a:off x="12010717" y="7721273"/>
            <a:ext cx="2566200" cy="643800"/>
          </a:xfrm>
          <a:prstGeom prst="rect">
            <a:avLst/>
          </a:prstGeom>
          <a:noFill/>
          <a:ln>
            <a:noFill/>
          </a:ln>
        </p:spPr>
        <p:txBody>
          <a:bodyPr anchorCtr="0" anchor="t" bIns="95275" lIns="95275" spcFirstLastPara="1" rIns="95275" wrap="square" tIns="95275">
            <a:noAutofit/>
          </a:bodyPr>
          <a:lstStyle/>
          <a:p>
            <a:pPr indent="0" lvl="0" marL="0" rtl="0" algn="l">
              <a:spcBef>
                <a:spcPts val="0"/>
              </a:spcBef>
              <a:spcAft>
                <a:spcPts val="0"/>
              </a:spcAft>
              <a:buNone/>
            </a:pPr>
            <a:r>
              <a:rPr b="1" lang="en-US" sz="2500">
                <a:solidFill>
                  <a:schemeClr val="dk1"/>
                </a:solidFill>
                <a:latin typeface="Montserrat"/>
                <a:ea typeface="Montserrat"/>
                <a:cs typeface="Montserrat"/>
                <a:sym typeface="Montserrat"/>
              </a:rPr>
              <a:t>Key Influence</a:t>
            </a:r>
            <a:endParaRPr b="1" sz="2500">
              <a:solidFill>
                <a:schemeClr val="dk1"/>
              </a:solidFill>
              <a:latin typeface="Montserrat"/>
              <a:ea typeface="Montserrat"/>
              <a:cs typeface="Montserrat"/>
              <a:sym typeface="Montserrat"/>
            </a:endParaRPr>
          </a:p>
        </p:txBody>
      </p:sp>
      <p:sp>
        <p:nvSpPr>
          <p:cNvPr id="288" name="Google Shape;288;g394f7c0b530_0_68"/>
          <p:cNvSpPr txBox="1"/>
          <p:nvPr/>
        </p:nvSpPr>
        <p:spPr>
          <a:xfrm>
            <a:off x="3311389" y="7721273"/>
            <a:ext cx="2998200" cy="643800"/>
          </a:xfrm>
          <a:prstGeom prst="rect">
            <a:avLst/>
          </a:prstGeom>
          <a:noFill/>
          <a:ln>
            <a:noFill/>
          </a:ln>
        </p:spPr>
        <p:txBody>
          <a:bodyPr anchorCtr="0" anchor="t" bIns="95275" lIns="95275" spcFirstLastPara="1" rIns="95275" wrap="square" tIns="95275">
            <a:noAutofit/>
          </a:bodyPr>
          <a:lstStyle/>
          <a:p>
            <a:pPr indent="0" lvl="0" marL="0" rtl="0" algn="l">
              <a:spcBef>
                <a:spcPts val="0"/>
              </a:spcBef>
              <a:spcAft>
                <a:spcPts val="0"/>
              </a:spcAft>
              <a:buNone/>
            </a:pPr>
            <a:r>
              <a:rPr b="1" lang="en-US" sz="2500">
                <a:solidFill>
                  <a:schemeClr val="dk1"/>
                </a:solidFill>
                <a:latin typeface="Montserrat"/>
                <a:ea typeface="Montserrat"/>
                <a:cs typeface="Montserrat"/>
                <a:sym typeface="Montserrat"/>
              </a:rPr>
              <a:t>Decomposit tree</a:t>
            </a:r>
            <a:endParaRPr b="1" sz="2500">
              <a:solidFill>
                <a:schemeClr val="dk1"/>
              </a:solidFill>
              <a:latin typeface="Montserrat"/>
              <a:ea typeface="Montserrat"/>
              <a:cs typeface="Montserrat"/>
              <a:sym typeface="Montserrat"/>
            </a:endParaRPr>
          </a:p>
        </p:txBody>
      </p:sp>
      <p:pic>
        <p:nvPicPr>
          <p:cNvPr id="289" name="Google Shape;289;g394f7c0b530_0_68"/>
          <p:cNvPicPr preferRelativeResize="0"/>
          <p:nvPr/>
        </p:nvPicPr>
        <p:blipFill>
          <a:blip r:embed="rId3">
            <a:alphaModFix/>
          </a:blip>
          <a:stretch>
            <a:fillRect/>
          </a:stretch>
        </p:blipFill>
        <p:spPr>
          <a:xfrm>
            <a:off x="676650" y="2707350"/>
            <a:ext cx="8267788" cy="4663894"/>
          </a:xfrm>
          <a:prstGeom prst="rect">
            <a:avLst/>
          </a:prstGeom>
          <a:noFill/>
          <a:ln>
            <a:noFill/>
          </a:ln>
        </p:spPr>
      </p:pic>
      <p:pic>
        <p:nvPicPr>
          <p:cNvPr id="290" name="Google Shape;290;g394f7c0b530_0_68"/>
          <p:cNvPicPr preferRelativeResize="0"/>
          <p:nvPr/>
        </p:nvPicPr>
        <p:blipFill>
          <a:blip r:embed="rId4">
            <a:alphaModFix/>
          </a:blip>
          <a:stretch>
            <a:fillRect/>
          </a:stretch>
        </p:blipFill>
        <p:spPr>
          <a:xfrm>
            <a:off x="9159961" y="2707350"/>
            <a:ext cx="8267789" cy="463017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ppt_w</p:attrName>
                                        </p:attrNameLst>
                                      </p:cBhvr>
                                      <p:tavLst>
                                        <p:tav fmla="" tm="0">
                                          <p:val>
                                            <p:strVal val="0"/>
                                          </p:val>
                                        </p:tav>
                                        <p:tav fmla="" tm="100000">
                                          <p:val>
                                            <p:strVal val="#ppt_w"/>
                                          </p:val>
                                        </p:tav>
                                      </p:tavLst>
                                    </p:anim>
                                    <p:anim calcmode="lin" valueType="num">
                                      <p:cBhvr additive="base">
                                        <p:cTn dur="500"/>
                                        <p:tgtEl>
                                          <p:spTgt spid="28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grpSp>
        <p:nvGrpSpPr>
          <p:cNvPr id="295" name="Google Shape;295;p12"/>
          <p:cNvGrpSpPr/>
          <p:nvPr/>
        </p:nvGrpSpPr>
        <p:grpSpPr>
          <a:xfrm>
            <a:off x="8696112" y="8188624"/>
            <a:ext cx="9591888" cy="2098376"/>
            <a:chOff x="0" y="-38100"/>
            <a:chExt cx="3214520" cy="703226"/>
          </a:xfrm>
        </p:grpSpPr>
        <p:sp>
          <p:nvSpPr>
            <p:cNvPr id="296" name="Google Shape;296;p12"/>
            <p:cNvSpPr/>
            <p:nvPr/>
          </p:nvSpPr>
          <p:spPr>
            <a:xfrm>
              <a:off x="0" y="0"/>
              <a:ext cx="3214520" cy="665126"/>
            </a:xfrm>
            <a:custGeom>
              <a:rect b="b" l="l" r="r" t="t"/>
              <a:pathLst>
                <a:path extrusionOk="0" h="665126" w="3214520">
                  <a:moveTo>
                    <a:pt x="0" y="0"/>
                  </a:moveTo>
                  <a:lnTo>
                    <a:pt x="3214520" y="0"/>
                  </a:lnTo>
                  <a:lnTo>
                    <a:pt x="3214520" y="665126"/>
                  </a:lnTo>
                  <a:lnTo>
                    <a:pt x="0" y="665126"/>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2"/>
            <p:cNvSpPr txBox="1"/>
            <p:nvPr/>
          </p:nvSpPr>
          <p:spPr>
            <a:xfrm>
              <a:off x="0" y="-38100"/>
              <a:ext cx="3214520" cy="70322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298" name="Google Shape;298;p12"/>
          <p:cNvPicPr preferRelativeResize="0"/>
          <p:nvPr/>
        </p:nvPicPr>
        <p:blipFill rotWithShape="1">
          <a:blip r:embed="rId3">
            <a:alphaModFix/>
          </a:blip>
          <a:srcRect b="0" l="0" r="0" t="0"/>
          <a:stretch/>
        </p:blipFill>
        <p:spPr>
          <a:xfrm>
            <a:off x="5908247" y="9331625"/>
            <a:ext cx="7333203" cy="452225"/>
          </a:xfrm>
          <a:prstGeom prst="rect">
            <a:avLst/>
          </a:prstGeom>
          <a:noFill/>
          <a:ln>
            <a:noFill/>
          </a:ln>
        </p:spPr>
      </p:pic>
      <p:grpSp>
        <p:nvGrpSpPr>
          <p:cNvPr id="299" name="Google Shape;299;p12"/>
          <p:cNvGrpSpPr/>
          <p:nvPr/>
        </p:nvGrpSpPr>
        <p:grpSpPr>
          <a:xfrm>
            <a:off x="0" y="-113688"/>
            <a:ext cx="4725014" cy="1142388"/>
            <a:chOff x="0" y="-38100"/>
            <a:chExt cx="1583489" cy="382847"/>
          </a:xfrm>
        </p:grpSpPr>
        <p:sp>
          <p:nvSpPr>
            <p:cNvPr id="300" name="Google Shape;300;p12"/>
            <p:cNvSpPr/>
            <p:nvPr/>
          </p:nvSpPr>
          <p:spPr>
            <a:xfrm>
              <a:off x="0" y="0"/>
              <a:ext cx="1583489" cy="344747"/>
            </a:xfrm>
            <a:custGeom>
              <a:rect b="b" l="l" r="r" t="t"/>
              <a:pathLst>
                <a:path extrusionOk="0" h="344747" w="1583489">
                  <a:moveTo>
                    <a:pt x="0" y="0"/>
                  </a:moveTo>
                  <a:lnTo>
                    <a:pt x="1583489" y="0"/>
                  </a:lnTo>
                  <a:lnTo>
                    <a:pt x="1583489" y="344747"/>
                  </a:lnTo>
                  <a:lnTo>
                    <a:pt x="0" y="344747"/>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2"/>
            <p:cNvSpPr txBox="1"/>
            <p:nvPr/>
          </p:nvSpPr>
          <p:spPr>
            <a:xfrm>
              <a:off x="0" y="-38100"/>
              <a:ext cx="1583489" cy="38284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02" name="Google Shape;302;p12"/>
          <p:cNvGrpSpPr/>
          <p:nvPr/>
        </p:nvGrpSpPr>
        <p:grpSpPr>
          <a:xfrm>
            <a:off x="-249595" y="400662"/>
            <a:ext cx="5607178" cy="1108329"/>
            <a:chOff x="0" y="-38100"/>
            <a:chExt cx="1879128" cy="371433"/>
          </a:xfrm>
        </p:grpSpPr>
        <p:sp>
          <p:nvSpPr>
            <p:cNvPr id="303" name="Google Shape;303;p12"/>
            <p:cNvSpPr/>
            <p:nvPr/>
          </p:nvSpPr>
          <p:spPr>
            <a:xfrm>
              <a:off x="0" y="0"/>
              <a:ext cx="1879128" cy="333333"/>
            </a:xfrm>
            <a:custGeom>
              <a:rect b="b" l="l" r="r" t="t"/>
              <a:pathLst>
                <a:path extrusionOk="0" h="333333" w="1879128">
                  <a:moveTo>
                    <a:pt x="0" y="0"/>
                  </a:moveTo>
                  <a:lnTo>
                    <a:pt x="1879128" y="0"/>
                  </a:lnTo>
                  <a:lnTo>
                    <a:pt x="1879128" y="333333"/>
                  </a:lnTo>
                  <a:lnTo>
                    <a:pt x="0" y="333333"/>
                  </a:lnTo>
                  <a:close/>
                </a:path>
              </a:pathLst>
            </a:custGeom>
            <a:solidFill>
              <a:srgbClr val="000000">
                <a:alpha val="0"/>
              </a:srgbClr>
            </a:solidFill>
            <a:ln cap="sq" cmpd="sng" w="38100">
              <a:solidFill>
                <a:srgbClr val="3E5BB2"/>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2"/>
            <p:cNvSpPr txBox="1"/>
            <p:nvPr/>
          </p:nvSpPr>
          <p:spPr>
            <a:xfrm>
              <a:off x="0" y="-38100"/>
              <a:ext cx="1879128" cy="37143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05" name="Google Shape;305;p12"/>
          <p:cNvSpPr txBox="1"/>
          <p:nvPr/>
        </p:nvSpPr>
        <p:spPr>
          <a:xfrm>
            <a:off x="6775938" y="4466392"/>
            <a:ext cx="10691400" cy="1354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800"/>
              <a:buFont typeface="Arial"/>
              <a:buNone/>
            </a:pPr>
            <a:r>
              <a:rPr b="1" lang="en-US" sz="8800">
                <a:solidFill>
                  <a:schemeClr val="accent5"/>
                </a:solidFill>
                <a:latin typeface="Montserrat"/>
                <a:ea typeface="Montserrat"/>
                <a:cs typeface="Montserrat"/>
                <a:sym typeface="Montserrat"/>
              </a:rPr>
              <a:t>Ngôn ngữ </a:t>
            </a:r>
            <a:r>
              <a:rPr b="1" i="0" lang="en-US" sz="8800" u="none" cap="none" strike="noStrike">
                <a:solidFill>
                  <a:schemeClr val="accent5"/>
                </a:solidFill>
                <a:latin typeface="Montserrat"/>
                <a:ea typeface="Montserrat"/>
                <a:cs typeface="Montserrat"/>
                <a:sym typeface="Montserrat"/>
              </a:rPr>
              <a:t>DAX</a:t>
            </a:r>
            <a:endParaRPr b="0" i="0" sz="1100" u="none" cap="none" strike="noStrike">
              <a:solidFill>
                <a:schemeClr val="accent5"/>
              </a:solidFill>
              <a:latin typeface="Arial"/>
              <a:ea typeface="Arial"/>
              <a:cs typeface="Arial"/>
              <a:sym typeface="Arial"/>
            </a:endParaRPr>
          </a:p>
        </p:txBody>
      </p:sp>
      <p:sp>
        <p:nvSpPr>
          <p:cNvPr id="306" name="Google Shape;306;p12"/>
          <p:cNvSpPr txBox="1"/>
          <p:nvPr/>
        </p:nvSpPr>
        <p:spPr>
          <a:xfrm>
            <a:off x="883874" y="1622679"/>
            <a:ext cx="5024373" cy="6463308"/>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30000"/>
              <a:buFont typeface="Arial"/>
              <a:buNone/>
            </a:pPr>
            <a:r>
              <a:rPr b="1" i="0" lang="en-US" sz="30000" u="none" cap="none" strike="noStrike">
                <a:solidFill>
                  <a:schemeClr val="accent5"/>
                </a:solidFill>
                <a:latin typeface="Montserrat"/>
                <a:ea typeface="Montserrat"/>
                <a:cs typeface="Montserrat"/>
                <a:sym typeface="Montserrat"/>
              </a:rPr>
              <a:t>02</a:t>
            </a:r>
            <a:endParaRPr b="0" i="0" sz="3200" u="none" cap="none" strike="noStrike">
              <a:solidFill>
                <a:schemeClr val="accent5"/>
              </a:solidFill>
              <a:latin typeface="Arial"/>
              <a:ea typeface="Arial"/>
              <a:cs typeface="Arial"/>
              <a:sym typeface="Arial"/>
            </a:endParaRPr>
          </a:p>
        </p:txBody>
      </p:sp>
      <p:pic>
        <p:nvPicPr>
          <p:cNvPr id="307" name="Google Shape;307;p12"/>
          <p:cNvPicPr preferRelativeResize="0"/>
          <p:nvPr/>
        </p:nvPicPr>
        <p:blipFill rotWithShape="1">
          <a:blip r:embed="rId4">
            <a:alphaModFix/>
          </a:blip>
          <a:srcRect b="0" l="0" r="0" t="0"/>
          <a:stretch/>
        </p:blipFill>
        <p:spPr>
          <a:xfrm>
            <a:off x="16087004" y="1028708"/>
            <a:ext cx="761350" cy="700442"/>
          </a:xfrm>
          <a:prstGeom prst="rect">
            <a:avLst/>
          </a:prstGeom>
          <a:noFill/>
          <a:ln>
            <a:noFill/>
          </a:ln>
        </p:spPr>
      </p:pic>
      <p:pic>
        <p:nvPicPr>
          <p:cNvPr id="308" name="Google Shape;308;p12"/>
          <p:cNvPicPr preferRelativeResize="0"/>
          <p:nvPr/>
        </p:nvPicPr>
        <p:blipFill rotWithShape="1">
          <a:blip r:embed="rId5">
            <a:alphaModFix/>
          </a:blip>
          <a:srcRect b="0" l="0" r="0" t="0"/>
          <a:stretch/>
        </p:blipFill>
        <p:spPr>
          <a:xfrm flipH="1">
            <a:off x="819150" y="524365"/>
            <a:ext cx="423675" cy="2905200"/>
          </a:xfrm>
          <a:prstGeom prst="rect">
            <a:avLst/>
          </a:prstGeom>
          <a:noFill/>
          <a:ln>
            <a:noFill/>
          </a:ln>
        </p:spPr>
      </p:pic>
    </p:spTree>
  </p:cSld>
  <p:clrMapOvr>
    <a:masterClrMapping/>
  </p:clrMapOvr>
  <mc:AlternateContent>
    <mc:Choice Requires="p14">
      <p:transition spd="slow" p14:dur="900">
        <p14:flythrough dir="out" hasBounce="1"/>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grpSp>
        <p:nvGrpSpPr>
          <p:cNvPr id="313" name="Google Shape;313;g39afd2df374_4_18"/>
          <p:cNvGrpSpPr/>
          <p:nvPr/>
        </p:nvGrpSpPr>
        <p:grpSpPr>
          <a:xfrm>
            <a:off x="10073845" y="9144613"/>
            <a:ext cx="8214086" cy="1142377"/>
            <a:chOff x="0" y="-38100"/>
            <a:chExt cx="2752802" cy="382847"/>
          </a:xfrm>
        </p:grpSpPr>
        <p:sp>
          <p:nvSpPr>
            <p:cNvPr id="314" name="Google Shape;314;g39afd2df374_4_18"/>
            <p:cNvSpPr/>
            <p:nvPr/>
          </p:nvSpPr>
          <p:spPr>
            <a:xfrm>
              <a:off x="0" y="0"/>
              <a:ext cx="2752802" cy="344747"/>
            </a:xfrm>
            <a:custGeom>
              <a:rect b="b" l="l" r="r" t="t"/>
              <a:pathLst>
                <a:path extrusionOk="0" h="344747" w="2752802">
                  <a:moveTo>
                    <a:pt x="0" y="0"/>
                  </a:moveTo>
                  <a:lnTo>
                    <a:pt x="2752802" y="0"/>
                  </a:lnTo>
                  <a:lnTo>
                    <a:pt x="2752802" y="344747"/>
                  </a:lnTo>
                  <a:lnTo>
                    <a:pt x="0" y="344747"/>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g39afd2df374_4_18"/>
            <p:cNvSpPr txBox="1"/>
            <p:nvPr/>
          </p:nvSpPr>
          <p:spPr>
            <a:xfrm>
              <a:off x="0" y="-38100"/>
              <a:ext cx="2752800" cy="3828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6" name="Google Shape;316;g39afd2df374_4_18"/>
          <p:cNvGrpSpPr/>
          <p:nvPr/>
        </p:nvGrpSpPr>
        <p:grpSpPr>
          <a:xfrm>
            <a:off x="0" y="8125136"/>
            <a:ext cx="10074053" cy="2162012"/>
            <a:chOff x="0" y="-38100"/>
            <a:chExt cx="4441039" cy="953100"/>
          </a:xfrm>
        </p:grpSpPr>
        <p:sp>
          <p:nvSpPr>
            <p:cNvPr id="317" name="Google Shape;317;g39afd2df374_4_18"/>
            <p:cNvSpPr/>
            <p:nvPr/>
          </p:nvSpPr>
          <p:spPr>
            <a:xfrm>
              <a:off x="0" y="0"/>
              <a:ext cx="4441039" cy="914953"/>
            </a:xfrm>
            <a:custGeom>
              <a:rect b="b" l="l" r="r" t="t"/>
              <a:pathLst>
                <a:path extrusionOk="0" h="914953" w="4441039">
                  <a:moveTo>
                    <a:pt x="0" y="0"/>
                  </a:moveTo>
                  <a:lnTo>
                    <a:pt x="4441039" y="0"/>
                  </a:lnTo>
                  <a:lnTo>
                    <a:pt x="4441039" y="914953"/>
                  </a:lnTo>
                  <a:lnTo>
                    <a:pt x="0" y="914953"/>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g39afd2df374_4_18"/>
            <p:cNvSpPr txBox="1"/>
            <p:nvPr/>
          </p:nvSpPr>
          <p:spPr>
            <a:xfrm>
              <a:off x="0" y="-38100"/>
              <a:ext cx="4440900" cy="9531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319" name="Google Shape;319;g39afd2df374_4_18"/>
          <p:cNvPicPr preferRelativeResize="0"/>
          <p:nvPr/>
        </p:nvPicPr>
        <p:blipFill rotWithShape="1">
          <a:blip r:embed="rId3">
            <a:alphaModFix/>
          </a:blip>
          <a:srcRect b="0" l="0" r="0" t="0"/>
          <a:stretch/>
        </p:blipFill>
        <p:spPr>
          <a:xfrm>
            <a:off x="528908" y="445935"/>
            <a:ext cx="1651963" cy="1142375"/>
          </a:xfrm>
          <a:prstGeom prst="rect">
            <a:avLst/>
          </a:prstGeom>
          <a:noFill/>
          <a:ln>
            <a:noFill/>
          </a:ln>
        </p:spPr>
      </p:pic>
      <p:pic>
        <p:nvPicPr>
          <p:cNvPr id="320" name="Google Shape;320;g39afd2df374_4_18"/>
          <p:cNvPicPr preferRelativeResize="0"/>
          <p:nvPr/>
        </p:nvPicPr>
        <p:blipFill rotWithShape="1">
          <a:blip r:embed="rId4">
            <a:alphaModFix/>
          </a:blip>
          <a:srcRect b="0" l="0" r="0" t="0"/>
          <a:stretch/>
        </p:blipFill>
        <p:spPr>
          <a:xfrm flipH="1" rot="10800000">
            <a:off x="16385880" y="339700"/>
            <a:ext cx="2746424" cy="400521"/>
          </a:xfrm>
          <a:prstGeom prst="rect">
            <a:avLst/>
          </a:prstGeom>
          <a:noFill/>
          <a:ln>
            <a:noFill/>
          </a:ln>
        </p:spPr>
      </p:pic>
      <p:pic>
        <p:nvPicPr>
          <p:cNvPr id="321" name="Google Shape;321;g39afd2df374_4_18"/>
          <p:cNvPicPr preferRelativeResize="0"/>
          <p:nvPr/>
        </p:nvPicPr>
        <p:blipFill rotWithShape="1">
          <a:blip r:embed="rId5">
            <a:alphaModFix/>
          </a:blip>
          <a:srcRect b="0" l="0" r="0" t="0"/>
          <a:stretch/>
        </p:blipFill>
        <p:spPr>
          <a:xfrm>
            <a:off x="14915958" y="9460972"/>
            <a:ext cx="2351617" cy="595500"/>
          </a:xfrm>
          <a:prstGeom prst="rect">
            <a:avLst/>
          </a:prstGeom>
          <a:noFill/>
          <a:ln>
            <a:noFill/>
          </a:ln>
        </p:spPr>
      </p:pic>
      <p:sp>
        <p:nvSpPr>
          <p:cNvPr id="322" name="Google Shape;322;g39afd2df374_4_18"/>
          <p:cNvSpPr txBox="1"/>
          <p:nvPr/>
        </p:nvSpPr>
        <p:spPr>
          <a:xfrm>
            <a:off x="4504373" y="590360"/>
            <a:ext cx="92793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dk2"/>
                </a:solidFill>
                <a:latin typeface="Montserrat"/>
                <a:ea typeface="Montserrat"/>
                <a:cs typeface="Montserrat"/>
                <a:sym typeface="Montserrat"/>
              </a:rPr>
              <a:t>Khái niệm</a:t>
            </a:r>
            <a:endParaRPr b="1" i="0" sz="7200" u="none" cap="none" strike="noStrike">
              <a:solidFill>
                <a:schemeClr val="dk2"/>
              </a:solidFill>
              <a:latin typeface="Montserrat"/>
              <a:ea typeface="Montserrat"/>
              <a:cs typeface="Montserrat"/>
              <a:sym typeface="Montserrat"/>
            </a:endParaRPr>
          </a:p>
        </p:txBody>
      </p:sp>
      <p:pic>
        <p:nvPicPr>
          <p:cNvPr id="323" name="Google Shape;323;g39afd2df374_4_18"/>
          <p:cNvPicPr preferRelativeResize="0"/>
          <p:nvPr/>
        </p:nvPicPr>
        <p:blipFill>
          <a:blip r:embed="rId6">
            <a:alphaModFix/>
          </a:blip>
          <a:stretch>
            <a:fillRect/>
          </a:stretch>
        </p:blipFill>
        <p:spPr>
          <a:xfrm>
            <a:off x="11453075" y="2615600"/>
            <a:ext cx="5089625" cy="4653641"/>
          </a:xfrm>
          <a:prstGeom prst="rect">
            <a:avLst/>
          </a:prstGeom>
          <a:noFill/>
          <a:ln>
            <a:noFill/>
          </a:ln>
        </p:spPr>
      </p:pic>
      <p:sp>
        <p:nvSpPr>
          <p:cNvPr id="324" name="Google Shape;324;g39afd2df374_4_18"/>
          <p:cNvSpPr txBox="1"/>
          <p:nvPr/>
        </p:nvSpPr>
        <p:spPr>
          <a:xfrm>
            <a:off x="751825" y="2178350"/>
            <a:ext cx="10074000" cy="2162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3600">
                <a:solidFill>
                  <a:schemeClr val="accent2"/>
                </a:solidFill>
                <a:latin typeface="Montserrat"/>
                <a:ea typeface="Montserrat"/>
                <a:cs typeface="Montserrat"/>
                <a:sym typeface="Montserrat"/>
              </a:rPr>
              <a:t>Định nghĩa </a:t>
            </a:r>
            <a:endParaRPr b="1" sz="3600">
              <a:solidFill>
                <a:schemeClr val="accent2"/>
              </a:solidFill>
              <a:latin typeface="Montserrat"/>
              <a:ea typeface="Montserrat"/>
              <a:cs typeface="Montserrat"/>
              <a:sym typeface="Montserrat"/>
            </a:endParaRPr>
          </a:p>
          <a:p>
            <a:pPr indent="0" lvl="0" marL="0" rtl="0" algn="l">
              <a:spcBef>
                <a:spcPts val="0"/>
              </a:spcBef>
              <a:spcAft>
                <a:spcPts val="0"/>
              </a:spcAft>
              <a:buNone/>
            </a:pPr>
            <a:r>
              <a:rPr lang="en-US" sz="3000">
                <a:solidFill>
                  <a:schemeClr val="dk1"/>
                </a:solidFill>
                <a:latin typeface="Montserrat"/>
                <a:ea typeface="Montserrat"/>
                <a:cs typeface="Montserrat"/>
                <a:sym typeface="Montserrat"/>
              </a:rPr>
              <a:t>DAX (Data Analysis Expressions) là ngôn ngữ công thức được dùng để tạo ra </a:t>
            </a:r>
            <a:r>
              <a:rPr b="1" lang="en-US" sz="3000">
                <a:solidFill>
                  <a:schemeClr val="dk1"/>
                </a:solidFill>
                <a:latin typeface="Montserrat"/>
                <a:ea typeface="Montserrat"/>
                <a:cs typeface="Montserrat"/>
                <a:sym typeface="Montserrat"/>
              </a:rPr>
              <a:t>Calculated Columns</a:t>
            </a:r>
            <a:r>
              <a:rPr lang="en-US" sz="3000">
                <a:solidFill>
                  <a:schemeClr val="dk1"/>
                </a:solidFill>
                <a:latin typeface="Montserrat"/>
                <a:ea typeface="Montserrat"/>
                <a:cs typeface="Montserrat"/>
                <a:sym typeface="Montserrat"/>
              </a:rPr>
              <a:t>, </a:t>
            </a:r>
            <a:r>
              <a:rPr b="1" lang="en-US" sz="3000">
                <a:solidFill>
                  <a:schemeClr val="dk1"/>
                </a:solidFill>
                <a:latin typeface="Montserrat"/>
                <a:ea typeface="Montserrat"/>
                <a:cs typeface="Montserrat"/>
                <a:sym typeface="Montserrat"/>
              </a:rPr>
              <a:t>Measures</a:t>
            </a:r>
            <a:r>
              <a:rPr lang="en-US" sz="3000">
                <a:solidFill>
                  <a:schemeClr val="dk1"/>
                </a:solidFill>
                <a:latin typeface="Montserrat"/>
                <a:ea typeface="Montserrat"/>
                <a:cs typeface="Montserrat"/>
                <a:sym typeface="Montserrat"/>
              </a:rPr>
              <a:t>, và </a:t>
            </a:r>
            <a:r>
              <a:rPr b="1" lang="en-US" sz="3000">
                <a:solidFill>
                  <a:schemeClr val="dk1"/>
                </a:solidFill>
                <a:latin typeface="Montserrat"/>
                <a:ea typeface="Montserrat"/>
                <a:cs typeface="Montserrat"/>
                <a:sym typeface="Montserrat"/>
              </a:rPr>
              <a:t>Calculated Tables</a:t>
            </a:r>
            <a:endParaRPr b="1" sz="3000">
              <a:solidFill>
                <a:schemeClr val="dk1"/>
              </a:solidFill>
              <a:latin typeface="Montserrat"/>
              <a:ea typeface="Montserrat"/>
              <a:cs typeface="Montserrat"/>
              <a:sym typeface="Montserrat"/>
            </a:endParaRPr>
          </a:p>
        </p:txBody>
      </p:sp>
      <p:sp>
        <p:nvSpPr>
          <p:cNvPr id="325" name="Google Shape;325;g39afd2df374_4_18"/>
          <p:cNvSpPr txBox="1"/>
          <p:nvPr/>
        </p:nvSpPr>
        <p:spPr>
          <a:xfrm>
            <a:off x="751819" y="4820251"/>
            <a:ext cx="80916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t/>
            </a:r>
            <a:endParaRPr b="0" i="0" sz="3600" u="none" cap="none" strike="noStrike">
              <a:solidFill>
                <a:schemeClr val="dk1"/>
              </a:solidFill>
              <a:latin typeface="Montserrat"/>
              <a:ea typeface="Montserrat"/>
              <a:cs typeface="Montserrat"/>
              <a:sym typeface="Montserrat"/>
            </a:endParaRPr>
          </a:p>
        </p:txBody>
      </p:sp>
      <p:sp>
        <p:nvSpPr>
          <p:cNvPr id="326" name="Google Shape;326;g39afd2df374_4_18"/>
          <p:cNvSpPr txBox="1"/>
          <p:nvPr/>
        </p:nvSpPr>
        <p:spPr>
          <a:xfrm>
            <a:off x="751825" y="4820250"/>
            <a:ext cx="10074000" cy="1886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3600">
                <a:solidFill>
                  <a:schemeClr val="accent2"/>
                </a:solidFill>
                <a:latin typeface="Montserrat"/>
                <a:ea typeface="Montserrat"/>
                <a:cs typeface="Montserrat"/>
                <a:sym typeface="Montserrat"/>
              </a:rPr>
              <a:t>Mục đích</a:t>
            </a:r>
            <a:endParaRPr sz="3000">
              <a:solidFill>
                <a:schemeClr val="dk1"/>
              </a:solidFill>
              <a:latin typeface="Montserrat"/>
              <a:ea typeface="Montserrat"/>
              <a:cs typeface="Montserrat"/>
              <a:sym typeface="Montserrat"/>
            </a:endParaRPr>
          </a:p>
          <a:p>
            <a:pPr indent="0" lvl="0" marL="0" rtl="0" algn="l">
              <a:spcBef>
                <a:spcPts val="0"/>
              </a:spcBef>
              <a:spcAft>
                <a:spcPts val="0"/>
              </a:spcAft>
              <a:buNone/>
            </a:pPr>
            <a:r>
              <a:rPr lang="en-US" sz="3000">
                <a:solidFill>
                  <a:schemeClr val="dk1"/>
                </a:solidFill>
                <a:latin typeface="Montserrat"/>
                <a:ea typeface="Montserrat"/>
                <a:cs typeface="Montserrat"/>
                <a:sym typeface="Montserrat"/>
              </a:rPr>
              <a:t>Giúp tạo ra thông tin mới từ dữ liệu đã có trong mô hình dữ liệu (data model).</a:t>
            </a:r>
            <a:endParaRPr b="1" sz="30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2"/>
                                        </p:tgtEl>
                                        <p:attrNameLst>
                                          <p:attrName>style.visibility</p:attrName>
                                        </p:attrNameLst>
                                      </p:cBhvr>
                                      <p:to>
                                        <p:strVal val="visible"/>
                                      </p:to>
                                    </p:set>
                                    <p:anim calcmode="lin" valueType="num">
                                      <p:cBhvr additive="base">
                                        <p:cTn dur="500"/>
                                        <p:tgtEl>
                                          <p:spTgt spid="322"/>
                                        </p:tgtEl>
                                        <p:attrNameLst>
                                          <p:attrName>ppt_w</p:attrName>
                                        </p:attrNameLst>
                                      </p:cBhvr>
                                      <p:tavLst>
                                        <p:tav fmla="" tm="0">
                                          <p:val>
                                            <p:strVal val="0"/>
                                          </p:val>
                                        </p:tav>
                                        <p:tav fmla="" tm="100000">
                                          <p:val>
                                            <p:strVal val="#ppt_w"/>
                                          </p:val>
                                        </p:tav>
                                      </p:tavLst>
                                    </p:anim>
                                    <p:anim calcmode="lin" valueType="num">
                                      <p:cBhvr additive="base">
                                        <p:cTn dur="500"/>
                                        <p:tgtEl>
                                          <p:spTgt spid="32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p13"/>
          <p:cNvPicPr preferRelativeResize="0"/>
          <p:nvPr/>
        </p:nvPicPr>
        <p:blipFill rotWithShape="1">
          <a:blip r:embed="rId3">
            <a:alphaModFix/>
          </a:blip>
          <a:srcRect b="0" l="0" r="0" t="0"/>
          <a:stretch/>
        </p:blipFill>
        <p:spPr>
          <a:xfrm>
            <a:off x="10790895" y="9608158"/>
            <a:ext cx="7332981" cy="452200"/>
          </a:xfrm>
          <a:prstGeom prst="rect">
            <a:avLst/>
          </a:prstGeom>
          <a:noFill/>
          <a:ln>
            <a:noFill/>
          </a:ln>
        </p:spPr>
      </p:pic>
      <p:grpSp>
        <p:nvGrpSpPr>
          <p:cNvPr id="332" name="Google Shape;332;p13"/>
          <p:cNvGrpSpPr/>
          <p:nvPr/>
        </p:nvGrpSpPr>
        <p:grpSpPr>
          <a:xfrm>
            <a:off x="0" y="-113688"/>
            <a:ext cx="3750498" cy="736991"/>
            <a:chOff x="0" y="-38100"/>
            <a:chExt cx="1256901" cy="246987"/>
          </a:xfrm>
        </p:grpSpPr>
        <p:sp>
          <p:nvSpPr>
            <p:cNvPr id="333" name="Google Shape;333;p13"/>
            <p:cNvSpPr/>
            <p:nvPr/>
          </p:nvSpPr>
          <p:spPr>
            <a:xfrm>
              <a:off x="0" y="0"/>
              <a:ext cx="1256901" cy="208887"/>
            </a:xfrm>
            <a:custGeom>
              <a:rect b="b" l="l" r="r" t="t"/>
              <a:pathLst>
                <a:path extrusionOk="0" h="208887" w="1256901">
                  <a:moveTo>
                    <a:pt x="0" y="0"/>
                  </a:moveTo>
                  <a:lnTo>
                    <a:pt x="1256901" y="0"/>
                  </a:lnTo>
                  <a:lnTo>
                    <a:pt x="1256901" y="208887"/>
                  </a:lnTo>
                  <a:lnTo>
                    <a:pt x="0" y="208887"/>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13"/>
            <p:cNvSpPr txBox="1"/>
            <p:nvPr/>
          </p:nvSpPr>
          <p:spPr>
            <a:xfrm>
              <a:off x="0" y="-38100"/>
              <a:ext cx="1256901" cy="24698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335" name="Google Shape;335;p13"/>
          <p:cNvPicPr preferRelativeResize="0"/>
          <p:nvPr/>
        </p:nvPicPr>
        <p:blipFill rotWithShape="1">
          <a:blip r:embed="rId4">
            <a:alphaModFix/>
          </a:blip>
          <a:srcRect b="0" l="0" r="0" t="0"/>
          <a:stretch/>
        </p:blipFill>
        <p:spPr>
          <a:xfrm flipH="1">
            <a:off x="918100" y="-460028"/>
            <a:ext cx="315975" cy="2166685"/>
          </a:xfrm>
          <a:prstGeom prst="rect">
            <a:avLst/>
          </a:prstGeom>
          <a:noFill/>
          <a:ln>
            <a:noFill/>
          </a:ln>
        </p:spPr>
      </p:pic>
      <p:sp>
        <p:nvSpPr>
          <p:cNvPr id="336" name="Google Shape;336;p13"/>
          <p:cNvSpPr txBox="1"/>
          <p:nvPr/>
        </p:nvSpPr>
        <p:spPr>
          <a:xfrm>
            <a:off x="2305050" y="566799"/>
            <a:ext cx="13504800" cy="2438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5"/>
                </a:solidFill>
                <a:latin typeface="Montserrat"/>
                <a:ea typeface="Montserrat"/>
                <a:cs typeface="Montserrat"/>
                <a:sym typeface="Montserrat"/>
              </a:rPr>
              <a:t>Vai trò cốt lỗi của DAX trong phân tích dữ liệu</a:t>
            </a:r>
            <a:endParaRPr b="1" i="0" sz="7200" u="none" cap="none" strike="noStrike">
              <a:solidFill>
                <a:schemeClr val="accent5"/>
              </a:solidFill>
              <a:latin typeface="Montserrat"/>
              <a:ea typeface="Montserrat"/>
              <a:cs typeface="Montserrat"/>
              <a:sym typeface="Montserrat"/>
            </a:endParaRPr>
          </a:p>
        </p:txBody>
      </p:sp>
      <p:grpSp>
        <p:nvGrpSpPr>
          <p:cNvPr id="337" name="Google Shape;337;p13"/>
          <p:cNvGrpSpPr/>
          <p:nvPr/>
        </p:nvGrpSpPr>
        <p:grpSpPr>
          <a:xfrm>
            <a:off x="703118" y="3568165"/>
            <a:ext cx="17091943" cy="4335126"/>
            <a:chOff x="6431" y="3341523"/>
            <a:chExt cx="17091943" cy="4335126"/>
          </a:xfrm>
        </p:grpSpPr>
        <p:sp>
          <p:nvSpPr>
            <p:cNvPr id="338" name="Google Shape;338;p13"/>
            <p:cNvSpPr/>
            <p:nvPr/>
          </p:nvSpPr>
          <p:spPr>
            <a:xfrm>
              <a:off x="6431" y="3341523"/>
              <a:ext cx="3866955" cy="154678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txBox="1"/>
            <p:nvPr/>
          </p:nvSpPr>
          <p:spPr>
            <a:xfrm>
              <a:off x="6431" y="3341523"/>
              <a:ext cx="3866955" cy="1546782"/>
            </a:xfrm>
            <a:prstGeom prst="rect">
              <a:avLst/>
            </a:prstGeom>
            <a:noFill/>
            <a:ln>
              <a:noFill/>
            </a:ln>
          </p:spPr>
          <p:txBody>
            <a:bodyPr anchorCtr="0" anchor="ctr" bIns="264150" lIns="462275" spcFirstLastPara="1" rIns="462275" wrap="square" tIns="264150">
              <a:noAutofit/>
            </a:bodyPr>
            <a:lstStyle/>
            <a:p>
              <a:pPr indent="0" lvl="0" marL="0" marR="0" rtl="0" algn="ctr">
                <a:lnSpc>
                  <a:spcPct val="90000"/>
                </a:lnSpc>
                <a:spcBef>
                  <a:spcPts val="0"/>
                </a:spcBef>
                <a:spcAft>
                  <a:spcPts val="0"/>
                </a:spcAft>
                <a:buClr>
                  <a:srgbClr val="000000"/>
                </a:buClr>
                <a:buSzPts val="6500"/>
                <a:buFont typeface="Arial"/>
                <a:buNone/>
              </a:pPr>
              <a:r>
                <a:rPr b="1" lang="en-US" sz="3000">
                  <a:solidFill>
                    <a:schemeClr val="lt1"/>
                  </a:solidFill>
                  <a:latin typeface="Montserrat"/>
                  <a:ea typeface="Montserrat"/>
                  <a:cs typeface="Montserrat"/>
                  <a:sym typeface="Montserrat"/>
                </a:rPr>
                <a:t>Tính toán tự động</a:t>
              </a:r>
              <a:endParaRPr b="1" i="0" sz="3000" u="none" cap="none" strike="noStrike">
                <a:solidFill>
                  <a:schemeClr val="lt1"/>
                </a:solidFill>
                <a:latin typeface="Montserrat"/>
                <a:ea typeface="Montserrat"/>
                <a:cs typeface="Montserrat"/>
                <a:sym typeface="Montserrat"/>
              </a:endParaRPr>
            </a:p>
          </p:txBody>
        </p:sp>
        <p:sp>
          <p:nvSpPr>
            <p:cNvPr id="340" name="Google Shape;340;p13"/>
            <p:cNvSpPr/>
            <p:nvPr/>
          </p:nvSpPr>
          <p:spPr>
            <a:xfrm>
              <a:off x="6431" y="4821849"/>
              <a:ext cx="3866955" cy="2854800"/>
            </a:xfrm>
            <a:prstGeom prst="rect">
              <a:avLst/>
            </a:prstGeom>
            <a:solidFill>
              <a:srgbClr val="FBD0CE">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3"/>
            <p:cNvSpPr txBox="1"/>
            <p:nvPr/>
          </p:nvSpPr>
          <p:spPr>
            <a:xfrm>
              <a:off x="6431" y="4821849"/>
              <a:ext cx="3866955" cy="2854800"/>
            </a:xfrm>
            <a:prstGeom prst="rect">
              <a:avLst/>
            </a:prstGeom>
            <a:noFill/>
            <a:ln>
              <a:noFill/>
            </a:ln>
          </p:spPr>
          <p:txBody>
            <a:bodyPr anchorCtr="0" anchor="t" bIns="256025" lIns="170675" spcFirstLastPara="1" rIns="227575" wrap="square" tIns="170675">
              <a:noAutofit/>
            </a:bodyPr>
            <a:lstStyle/>
            <a:p>
              <a:pPr indent="0" lvl="1"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Montserrat"/>
                <a:ea typeface="Montserrat"/>
                <a:cs typeface="Montserrat"/>
                <a:sym typeface="Montserrat"/>
              </a:endParaRPr>
            </a:p>
          </p:txBody>
        </p:sp>
        <p:sp>
          <p:nvSpPr>
            <p:cNvPr id="342" name="Google Shape;342;p13"/>
            <p:cNvSpPr/>
            <p:nvPr/>
          </p:nvSpPr>
          <p:spPr>
            <a:xfrm>
              <a:off x="4414760" y="3341523"/>
              <a:ext cx="3866955" cy="1546782"/>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txBox="1"/>
            <p:nvPr/>
          </p:nvSpPr>
          <p:spPr>
            <a:xfrm>
              <a:off x="4414760" y="3341523"/>
              <a:ext cx="3866955" cy="1546782"/>
            </a:xfrm>
            <a:prstGeom prst="rect">
              <a:avLst/>
            </a:prstGeom>
            <a:noFill/>
            <a:ln>
              <a:noFill/>
            </a:ln>
          </p:spPr>
          <p:txBody>
            <a:bodyPr anchorCtr="0" anchor="ctr" bIns="264150" lIns="462275" spcFirstLastPara="1" rIns="462275" wrap="square" tIns="264150">
              <a:noAutofit/>
            </a:bodyPr>
            <a:lstStyle/>
            <a:p>
              <a:pPr indent="0" lvl="0" marL="0" marR="0" rtl="0" algn="ctr">
                <a:lnSpc>
                  <a:spcPct val="90000"/>
                </a:lnSpc>
                <a:spcBef>
                  <a:spcPts val="0"/>
                </a:spcBef>
                <a:spcAft>
                  <a:spcPts val="0"/>
                </a:spcAft>
                <a:buClr>
                  <a:srgbClr val="000000"/>
                </a:buClr>
                <a:buSzPts val="6500"/>
                <a:buFont typeface="Arial"/>
                <a:buNone/>
              </a:pPr>
              <a:r>
                <a:rPr b="1" lang="en-US" sz="3000">
                  <a:solidFill>
                    <a:schemeClr val="lt1"/>
                  </a:solidFill>
                  <a:latin typeface="Montserrat"/>
                  <a:ea typeface="Montserrat"/>
                  <a:cs typeface="Montserrat"/>
                  <a:sym typeface="Montserrat"/>
                </a:rPr>
                <a:t>Tạo chỉ số KPI</a:t>
              </a:r>
              <a:endParaRPr b="1" i="0" sz="3000" u="none" cap="none" strike="noStrike">
                <a:solidFill>
                  <a:schemeClr val="lt1"/>
                </a:solidFill>
                <a:latin typeface="Montserrat"/>
                <a:ea typeface="Montserrat"/>
                <a:cs typeface="Montserrat"/>
                <a:sym typeface="Montserrat"/>
              </a:endParaRPr>
            </a:p>
          </p:txBody>
        </p:sp>
        <p:sp>
          <p:nvSpPr>
            <p:cNvPr id="344" name="Google Shape;344;p13"/>
            <p:cNvSpPr/>
            <p:nvPr/>
          </p:nvSpPr>
          <p:spPr>
            <a:xfrm>
              <a:off x="4414760" y="4821849"/>
              <a:ext cx="3866955" cy="2854800"/>
            </a:xfrm>
            <a:prstGeom prst="rect">
              <a:avLst/>
            </a:prstGeom>
            <a:solidFill>
              <a:srgbClr val="D6DDF0">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txBox="1"/>
            <p:nvPr/>
          </p:nvSpPr>
          <p:spPr>
            <a:xfrm>
              <a:off x="4414760" y="4821849"/>
              <a:ext cx="3866955" cy="2854800"/>
            </a:xfrm>
            <a:prstGeom prst="rect">
              <a:avLst/>
            </a:prstGeom>
            <a:noFill/>
            <a:ln>
              <a:noFill/>
            </a:ln>
          </p:spPr>
          <p:txBody>
            <a:bodyPr anchorCtr="0" anchor="t" bIns="256025" lIns="170675" spcFirstLastPara="1" rIns="227575" wrap="square" tIns="170675">
              <a:noAutofit/>
            </a:bodyPr>
            <a:lstStyle/>
            <a:p>
              <a:pPr indent="0" lvl="1"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Montserrat"/>
                <a:ea typeface="Montserrat"/>
                <a:cs typeface="Montserrat"/>
                <a:sym typeface="Montserrat"/>
              </a:endParaRPr>
            </a:p>
          </p:txBody>
        </p:sp>
        <p:sp>
          <p:nvSpPr>
            <p:cNvPr id="346" name="Google Shape;346;p13"/>
            <p:cNvSpPr/>
            <p:nvPr/>
          </p:nvSpPr>
          <p:spPr>
            <a:xfrm>
              <a:off x="8823089" y="3341523"/>
              <a:ext cx="3866955" cy="154678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3"/>
            <p:cNvSpPr txBox="1"/>
            <p:nvPr/>
          </p:nvSpPr>
          <p:spPr>
            <a:xfrm>
              <a:off x="8823089" y="3341523"/>
              <a:ext cx="3866955" cy="1546782"/>
            </a:xfrm>
            <a:prstGeom prst="rect">
              <a:avLst/>
            </a:prstGeom>
            <a:noFill/>
            <a:ln>
              <a:noFill/>
            </a:ln>
          </p:spPr>
          <p:txBody>
            <a:bodyPr anchorCtr="0" anchor="ctr" bIns="264150" lIns="462275" spcFirstLastPara="1" rIns="462275" wrap="square" tIns="264150">
              <a:noAutofit/>
            </a:bodyPr>
            <a:lstStyle/>
            <a:p>
              <a:pPr indent="0" lvl="0" marL="0" marR="0" rtl="0" algn="ctr">
                <a:lnSpc>
                  <a:spcPct val="90000"/>
                </a:lnSpc>
                <a:spcBef>
                  <a:spcPts val="0"/>
                </a:spcBef>
                <a:spcAft>
                  <a:spcPts val="0"/>
                </a:spcAft>
                <a:buClr>
                  <a:srgbClr val="000000"/>
                </a:buClr>
                <a:buSzPts val="6500"/>
                <a:buFont typeface="Arial"/>
                <a:buNone/>
              </a:pPr>
              <a:r>
                <a:rPr b="1" lang="en-US" sz="3000">
                  <a:solidFill>
                    <a:schemeClr val="lt1"/>
                  </a:solidFill>
                  <a:latin typeface="Montserrat"/>
                  <a:ea typeface="Montserrat"/>
                  <a:cs typeface="Montserrat"/>
                  <a:sym typeface="Montserrat"/>
                </a:rPr>
                <a:t>Phân tích theo thời gian</a:t>
              </a:r>
              <a:endParaRPr b="1" i="0" sz="3000" u="none" cap="none" strike="noStrike">
                <a:solidFill>
                  <a:schemeClr val="lt1"/>
                </a:solidFill>
                <a:latin typeface="Montserrat"/>
                <a:ea typeface="Montserrat"/>
                <a:cs typeface="Montserrat"/>
                <a:sym typeface="Montserrat"/>
              </a:endParaRPr>
            </a:p>
          </p:txBody>
        </p:sp>
        <p:sp>
          <p:nvSpPr>
            <p:cNvPr id="348" name="Google Shape;348;p13"/>
            <p:cNvSpPr/>
            <p:nvPr/>
          </p:nvSpPr>
          <p:spPr>
            <a:xfrm>
              <a:off x="8823089" y="4821849"/>
              <a:ext cx="3866955" cy="2854800"/>
            </a:xfrm>
            <a:prstGeom prst="rect">
              <a:avLst/>
            </a:prstGeom>
            <a:solidFill>
              <a:srgbClr val="FBD0CE">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txBox="1"/>
            <p:nvPr/>
          </p:nvSpPr>
          <p:spPr>
            <a:xfrm>
              <a:off x="8823089" y="4821849"/>
              <a:ext cx="3866955" cy="2854800"/>
            </a:xfrm>
            <a:prstGeom prst="rect">
              <a:avLst/>
            </a:prstGeom>
            <a:noFill/>
            <a:ln>
              <a:noFill/>
            </a:ln>
          </p:spPr>
          <p:txBody>
            <a:bodyPr anchorCtr="0" anchor="t" bIns="256025" lIns="170675" spcFirstLastPara="1" rIns="227575" wrap="square" tIns="170675">
              <a:noAutofit/>
            </a:bodyPr>
            <a:lstStyle/>
            <a:p>
              <a:pPr indent="0" lvl="1"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Montserrat"/>
                <a:ea typeface="Montserrat"/>
                <a:cs typeface="Montserrat"/>
                <a:sym typeface="Montserrat"/>
              </a:endParaRPr>
            </a:p>
          </p:txBody>
        </p:sp>
        <p:sp>
          <p:nvSpPr>
            <p:cNvPr id="350" name="Google Shape;350;p13"/>
            <p:cNvSpPr/>
            <p:nvPr/>
          </p:nvSpPr>
          <p:spPr>
            <a:xfrm>
              <a:off x="13231419" y="3341523"/>
              <a:ext cx="3866955" cy="1546782"/>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txBox="1"/>
            <p:nvPr/>
          </p:nvSpPr>
          <p:spPr>
            <a:xfrm>
              <a:off x="13231419" y="3341523"/>
              <a:ext cx="3866955" cy="1546782"/>
            </a:xfrm>
            <a:prstGeom prst="rect">
              <a:avLst/>
            </a:prstGeom>
            <a:noFill/>
            <a:ln>
              <a:noFill/>
            </a:ln>
          </p:spPr>
          <p:txBody>
            <a:bodyPr anchorCtr="0" anchor="ctr" bIns="264150" lIns="462275" spcFirstLastPara="1" rIns="462275" wrap="square" tIns="264150">
              <a:noAutofit/>
            </a:bodyPr>
            <a:lstStyle/>
            <a:p>
              <a:pPr indent="0" lvl="0" marL="0" marR="0" rtl="0" algn="ctr">
                <a:lnSpc>
                  <a:spcPct val="90000"/>
                </a:lnSpc>
                <a:spcBef>
                  <a:spcPts val="0"/>
                </a:spcBef>
                <a:spcAft>
                  <a:spcPts val="0"/>
                </a:spcAft>
                <a:buClr>
                  <a:srgbClr val="000000"/>
                </a:buClr>
                <a:buSzPts val="6500"/>
                <a:buFont typeface="Arial"/>
                <a:buNone/>
              </a:pPr>
              <a:r>
                <a:rPr b="1" lang="en-US" sz="3000">
                  <a:solidFill>
                    <a:schemeClr val="lt1"/>
                  </a:solidFill>
                  <a:latin typeface="Montserrat"/>
                  <a:ea typeface="Montserrat"/>
                  <a:cs typeface="Montserrat"/>
                  <a:sym typeface="Montserrat"/>
                </a:rPr>
                <a:t>Xây dựng mô hình dữ liệu phức tạp</a:t>
              </a:r>
              <a:endParaRPr b="1" i="0" sz="3000" u="none" cap="none" strike="noStrike">
                <a:solidFill>
                  <a:schemeClr val="lt1"/>
                </a:solidFill>
                <a:latin typeface="Montserrat"/>
                <a:ea typeface="Montserrat"/>
                <a:cs typeface="Montserrat"/>
                <a:sym typeface="Montserrat"/>
              </a:endParaRPr>
            </a:p>
          </p:txBody>
        </p:sp>
        <p:sp>
          <p:nvSpPr>
            <p:cNvPr id="352" name="Google Shape;352;p13"/>
            <p:cNvSpPr/>
            <p:nvPr/>
          </p:nvSpPr>
          <p:spPr>
            <a:xfrm>
              <a:off x="13231419" y="4821849"/>
              <a:ext cx="3866955" cy="2854800"/>
            </a:xfrm>
            <a:prstGeom prst="rect">
              <a:avLst/>
            </a:prstGeom>
            <a:solidFill>
              <a:srgbClr val="D6DDF0">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txBox="1"/>
            <p:nvPr/>
          </p:nvSpPr>
          <p:spPr>
            <a:xfrm>
              <a:off x="13231419" y="4821849"/>
              <a:ext cx="3866955" cy="2854800"/>
            </a:xfrm>
            <a:prstGeom prst="rect">
              <a:avLst/>
            </a:prstGeom>
            <a:noFill/>
            <a:ln>
              <a:noFill/>
            </a:ln>
          </p:spPr>
          <p:txBody>
            <a:bodyPr anchorCtr="0" anchor="t" bIns="256025" lIns="170675" spcFirstLastPara="1" rIns="227575" wrap="square" tIns="170675">
              <a:noAutofit/>
            </a:bodyPr>
            <a:lstStyle/>
            <a:p>
              <a:pPr indent="0" lvl="1"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grpSp>
      <p:pic>
        <p:nvPicPr>
          <p:cNvPr id="354" name="Google Shape;354;p13"/>
          <p:cNvPicPr preferRelativeResize="0"/>
          <p:nvPr/>
        </p:nvPicPr>
        <p:blipFill>
          <a:blip r:embed="rId5">
            <a:alphaModFix/>
          </a:blip>
          <a:stretch>
            <a:fillRect/>
          </a:stretch>
        </p:blipFill>
        <p:spPr>
          <a:xfrm>
            <a:off x="1234075" y="5389866"/>
            <a:ext cx="2852673" cy="2078909"/>
          </a:xfrm>
          <a:prstGeom prst="rect">
            <a:avLst/>
          </a:prstGeom>
          <a:noFill/>
          <a:ln>
            <a:noFill/>
          </a:ln>
        </p:spPr>
      </p:pic>
      <p:pic>
        <p:nvPicPr>
          <p:cNvPr id="355" name="Google Shape;355;p13"/>
          <p:cNvPicPr preferRelativeResize="0"/>
          <p:nvPr/>
        </p:nvPicPr>
        <p:blipFill>
          <a:blip r:embed="rId6">
            <a:alphaModFix/>
          </a:blip>
          <a:stretch>
            <a:fillRect/>
          </a:stretch>
        </p:blipFill>
        <p:spPr>
          <a:xfrm>
            <a:off x="5192475" y="5447963"/>
            <a:ext cx="3750474" cy="1962725"/>
          </a:xfrm>
          <a:prstGeom prst="rect">
            <a:avLst/>
          </a:prstGeom>
          <a:noFill/>
          <a:ln>
            <a:noFill/>
          </a:ln>
        </p:spPr>
      </p:pic>
      <p:pic>
        <p:nvPicPr>
          <p:cNvPr id="356" name="Google Shape;356;p13"/>
          <p:cNvPicPr preferRelativeResize="0"/>
          <p:nvPr/>
        </p:nvPicPr>
        <p:blipFill>
          <a:blip r:embed="rId7">
            <a:alphaModFix/>
          </a:blip>
          <a:stretch>
            <a:fillRect/>
          </a:stretch>
        </p:blipFill>
        <p:spPr>
          <a:xfrm>
            <a:off x="10191500" y="5087600"/>
            <a:ext cx="2683450" cy="2815701"/>
          </a:xfrm>
          <a:prstGeom prst="rect">
            <a:avLst/>
          </a:prstGeom>
          <a:noFill/>
          <a:ln>
            <a:noFill/>
          </a:ln>
        </p:spPr>
      </p:pic>
      <p:pic>
        <p:nvPicPr>
          <p:cNvPr id="357" name="Google Shape;357;p13"/>
          <p:cNvPicPr preferRelativeResize="0"/>
          <p:nvPr/>
        </p:nvPicPr>
        <p:blipFill>
          <a:blip r:embed="rId8">
            <a:alphaModFix/>
          </a:blip>
          <a:stretch>
            <a:fillRect/>
          </a:stretch>
        </p:blipFill>
        <p:spPr>
          <a:xfrm>
            <a:off x="13933644" y="5447975"/>
            <a:ext cx="3861405" cy="2020800"/>
          </a:xfrm>
          <a:prstGeom prst="rect">
            <a:avLst/>
          </a:prstGeom>
          <a:noFill/>
          <a:ln>
            <a:noFill/>
          </a:ln>
        </p:spPr>
      </p:pic>
    </p:spTree>
  </p:cSld>
  <p:clrMapOvr>
    <a:masterClrMapping/>
  </p:clrMapOvr>
  <mc:AlternateContent>
    <mc:Choice Requires="p14">
      <p:transition spd="slow" p14:dur="900">
        <p14:flythrough dir="out" hasBounce="1"/>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6"/>
                                        </p:tgtEl>
                                        <p:attrNameLst>
                                          <p:attrName>style.visibility</p:attrName>
                                        </p:attrNameLst>
                                      </p:cBhvr>
                                      <p:to>
                                        <p:strVal val="visible"/>
                                      </p:to>
                                    </p:set>
                                    <p:anim calcmode="lin" valueType="num">
                                      <p:cBhvr additive="base">
                                        <p:cTn dur="500"/>
                                        <p:tgtEl>
                                          <p:spTgt spid="336"/>
                                        </p:tgtEl>
                                        <p:attrNameLst>
                                          <p:attrName>ppt_w</p:attrName>
                                        </p:attrNameLst>
                                      </p:cBhvr>
                                      <p:tavLst>
                                        <p:tav fmla="" tm="0">
                                          <p:val>
                                            <p:strVal val="0"/>
                                          </p:val>
                                        </p:tav>
                                        <p:tav fmla="" tm="100000">
                                          <p:val>
                                            <p:strVal val="#ppt_w"/>
                                          </p:val>
                                        </p:tav>
                                      </p:tavLst>
                                    </p:anim>
                                    <p:anim calcmode="lin" valueType="num">
                                      <p:cBhvr additive="base">
                                        <p:cTn dur="500"/>
                                        <p:tgtEl>
                                          <p:spTgt spid="33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39afd2df374_4_73"/>
          <p:cNvSpPr txBox="1"/>
          <p:nvPr/>
        </p:nvSpPr>
        <p:spPr>
          <a:xfrm>
            <a:off x="2305050" y="566795"/>
            <a:ext cx="13677900" cy="2438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Các thành phần chính của DAX</a:t>
            </a:r>
            <a:endParaRPr b="1" i="0" sz="7200" u="none" cap="none" strike="noStrike">
              <a:solidFill>
                <a:schemeClr val="accent2"/>
              </a:solidFill>
              <a:latin typeface="Montserrat"/>
              <a:ea typeface="Montserrat"/>
              <a:cs typeface="Montserrat"/>
              <a:sym typeface="Montserrat"/>
            </a:endParaRPr>
          </a:p>
        </p:txBody>
      </p:sp>
      <p:grpSp>
        <p:nvGrpSpPr>
          <p:cNvPr id="363" name="Google Shape;363;g39afd2df374_4_73"/>
          <p:cNvGrpSpPr/>
          <p:nvPr/>
        </p:nvGrpSpPr>
        <p:grpSpPr>
          <a:xfrm>
            <a:off x="0" y="9426322"/>
            <a:ext cx="18287843" cy="860673"/>
            <a:chOff x="0" y="-38100"/>
            <a:chExt cx="6128839" cy="288439"/>
          </a:xfrm>
        </p:grpSpPr>
        <p:sp>
          <p:nvSpPr>
            <p:cNvPr id="364" name="Google Shape;364;g39afd2df374_4_73"/>
            <p:cNvSpPr/>
            <p:nvPr/>
          </p:nvSpPr>
          <p:spPr>
            <a:xfrm>
              <a:off x="0" y="0"/>
              <a:ext cx="6128839" cy="250339"/>
            </a:xfrm>
            <a:custGeom>
              <a:rect b="b" l="l" r="r" t="t"/>
              <a:pathLst>
                <a:path extrusionOk="0" h="250339" w="6128839">
                  <a:moveTo>
                    <a:pt x="0" y="0"/>
                  </a:moveTo>
                  <a:lnTo>
                    <a:pt x="6128839" y="0"/>
                  </a:lnTo>
                  <a:lnTo>
                    <a:pt x="6128839" y="250339"/>
                  </a:lnTo>
                  <a:lnTo>
                    <a:pt x="0" y="250339"/>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g39afd2df374_4_73"/>
            <p:cNvSpPr txBox="1"/>
            <p:nvPr/>
          </p:nvSpPr>
          <p:spPr>
            <a:xfrm>
              <a:off x="0" y="-38100"/>
              <a:ext cx="6128700" cy="288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366" name="Google Shape;366;g39afd2df374_4_73"/>
          <p:cNvPicPr preferRelativeResize="0"/>
          <p:nvPr/>
        </p:nvPicPr>
        <p:blipFill rotWithShape="1">
          <a:blip r:embed="rId3">
            <a:alphaModFix/>
          </a:blip>
          <a:srcRect b="0" l="0" r="0" t="0"/>
          <a:stretch/>
        </p:blipFill>
        <p:spPr>
          <a:xfrm>
            <a:off x="728375" y="410074"/>
            <a:ext cx="353625" cy="2459996"/>
          </a:xfrm>
          <a:prstGeom prst="rect">
            <a:avLst/>
          </a:prstGeom>
          <a:noFill/>
          <a:ln>
            <a:noFill/>
          </a:ln>
        </p:spPr>
      </p:pic>
      <p:pic>
        <p:nvPicPr>
          <p:cNvPr id="367" name="Google Shape;367;g39afd2df374_4_73"/>
          <p:cNvPicPr preferRelativeResize="0"/>
          <p:nvPr/>
        </p:nvPicPr>
        <p:blipFill rotWithShape="1">
          <a:blip r:embed="rId4">
            <a:alphaModFix/>
          </a:blip>
          <a:srcRect b="0" l="0" r="0" t="0"/>
          <a:stretch/>
        </p:blipFill>
        <p:spPr>
          <a:xfrm>
            <a:off x="-1513655" y="9273925"/>
            <a:ext cx="7332975" cy="452200"/>
          </a:xfrm>
          <a:prstGeom prst="rect">
            <a:avLst/>
          </a:prstGeom>
          <a:noFill/>
          <a:ln>
            <a:noFill/>
          </a:ln>
        </p:spPr>
      </p:pic>
      <p:pic>
        <p:nvPicPr>
          <p:cNvPr id="368" name="Google Shape;368;g39afd2df374_4_73"/>
          <p:cNvPicPr preferRelativeResize="0"/>
          <p:nvPr/>
        </p:nvPicPr>
        <p:blipFill rotWithShape="1">
          <a:blip r:embed="rId5">
            <a:alphaModFix/>
          </a:blip>
          <a:srcRect b="0" l="0" r="0" t="0"/>
          <a:stretch/>
        </p:blipFill>
        <p:spPr>
          <a:xfrm>
            <a:off x="16925699" y="1997445"/>
            <a:ext cx="940575" cy="872625"/>
          </a:xfrm>
          <a:prstGeom prst="rect">
            <a:avLst/>
          </a:prstGeom>
          <a:noFill/>
          <a:ln>
            <a:noFill/>
          </a:ln>
        </p:spPr>
      </p:pic>
      <p:sp>
        <p:nvSpPr>
          <p:cNvPr id="369" name="Google Shape;369;g39afd2df374_4_73"/>
          <p:cNvSpPr/>
          <p:nvPr/>
        </p:nvSpPr>
        <p:spPr>
          <a:xfrm>
            <a:off x="728363" y="3931944"/>
            <a:ext cx="3735600" cy="23469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000">
                <a:solidFill>
                  <a:schemeClr val="lt1"/>
                </a:solidFill>
                <a:latin typeface="Montserrat"/>
                <a:ea typeface="Montserrat"/>
                <a:cs typeface="Montserrat"/>
                <a:sym typeface="Montserrat"/>
              </a:rPr>
              <a:t>Hàm (Functions)</a:t>
            </a:r>
            <a:endParaRPr i="0" sz="3000" u="none" cap="none" strike="noStrike">
              <a:solidFill>
                <a:schemeClr val="lt1"/>
              </a:solidFill>
              <a:latin typeface="Montserrat"/>
              <a:ea typeface="Montserrat"/>
              <a:cs typeface="Montserrat"/>
              <a:sym typeface="Montserrat"/>
            </a:endParaRPr>
          </a:p>
        </p:txBody>
      </p:sp>
      <p:sp>
        <p:nvSpPr>
          <p:cNvPr id="370" name="Google Shape;370;g39afd2df374_4_73"/>
          <p:cNvSpPr/>
          <p:nvPr/>
        </p:nvSpPr>
        <p:spPr>
          <a:xfrm>
            <a:off x="5061072" y="3931944"/>
            <a:ext cx="3735600" cy="23469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000">
                <a:solidFill>
                  <a:schemeClr val="lt1"/>
                </a:solidFill>
                <a:latin typeface="Montserrat"/>
                <a:ea typeface="Montserrat"/>
                <a:cs typeface="Montserrat"/>
                <a:sym typeface="Montserrat"/>
              </a:rPr>
              <a:t>Toán tử (Operators)</a:t>
            </a:r>
            <a:endParaRPr i="0" sz="3000" u="none" cap="none" strike="noStrike">
              <a:solidFill>
                <a:schemeClr val="lt1"/>
              </a:solidFill>
              <a:latin typeface="Montserrat"/>
              <a:ea typeface="Montserrat"/>
              <a:cs typeface="Montserrat"/>
              <a:sym typeface="Montserrat"/>
            </a:endParaRPr>
          </a:p>
        </p:txBody>
      </p:sp>
      <p:sp>
        <p:nvSpPr>
          <p:cNvPr id="371" name="Google Shape;371;g39afd2df374_4_73"/>
          <p:cNvSpPr/>
          <p:nvPr/>
        </p:nvSpPr>
        <p:spPr>
          <a:xfrm>
            <a:off x="9393781" y="3931944"/>
            <a:ext cx="3735600" cy="23469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000">
                <a:solidFill>
                  <a:schemeClr val="lt1"/>
                </a:solidFill>
                <a:latin typeface="Montserrat"/>
                <a:ea typeface="Montserrat"/>
                <a:cs typeface="Montserrat"/>
                <a:sym typeface="Montserrat"/>
              </a:rPr>
              <a:t>Giá trị/Hằng số (Values/Constants)</a:t>
            </a:r>
            <a:endParaRPr i="0" sz="3000" u="none" cap="none" strike="noStrike">
              <a:solidFill>
                <a:schemeClr val="lt1"/>
              </a:solidFill>
              <a:latin typeface="Montserrat"/>
              <a:ea typeface="Montserrat"/>
              <a:cs typeface="Montserrat"/>
              <a:sym typeface="Montserrat"/>
            </a:endParaRPr>
          </a:p>
        </p:txBody>
      </p:sp>
      <p:sp>
        <p:nvSpPr>
          <p:cNvPr id="372" name="Google Shape;372;g39afd2df374_4_73"/>
          <p:cNvSpPr/>
          <p:nvPr/>
        </p:nvSpPr>
        <p:spPr>
          <a:xfrm>
            <a:off x="13726465" y="3970044"/>
            <a:ext cx="3735600" cy="23469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000">
                <a:solidFill>
                  <a:schemeClr val="lt1"/>
                </a:solidFill>
                <a:latin typeface="Montserrat"/>
                <a:ea typeface="Montserrat"/>
                <a:cs typeface="Montserrat"/>
                <a:sym typeface="Montserrat"/>
              </a:rPr>
              <a:t>Tham chiếu (References)</a:t>
            </a:r>
            <a:endParaRPr i="0" sz="3000" u="none" cap="none" strike="noStrike">
              <a:solidFill>
                <a:schemeClr val="lt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2"/>
                                        </p:tgtEl>
                                        <p:attrNameLst>
                                          <p:attrName>style.visibility</p:attrName>
                                        </p:attrNameLst>
                                      </p:cBhvr>
                                      <p:to>
                                        <p:strVal val="visible"/>
                                      </p:to>
                                    </p:set>
                                    <p:anim calcmode="lin" valueType="num">
                                      <p:cBhvr additive="base">
                                        <p:cTn dur="500"/>
                                        <p:tgtEl>
                                          <p:spTgt spid="362"/>
                                        </p:tgtEl>
                                        <p:attrNameLst>
                                          <p:attrName>ppt_w</p:attrName>
                                        </p:attrNameLst>
                                      </p:cBhvr>
                                      <p:tavLst>
                                        <p:tav fmla="" tm="0">
                                          <p:val>
                                            <p:strVal val="0"/>
                                          </p:val>
                                        </p:tav>
                                        <p:tav fmla="" tm="100000">
                                          <p:val>
                                            <p:strVal val="#ppt_w"/>
                                          </p:val>
                                        </p:tav>
                                      </p:tavLst>
                                    </p:anim>
                                    <p:anim calcmode="lin" valueType="num">
                                      <p:cBhvr additive="base">
                                        <p:cTn dur="500"/>
                                        <p:tgtEl>
                                          <p:spTgt spid="362"/>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369"/>
                                        </p:tgtEl>
                                        <p:attrNameLst>
                                          <p:attrName>style.visibility</p:attrName>
                                        </p:attrNameLst>
                                      </p:cBhvr>
                                      <p:to>
                                        <p:strVal val="visible"/>
                                      </p:to>
                                    </p:set>
                                    <p:anim calcmode="lin" valueType="num">
                                      <p:cBhvr additive="base">
                                        <p:cTn dur="500"/>
                                        <p:tgtEl>
                                          <p:spTgt spid="369"/>
                                        </p:tgtEl>
                                        <p:attrNameLst>
                                          <p:attrName>ppt_w</p:attrName>
                                        </p:attrNameLst>
                                      </p:cBhvr>
                                      <p:tavLst>
                                        <p:tav fmla="" tm="0">
                                          <p:val>
                                            <p:strVal val="0"/>
                                          </p:val>
                                        </p:tav>
                                        <p:tav fmla="" tm="100000">
                                          <p:val>
                                            <p:strVal val="#ppt_w"/>
                                          </p:val>
                                        </p:tav>
                                      </p:tavLst>
                                    </p:anim>
                                    <p:anim calcmode="lin" valueType="num">
                                      <p:cBhvr additive="base">
                                        <p:cTn dur="500"/>
                                        <p:tgtEl>
                                          <p:spTgt spid="36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50"/>
                                  </p:stCondLst>
                                  <p:childTnLst>
                                    <p:set>
                                      <p:cBhvr>
                                        <p:cTn dur="1" fill="hold">
                                          <p:stCondLst>
                                            <p:cond delay="0"/>
                                          </p:stCondLst>
                                        </p:cTn>
                                        <p:tgtEl>
                                          <p:spTgt spid="370"/>
                                        </p:tgtEl>
                                        <p:attrNameLst>
                                          <p:attrName>style.visibility</p:attrName>
                                        </p:attrNameLst>
                                      </p:cBhvr>
                                      <p:to>
                                        <p:strVal val="visible"/>
                                      </p:to>
                                    </p:set>
                                    <p:anim calcmode="lin" valueType="num">
                                      <p:cBhvr additive="base">
                                        <p:cTn dur="500"/>
                                        <p:tgtEl>
                                          <p:spTgt spid="370"/>
                                        </p:tgtEl>
                                        <p:attrNameLst>
                                          <p:attrName>ppt_w</p:attrName>
                                        </p:attrNameLst>
                                      </p:cBhvr>
                                      <p:tavLst>
                                        <p:tav fmla="" tm="0">
                                          <p:val>
                                            <p:strVal val="0"/>
                                          </p:val>
                                        </p:tav>
                                        <p:tav fmla="" tm="100000">
                                          <p:val>
                                            <p:strVal val="#ppt_w"/>
                                          </p:val>
                                        </p:tav>
                                      </p:tavLst>
                                    </p:anim>
                                    <p:anim calcmode="lin" valueType="num">
                                      <p:cBhvr additive="base">
                                        <p:cTn dur="500"/>
                                        <p:tgtEl>
                                          <p:spTgt spid="37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371"/>
                                        </p:tgtEl>
                                        <p:attrNameLst>
                                          <p:attrName>style.visibility</p:attrName>
                                        </p:attrNameLst>
                                      </p:cBhvr>
                                      <p:to>
                                        <p:strVal val="visible"/>
                                      </p:to>
                                    </p:set>
                                    <p:anim calcmode="lin" valueType="num">
                                      <p:cBhvr additive="base">
                                        <p:cTn dur="500"/>
                                        <p:tgtEl>
                                          <p:spTgt spid="371"/>
                                        </p:tgtEl>
                                        <p:attrNameLst>
                                          <p:attrName>ppt_w</p:attrName>
                                        </p:attrNameLst>
                                      </p:cBhvr>
                                      <p:tavLst>
                                        <p:tav fmla="" tm="0">
                                          <p:val>
                                            <p:strVal val="0"/>
                                          </p:val>
                                        </p:tav>
                                        <p:tav fmla="" tm="100000">
                                          <p:val>
                                            <p:strVal val="#ppt_w"/>
                                          </p:val>
                                        </p:tav>
                                      </p:tavLst>
                                    </p:anim>
                                    <p:anim calcmode="lin" valueType="num">
                                      <p:cBhvr additive="base">
                                        <p:cTn dur="500"/>
                                        <p:tgtEl>
                                          <p:spTgt spid="37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750"/>
                                  </p:stCondLst>
                                  <p:childTnLst>
                                    <p:set>
                                      <p:cBhvr>
                                        <p:cTn dur="1" fill="hold">
                                          <p:stCondLst>
                                            <p:cond delay="0"/>
                                          </p:stCondLst>
                                        </p:cTn>
                                        <p:tgtEl>
                                          <p:spTgt spid="372"/>
                                        </p:tgtEl>
                                        <p:attrNameLst>
                                          <p:attrName>style.visibility</p:attrName>
                                        </p:attrNameLst>
                                      </p:cBhvr>
                                      <p:to>
                                        <p:strVal val="visible"/>
                                      </p:to>
                                    </p:set>
                                    <p:anim calcmode="lin" valueType="num">
                                      <p:cBhvr additive="base">
                                        <p:cTn dur="500"/>
                                        <p:tgtEl>
                                          <p:spTgt spid="372"/>
                                        </p:tgtEl>
                                        <p:attrNameLst>
                                          <p:attrName>ppt_w</p:attrName>
                                        </p:attrNameLst>
                                      </p:cBhvr>
                                      <p:tavLst>
                                        <p:tav fmla="" tm="0">
                                          <p:val>
                                            <p:strVal val="0"/>
                                          </p:val>
                                        </p:tav>
                                        <p:tav fmla="" tm="100000">
                                          <p:val>
                                            <p:strVal val="#ppt_w"/>
                                          </p:val>
                                        </p:tav>
                                      </p:tavLst>
                                    </p:anim>
                                    <p:anim calcmode="lin" valueType="num">
                                      <p:cBhvr additive="base">
                                        <p:cTn dur="500"/>
                                        <p:tgtEl>
                                          <p:spTgt spid="37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9afd2df374_4_138"/>
          <p:cNvSpPr txBox="1"/>
          <p:nvPr/>
        </p:nvSpPr>
        <p:spPr>
          <a:xfrm>
            <a:off x="2305050" y="566795"/>
            <a:ext cx="13677900" cy="2438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Các công thức chính của DAX</a:t>
            </a:r>
            <a:endParaRPr b="1" i="0" sz="7200" u="none" cap="none" strike="noStrike">
              <a:solidFill>
                <a:schemeClr val="accent2"/>
              </a:solidFill>
              <a:latin typeface="Montserrat"/>
              <a:ea typeface="Montserrat"/>
              <a:cs typeface="Montserrat"/>
              <a:sym typeface="Montserrat"/>
            </a:endParaRPr>
          </a:p>
        </p:txBody>
      </p:sp>
      <p:grpSp>
        <p:nvGrpSpPr>
          <p:cNvPr id="378" name="Google Shape;378;g39afd2df374_4_138"/>
          <p:cNvGrpSpPr/>
          <p:nvPr/>
        </p:nvGrpSpPr>
        <p:grpSpPr>
          <a:xfrm>
            <a:off x="0" y="9426322"/>
            <a:ext cx="18287843" cy="860673"/>
            <a:chOff x="0" y="-38100"/>
            <a:chExt cx="6128839" cy="288439"/>
          </a:xfrm>
        </p:grpSpPr>
        <p:sp>
          <p:nvSpPr>
            <p:cNvPr id="379" name="Google Shape;379;g39afd2df374_4_138"/>
            <p:cNvSpPr/>
            <p:nvPr/>
          </p:nvSpPr>
          <p:spPr>
            <a:xfrm>
              <a:off x="0" y="0"/>
              <a:ext cx="6128839" cy="250339"/>
            </a:xfrm>
            <a:custGeom>
              <a:rect b="b" l="l" r="r" t="t"/>
              <a:pathLst>
                <a:path extrusionOk="0" h="250339" w="6128839">
                  <a:moveTo>
                    <a:pt x="0" y="0"/>
                  </a:moveTo>
                  <a:lnTo>
                    <a:pt x="6128839" y="0"/>
                  </a:lnTo>
                  <a:lnTo>
                    <a:pt x="6128839" y="250339"/>
                  </a:lnTo>
                  <a:lnTo>
                    <a:pt x="0" y="250339"/>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g39afd2df374_4_138"/>
            <p:cNvSpPr txBox="1"/>
            <p:nvPr/>
          </p:nvSpPr>
          <p:spPr>
            <a:xfrm>
              <a:off x="0" y="-38100"/>
              <a:ext cx="6128700" cy="288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381" name="Google Shape;381;g39afd2df374_4_138"/>
          <p:cNvPicPr preferRelativeResize="0"/>
          <p:nvPr/>
        </p:nvPicPr>
        <p:blipFill rotWithShape="1">
          <a:blip r:embed="rId3">
            <a:alphaModFix/>
          </a:blip>
          <a:srcRect b="0" l="0" r="0" t="0"/>
          <a:stretch/>
        </p:blipFill>
        <p:spPr>
          <a:xfrm>
            <a:off x="728375" y="410074"/>
            <a:ext cx="353625" cy="2459996"/>
          </a:xfrm>
          <a:prstGeom prst="rect">
            <a:avLst/>
          </a:prstGeom>
          <a:noFill/>
          <a:ln>
            <a:noFill/>
          </a:ln>
        </p:spPr>
      </p:pic>
      <p:pic>
        <p:nvPicPr>
          <p:cNvPr id="382" name="Google Shape;382;g39afd2df374_4_138"/>
          <p:cNvPicPr preferRelativeResize="0"/>
          <p:nvPr/>
        </p:nvPicPr>
        <p:blipFill rotWithShape="1">
          <a:blip r:embed="rId4">
            <a:alphaModFix/>
          </a:blip>
          <a:srcRect b="0" l="0" r="0" t="0"/>
          <a:stretch/>
        </p:blipFill>
        <p:spPr>
          <a:xfrm>
            <a:off x="-1513655" y="9273925"/>
            <a:ext cx="7332975" cy="452200"/>
          </a:xfrm>
          <a:prstGeom prst="rect">
            <a:avLst/>
          </a:prstGeom>
          <a:noFill/>
          <a:ln>
            <a:noFill/>
          </a:ln>
        </p:spPr>
      </p:pic>
      <p:pic>
        <p:nvPicPr>
          <p:cNvPr id="383" name="Google Shape;383;g39afd2df374_4_138"/>
          <p:cNvPicPr preferRelativeResize="0"/>
          <p:nvPr/>
        </p:nvPicPr>
        <p:blipFill rotWithShape="1">
          <a:blip r:embed="rId5">
            <a:alphaModFix/>
          </a:blip>
          <a:srcRect b="0" l="0" r="0" t="0"/>
          <a:stretch/>
        </p:blipFill>
        <p:spPr>
          <a:xfrm>
            <a:off x="16925699" y="1997445"/>
            <a:ext cx="940575" cy="872625"/>
          </a:xfrm>
          <a:prstGeom prst="rect">
            <a:avLst/>
          </a:prstGeom>
          <a:noFill/>
          <a:ln>
            <a:noFill/>
          </a:ln>
        </p:spPr>
      </p:pic>
      <p:sp>
        <p:nvSpPr>
          <p:cNvPr id="384" name="Google Shape;384;g39afd2df374_4_138"/>
          <p:cNvSpPr/>
          <p:nvPr/>
        </p:nvSpPr>
        <p:spPr>
          <a:xfrm>
            <a:off x="2083713" y="3490044"/>
            <a:ext cx="3735600" cy="23469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lt1"/>
                </a:solidFill>
                <a:latin typeface="Montserrat"/>
                <a:ea typeface="Montserrat"/>
                <a:cs typeface="Montserrat"/>
                <a:sym typeface="Montserrat"/>
              </a:rPr>
              <a:t> Calculated Column</a:t>
            </a:r>
            <a:endParaRPr b="1" i="0" sz="3000" u="none" cap="none" strike="noStrike">
              <a:solidFill>
                <a:schemeClr val="lt1"/>
              </a:solidFill>
              <a:latin typeface="Montserrat"/>
              <a:ea typeface="Montserrat"/>
              <a:cs typeface="Montserrat"/>
              <a:sym typeface="Montserrat"/>
            </a:endParaRPr>
          </a:p>
        </p:txBody>
      </p:sp>
      <p:sp>
        <p:nvSpPr>
          <p:cNvPr id="385" name="Google Shape;385;g39afd2df374_4_138"/>
          <p:cNvSpPr/>
          <p:nvPr/>
        </p:nvSpPr>
        <p:spPr>
          <a:xfrm>
            <a:off x="7357997" y="3490044"/>
            <a:ext cx="3735600" cy="23469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lt1"/>
                </a:solidFill>
                <a:latin typeface="Montserrat"/>
                <a:ea typeface="Montserrat"/>
                <a:cs typeface="Montserrat"/>
                <a:sym typeface="Montserrat"/>
              </a:rPr>
              <a:t>Calculated Table</a:t>
            </a:r>
            <a:endParaRPr b="1" i="0" sz="3000" u="none" cap="none" strike="noStrike">
              <a:solidFill>
                <a:schemeClr val="lt1"/>
              </a:solidFill>
              <a:latin typeface="Montserrat"/>
              <a:ea typeface="Montserrat"/>
              <a:cs typeface="Montserrat"/>
              <a:sym typeface="Montserrat"/>
            </a:endParaRPr>
          </a:p>
        </p:txBody>
      </p:sp>
      <p:sp>
        <p:nvSpPr>
          <p:cNvPr id="386" name="Google Shape;386;g39afd2df374_4_138"/>
          <p:cNvSpPr/>
          <p:nvPr/>
        </p:nvSpPr>
        <p:spPr>
          <a:xfrm>
            <a:off x="12632281" y="3490044"/>
            <a:ext cx="3735600" cy="23469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lt1"/>
                </a:solidFill>
                <a:latin typeface="Montserrat"/>
                <a:ea typeface="Montserrat"/>
                <a:cs typeface="Montserrat"/>
                <a:sym typeface="Montserrat"/>
              </a:rPr>
              <a:t>Calculated Measure</a:t>
            </a:r>
            <a:endParaRPr b="1" i="0" sz="3000" u="none" cap="none" strike="noStrike">
              <a:solidFill>
                <a:schemeClr val="lt1"/>
              </a:solidFill>
              <a:latin typeface="Montserrat"/>
              <a:ea typeface="Montserrat"/>
              <a:cs typeface="Montserrat"/>
              <a:sym typeface="Montserrat"/>
            </a:endParaRPr>
          </a:p>
        </p:txBody>
      </p:sp>
      <p:sp>
        <p:nvSpPr>
          <p:cNvPr id="387" name="Google Shape;387;g39afd2df374_4_138"/>
          <p:cNvSpPr/>
          <p:nvPr/>
        </p:nvSpPr>
        <p:spPr>
          <a:xfrm>
            <a:off x="7969251" y="6764134"/>
            <a:ext cx="2513100" cy="2509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lt1"/>
                </a:solidFill>
                <a:latin typeface="Montserrat"/>
                <a:ea typeface="Montserrat"/>
                <a:cs typeface="Montserrat"/>
                <a:sym typeface="Montserrat"/>
              </a:rPr>
              <a:t>DAX</a:t>
            </a:r>
            <a:endParaRPr b="1" i="0" sz="3000" u="none" cap="none" strike="noStrike">
              <a:solidFill>
                <a:schemeClr val="lt1"/>
              </a:solidFill>
              <a:latin typeface="Montserrat"/>
              <a:ea typeface="Montserrat"/>
              <a:cs typeface="Montserrat"/>
              <a:sym typeface="Montserrat"/>
            </a:endParaRPr>
          </a:p>
        </p:txBody>
      </p:sp>
      <p:cxnSp>
        <p:nvCxnSpPr>
          <p:cNvPr id="388" name="Google Shape;388;g39afd2df374_4_138"/>
          <p:cNvCxnSpPr>
            <a:stCxn id="387" idx="2"/>
            <a:endCxn id="384" idx="2"/>
          </p:cNvCxnSpPr>
          <p:nvPr/>
        </p:nvCxnSpPr>
        <p:spPr>
          <a:xfrm rot="10800000">
            <a:off x="3951651" y="5836834"/>
            <a:ext cx="4017600" cy="2182200"/>
          </a:xfrm>
          <a:prstGeom prst="straightConnector1">
            <a:avLst/>
          </a:prstGeom>
          <a:noFill/>
          <a:ln cap="flat" cmpd="sng" w="114300">
            <a:solidFill>
              <a:schemeClr val="accent2"/>
            </a:solidFill>
            <a:prstDash val="solid"/>
            <a:round/>
            <a:headEnd len="med" w="med" type="none"/>
            <a:tailEnd len="med" w="med" type="stealth"/>
          </a:ln>
        </p:spPr>
      </p:cxnSp>
      <p:cxnSp>
        <p:nvCxnSpPr>
          <p:cNvPr id="389" name="Google Shape;389;g39afd2df374_4_138"/>
          <p:cNvCxnSpPr>
            <a:stCxn id="387" idx="0"/>
            <a:endCxn id="385" idx="2"/>
          </p:cNvCxnSpPr>
          <p:nvPr/>
        </p:nvCxnSpPr>
        <p:spPr>
          <a:xfrm rot="10800000">
            <a:off x="9225801" y="5836834"/>
            <a:ext cx="0" cy="927300"/>
          </a:xfrm>
          <a:prstGeom prst="straightConnector1">
            <a:avLst/>
          </a:prstGeom>
          <a:noFill/>
          <a:ln cap="flat" cmpd="sng" w="114300">
            <a:solidFill>
              <a:schemeClr val="accent2"/>
            </a:solidFill>
            <a:prstDash val="solid"/>
            <a:round/>
            <a:headEnd len="med" w="med" type="none"/>
            <a:tailEnd len="med" w="med" type="stealth"/>
          </a:ln>
        </p:spPr>
      </p:cxnSp>
      <p:cxnSp>
        <p:nvCxnSpPr>
          <p:cNvPr id="390" name="Google Shape;390;g39afd2df374_4_138"/>
          <p:cNvCxnSpPr>
            <a:stCxn id="387" idx="6"/>
            <a:endCxn id="386" idx="2"/>
          </p:cNvCxnSpPr>
          <p:nvPr/>
        </p:nvCxnSpPr>
        <p:spPr>
          <a:xfrm flipH="1" rot="10800000">
            <a:off x="10482351" y="5836834"/>
            <a:ext cx="4017600" cy="2182200"/>
          </a:xfrm>
          <a:prstGeom prst="straightConnector1">
            <a:avLst/>
          </a:prstGeom>
          <a:noFill/>
          <a:ln cap="flat" cmpd="sng" w="114300">
            <a:solidFill>
              <a:schemeClr val="accent2"/>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77"/>
                                        </p:tgtEl>
                                        <p:attrNameLst>
                                          <p:attrName>style.visibility</p:attrName>
                                        </p:attrNameLst>
                                      </p:cBhvr>
                                      <p:to>
                                        <p:strVal val="visible"/>
                                      </p:to>
                                    </p:set>
                                    <p:anim calcmode="lin" valueType="num">
                                      <p:cBhvr additive="base">
                                        <p:cTn dur="500"/>
                                        <p:tgtEl>
                                          <p:spTgt spid="377"/>
                                        </p:tgtEl>
                                        <p:attrNameLst>
                                          <p:attrName>ppt_w</p:attrName>
                                        </p:attrNameLst>
                                      </p:cBhvr>
                                      <p:tavLst>
                                        <p:tav fmla="" tm="0">
                                          <p:val>
                                            <p:strVal val="0"/>
                                          </p:val>
                                        </p:tav>
                                        <p:tav fmla="" tm="100000">
                                          <p:val>
                                            <p:strVal val="#ppt_w"/>
                                          </p:val>
                                        </p:tav>
                                      </p:tavLst>
                                    </p:anim>
                                    <p:anim calcmode="lin" valueType="num">
                                      <p:cBhvr additive="base">
                                        <p:cTn dur="500"/>
                                        <p:tgtEl>
                                          <p:spTgt spid="377"/>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384"/>
                                        </p:tgtEl>
                                        <p:attrNameLst>
                                          <p:attrName>style.visibility</p:attrName>
                                        </p:attrNameLst>
                                      </p:cBhvr>
                                      <p:to>
                                        <p:strVal val="visible"/>
                                      </p:to>
                                    </p:set>
                                    <p:anim calcmode="lin" valueType="num">
                                      <p:cBhvr additive="base">
                                        <p:cTn dur="500"/>
                                        <p:tgtEl>
                                          <p:spTgt spid="384"/>
                                        </p:tgtEl>
                                        <p:attrNameLst>
                                          <p:attrName>ppt_w</p:attrName>
                                        </p:attrNameLst>
                                      </p:cBhvr>
                                      <p:tavLst>
                                        <p:tav fmla="" tm="0">
                                          <p:val>
                                            <p:strVal val="0"/>
                                          </p:val>
                                        </p:tav>
                                        <p:tav fmla="" tm="100000">
                                          <p:val>
                                            <p:strVal val="#ppt_w"/>
                                          </p:val>
                                        </p:tav>
                                      </p:tavLst>
                                    </p:anim>
                                    <p:anim calcmode="lin" valueType="num">
                                      <p:cBhvr additive="base">
                                        <p:cTn dur="500"/>
                                        <p:tgtEl>
                                          <p:spTgt spid="38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50"/>
                                  </p:stCondLst>
                                  <p:childTnLst>
                                    <p:set>
                                      <p:cBhvr>
                                        <p:cTn dur="1" fill="hold">
                                          <p:stCondLst>
                                            <p:cond delay="0"/>
                                          </p:stCondLst>
                                        </p:cTn>
                                        <p:tgtEl>
                                          <p:spTgt spid="385"/>
                                        </p:tgtEl>
                                        <p:attrNameLst>
                                          <p:attrName>style.visibility</p:attrName>
                                        </p:attrNameLst>
                                      </p:cBhvr>
                                      <p:to>
                                        <p:strVal val="visible"/>
                                      </p:to>
                                    </p:set>
                                    <p:anim calcmode="lin" valueType="num">
                                      <p:cBhvr additive="base">
                                        <p:cTn dur="500"/>
                                        <p:tgtEl>
                                          <p:spTgt spid="385"/>
                                        </p:tgtEl>
                                        <p:attrNameLst>
                                          <p:attrName>ppt_w</p:attrName>
                                        </p:attrNameLst>
                                      </p:cBhvr>
                                      <p:tavLst>
                                        <p:tav fmla="" tm="0">
                                          <p:val>
                                            <p:strVal val="0"/>
                                          </p:val>
                                        </p:tav>
                                        <p:tav fmla="" tm="100000">
                                          <p:val>
                                            <p:strVal val="#ppt_w"/>
                                          </p:val>
                                        </p:tav>
                                      </p:tavLst>
                                    </p:anim>
                                    <p:anim calcmode="lin" valueType="num">
                                      <p:cBhvr additive="base">
                                        <p:cTn dur="500"/>
                                        <p:tgtEl>
                                          <p:spTgt spid="38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386"/>
                                        </p:tgtEl>
                                        <p:attrNameLst>
                                          <p:attrName>style.visibility</p:attrName>
                                        </p:attrNameLst>
                                      </p:cBhvr>
                                      <p:to>
                                        <p:strVal val="visible"/>
                                      </p:to>
                                    </p:set>
                                    <p:anim calcmode="lin" valueType="num">
                                      <p:cBhvr additive="base">
                                        <p:cTn dur="500"/>
                                        <p:tgtEl>
                                          <p:spTgt spid="386"/>
                                        </p:tgtEl>
                                        <p:attrNameLst>
                                          <p:attrName>ppt_w</p:attrName>
                                        </p:attrNameLst>
                                      </p:cBhvr>
                                      <p:tavLst>
                                        <p:tav fmla="" tm="0">
                                          <p:val>
                                            <p:strVal val="0"/>
                                          </p:val>
                                        </p:tav>
                                        <p:tav fmla="" tm="100000">
                                          <p:val>
                                            <p:strVal val="#ppt_w"/>
                                          </p:val>
                                        </p:tav>
                                      </p:tavLst>
                                    </p:anim>
                                    <p:anim calcmode="lin" valueType="num">
                                      <p:cBhvr additive="base">
                                        <p:cTn dur="500"/>
                                        <p:tgtEl>
                                          <p:spTgt spid="38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grpSp>
        <p:nvGrpSpPr>
          <p:cNvPr id="395" name="Google Shape;395;g39afd2df374_4_230"/>
          <p:cNvGrpSpPr/>
          <p:nvPr/>
        </p:nvGrpSpPr>
        <p:grpSpPr>
          <a:xfrm>
            <a:off x="6637004" y="9802720"/>
            <a:ext cx="11650894" cy="887552"/>
            <a:chOff x="0" y="-38100"/>
            <a:chExt cx="3904586" cy="297447"/>
          </a:xfrm>
        </p:grpSpPr>
        <p:sp>
          <p:nvSpPr>
            <p:cNvPr id="396" name="Google Shape;396;g39afd2df374_4_230"/>
            <p:cNvSpPr/>
            <p:nvPr/>
          </p:nvSpPr>
          <p:spPr>
            <a:xfrm>
              <a:off x="0" y="0"/>
              <a:ext cx="3904586" cy="259347"/>
            </a:xfrm>
            <a:custGeom>
              <a:rect b="b" l="l" r="r" t="t"/>
              <a:pathLst>
                <a:path extrusionOk="0" h="259347" w="3904586">
                  <a:moveTo>
                    <a:pt x="0" y="0"/>
                  </a:moveTo>
                  <a:lnTo>
                    <a:pt x="3904586" y="0"/>
                  </a:lnTo>
                  <a:lnTo>
                    <a:pt x="3904586" y="259347"/>
                  </a:lnTo>
                  <a:lnTo>
                    <a:pt x="0" y="259347"/>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g39afd2df374_4_230"/>
            <p:cNvSpPr txBox="1"/>
            <p:nvPr/>
          </p:nvSpPr>
          <p:spPr>
            <a:xfrm>
              <a:off x="0" y="-38100"/>
              <a:ext cx="3904500" cy="297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398" name="Google Shape;398;g39afd2df374_4_230"/>
          <p:cNvPicPr preferRelativeResize="0"/>
          <p:nvPr/>
        </p:nvPicPr>
        <p:blipFill rotWithShape="1">
          <a:blip r:embed="rId3">
            <a:alphaModFix/>
          </a:blip>
          <a:srcRect b="0" l="0" r="0" t="0"/>
          <a:stretch/>
        </p:blipFill>
        <p:spPr>
          <a:xfrm>
            <a:off x="5891775" y="9696640"/>
            <a:ext cx="7332975" cy="452200"/>
          </a:xfrm>
          <a:prstGeom prst="rect">
            <a:avLst/>
          </a:prstGeom>
          <a:noFill/>
          <a:ln>
            <a:noFill/>
          </a:ln>
        </p:spPr>
      </p:pic>
      <p:pic>
        <p:nvPicPr>
          <p:cNvPr id="399" name="Google Shape;399;g39afd2df374_4_230"/>
          <p:cNvPicPr preferRelativeResize="0"/>
          <p:nvPr/>
        </p:nvPicPr>
        <p:blipFill rotWithShape="1">
          <a:blip r:embed="rId4">
            <a:alphaModFix/>
          </a:blip>
          <a:srcRect b="0" l="0" r="0" t="0"/>
          <a:stretch/>
        </p:blipFill>
        <p:spPr>
          <a:xfrm>
            <a:off x="-200150" y="9225993"/>
            <a:ext cx="1028675" cy="1077350"/>
          </a:xfrm>
          <a:prstGeom prst="rect">
            <a:avLst/>
          </a:prstGeom>
          <a:noFill/>
          <a:ln>
            <a:noFill/>
          </a:ln>
        </p:spPr>
      </p:pic>
      <p:sp>
        <p:nvSpPr>
          <p:cNvPr id="400" name="Google Shape;400;g39afd2df374_4_230"/>
          <p:cNvSpPr txBox="1"/>
          <p:nvPr/>
        </p:nvSpPr>
        <p:spPr>
          <a:xfrm>
            <a:off x="4025687" y="590360"/>
            <a:ext cx="102366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dk2"/>
                </a:solidFill>
                <a:latin typeface="Montserrat"/>
                <a:ea typeface="Montserrat"/>
                <a:cs typeface="Montserrat"/>
                <a:sym typeface="Montserrat"/>
              </a:rPr>
              <a:t>Các công thức chính</a:t>
            </a:r>
            <a:endParaRPr b="1" i="0" sz="7200" u="none" cap="none" strike="noStrike">
              <a:solidFill>
                <a:schemeClr val="dk2"/>
              </a:solidFill>
              <a:latin typeface="Montserrat"/>
              <a:ea typeface="Montserrat"/>
              <a:cs typeface="Montserrat"/>
              <a:sym typeface="Montserrat"/>
            </a:endParaRPr>
          </a:p>
        </p:txBody>
      </p:sp>
      <p:grpSp>
        <p:nvGrpSpPr>
          <p:cNvPr id="401" name="Google Shape;401;g39afd2df374_4_230"/>
          <p:cNvGrpSpPr/>
          <p:nvPr/>
        </p:nvGrpSpPr>
        <p:grpSpPr>
          <a:xfrm>
            <a:off x="491918" y="2281384"/>
            <a:ext cx="17304304" cy="6923997"/>
            <a:chOff x="5410" y="2281384"/>
            <a:chExt cx="17304304" cy="6923997"/>
          </a:xfrm>
        </p:grpSpPr>
        <p:sp>
          <p:nvSpPr>
            <p:cNvPr id="402" name="Google Shape;402;g39afd2df374_4_230"/>
            <p:cNvSpPr/>
            <p:nvPr/>
          </p:nvSpPr>
          <p:spPr>
            <a:xfrm>
              <a:off x="5410" y="2281384"/>
              <a:ext cx="5275800" cy="1872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g39afd2df374_4_230"/>
            <p:cNvSpPr txBox="1"/>
            <p:nvPr/>
          </p:nvSpPr>
          <p:spPr>
            <a:xfrm>
              <a:off x="5410" y="2281384"/>
              <a:ext cx="5275800" cy="1872000"/>
            </a:xfrm>
            <a:prstGeom prst="rect">
              <a:avLst/>
            </a:prstGeom>
            <a:noFill/>
            <a:ln>
              <a:noFill/>
            </a:ln>
          </p:spPr>
          <p:txBody>
            <a:bodyPr anchorCtr="0" anchor="ctr" bIns="146300" lIns="256025" spcFirstLastPara="1" rIns="256025" wrap="square" tIns="146300">
              <a:noAutofit/>
            </a:bodyPr>
            <a:lstStyle/>
            <a:p>
              <a:pPr indent="0" lvl="0" marL="0" rtl="0" algn="ctr">
                <a:spcBef>
                  <a:spcPts val="0"/>
                </a:spcBef>
                <a:spcAft>
                  <a:spcPts val="0"/>
                </a:spcAft>
                <a:buClr>
                  <a:schemeClr val="dk1"/>
                </a:buClr>
                <a:buFont typeface="Arial"/>
                <a:buNone/>
              </a:pPr>
              <a:r>
                <a:rPr b="1" lang="en-US" sz="3000">
                  <a:solidFill>
                    <a:schemeClr val="lt1"/>
                  </a:solidFill>
                  <a:latin typeface="Montserrat"/>
                  <a:ea typeface="Montserrat"/>
                  <a:cs typeface="Montserrat"/>
                  <a:sym typeface="Montserrat"/>
                </a:rPr>
                <a:t> Calculated Column</a:t>
              </a:r>
              <a:endParaRPr b="1" sz="3600">
                <a:solidFill>
                  <a:schemeClr val="lt1"/>
                </a:solidFill>
                <a:latin typeface="Montserrat"/>
                <a:ea typeface="Montserrat"/>
                <a:cs typeface="Montserrat"/>
                <a:sym typeface="Montserrat"/>
              </a:endParaRPr>
            </a:p>
          </p:txBody>
        </p:sp>
        <p:sp>
          <p:nvSpPr>
            <p:cNvPr id="404" name="Google Shape;404;g39afd2df374_4_230"/>
            <p:cNvSpPr/>
            <p:nvPr/>
          </p:nvSpPr>
          <p:spPr>
            <a:xfrm>
              <a:off x="5410" y="4120381"/>
              <a:ext cx="5275800" cy="5085000"/>
            </a:xfrm>
            <a:prstGeom prst="rect">
              <a:avLst/>
            </a:prstGeom>
            <a:solidFill>
              <a:srgbClr val="FBD0CE">
                <a:alpha val="8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g39afd2df374_4_230"/>
            <p:cNvSpPr txBox="1"/>
            <p:nvPr/>
          </p:nvSpPr>
          <p:spPr>
            <a:xfrm>
              <a:off x="5410" y="4120381"/>
              <a:ext cx="5275800" cy="5085000"/>
            </a:xfrm>
            <a:prstGeom prst="rect">
              <a:avLst/>
            </a:prstGeom>
            <a:noFill/>
            <a:ln>
              <a:noFill/>
            </a:ln>
          </p:spPr>
          <p:txBody>
            <a:bodyPr anchorCtr="0" anchor="t" bIns="192000" lIns="128000" spcFirstLastPara="1" rIns="170675" wrap="square" tIns="128000">
              <a:noAutofit/>
            </a:bodyPr>
            <a:lstStyle/>
            <a:p>
              <a:pPr indent="-419100" lvl="0" marL="457200" marR="0" rtl="0" algn="l">
                <a:lnSpc>
                  <a:spcPct val="90000"/>
                </a:lnSpc>
                <a:spcBef>
                  <a:spcPts val="36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Tính 1 lần khi tải dữ liệu, </a:t>
              </a:r>
              <a:r>
                <a:rPr b="1" lang="en-US" sz="3000">
                  <a:solidFill>
                    <a:schemeClr val="dk1"/>
                  </a:solidFill>
                  <a:latin typeface="Montserrat"/>
                  <a:ea typeface="Montserrat"/>
                  <a:cs typeface="Montserrat"/>
                  <a:sym typeface="Montserrat"/>
                </a:rPr>
                <a:t>Lưu trữ</a:t>
              </a:r>
              <a:r>
                <a:rPr lang="en-US" sz="3000">
                  <a:solidFill>
                    <a:schemeClr val="dk1"/>
                  </a:solidFill>
                  <a:latin typeface="Montserrat"/>
                  <a:ea typeface="Montserrat"/>
                  <a:cs typeface="Montserrat"/>
                  <a:sym typeface="Montserrat"/>
                </a:rPr>
                <a:t> trong mô hình (tốn RAM)</a:t>
              </a:r>
              <a:endParaRPr sz="3000">
                <a:solidFill>
                  <a:schemeClr val="dk1"/>
                </a:solidFill>
                <a:latin typeface="Montserrat"/>
                <a:ea typeface="Montserrat"/>
                <a:cs typeface="Montserrat"/>
                <a:sym typeface="Montserrat"/>
              </a:endParaRPr>
            </a:p>
            <a:p>
              <a:pPr indent="-419100" lvl="0" marL="457200" marR="0" rtl="0" algn="l">
                <a:lnSpc>
                  <a:spcPct val="90000"/>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Tính toán theo </a:t>
              </a:r>
              <a:r>
                <a:rPr b="1" lang="en-US" sz="3000">
                  <a:solidFill>
                    <a:schemeClr val="dk1"/>
                  </a:solidFill>
                  <a:latin typeface="Montserrat"/>
                  <a:ea typeface="Montserrat"/>
                  <a:cs typeface="Montserrat"/>
                  <a:sym typeface="Montserrat"/>
                </a:rPr>
                <a:t>ngữ cảnh Hàng (Row Context</a:t>
              </a:r>
              <a:endParaRPr b="1" sz="3000">
                <a:solidFill>
                  <a:schemeClr val="dk1"/>
                </a:solidFill>
                <a:latin typeface="Montserrat"/>
                <a:ea typeface="Montserrat"/>
                <a:cs typeface="Montserrat"/>
                <a:sym typeface="Montserrat"/>
              </a:endParaRPr>
            </a:p>
            <a:p>
              <a:pPr indent="-419100" lvl="0" marL="457200" marR="0" rtl="0" algn="l">
                <a:lnSpc>
                  <a:spcPct val="90000"/>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Tạo </a:t>
              </a:r>
              <a:r>
                <a:rPr b="1" lang="en-US" sz="3000">
                  <a:solidFill>
                    <a:schemeClr val="dk1"/>
                  </a:solidFill>
                  <a:latin typeface="Montserrat"/>
                  <a:ea typeface="Montserrat"/>
                  <a:cs typeface="Montserrat"/>
                  <a:sym typeface="Montserrat"/>
                </a:rPr>
                <a:t>Chiều</a:t>
              </a:r>
              <a:r>
                <a:rPr lang="en-US" sz="3000">
                  <a:solidFill>
                    <a:schemeClr val="dk1"/>
                  </a:solidFill>
                  <a:latin typeface="Montserrat"/>
                  <a:ea typeface="Montserrat"/>
                  <a:cs typeface="Montserrat"/>
                  <a:sym typeface="Montserrat"/>
                </a:rPr>
                <a:t> (Dimension) mới để phân nhóm, lọc dữ liệu</a:t>
              </a:r>
              <a:endParaRPr sz="3000">
                <a:solidFill>
                  <a:schemeClr val="dk1"/>
                </a:solidFill>
                <a:latin typeface="Montserrat"/>
                <a:ea typeface="Montserrat"/>
                <a:cs typeface="Montserrat"/>
                <a:sym typeface="Montserrat"/>
              </a:endParaRPr>
            </a:p>
          </p:txBody>
        </p:sp>
        <p:sp>
          <p:nvSpPr>
            <p:cNvPr id="406" name="Google Shape;406;g39afd2df374_4_230"/>
            <p:cNvSpPr/>
            <p:nvPr/>
          </p:nvSpPr>
          <p:spPr>
            <a:xfrm>
              <a:off x="6019662" y="2281384"/>
              <a:ext cx="5275800" cy="1872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39afd2df374_4_230"/>
            <p:cNvSpPr txBox="1"/>
            <p:nvPr/>
          </p:nvSpPr>
          <p:spPr>
            <a:xfrm>
              <a:off x="6019662" y="2281384"/>
              <a:ext cx="5275800" cy="1872000"/>
            </a:xfrm>
            <a:prstGeom prst="rect">
              <a:avLst/>
            </a:prstGeom>
            <a:noFill/>
            <a:ln>
              <a:noFill/>
            </a:ln>
          </p:spPr>
          <p:txBody>
            <a:bodyPr anchorCtr="0" anchor="ctr" bIns="146300" lIns="256025" spcFirstLastPara="1" rIns="256025" wrap="square" tIns="146300">
              <a:noAutofit/>
            </a:bodyPr>
            <a:lstStyle/>
            <a:p>
              <a:pPr indent="0" lvl="0" marL="0" rtl="0" algn="ctr">
                <a:spcBef>
                  <a:spcPts val="0"/>
                </a:spcBef>
                <a:spcAft>
                  <a:spcPts val="0"/>
                </a:spcAft>
                <a:buClr>
                  <a:schemeClr val="dk1"/>
                </a:buClr>
                <a:buFont typeface="Arial"/>
                <a:buNone/>
              </a:pPr>
              <a:r>
                <a:rPr b="1" lang="en-US" sz="3000">
                  <a:solidFill>
                    <a:schemeClr val="lt1"/>
                  </a:solidFill>
                  <a:latin typeface="Montserrat"/>
                  <a:ea typeface="Montserrat"/>
                  <a:cs typeface="Montserrat"/>
                  <a:sym typeface="Montserrat"/>
                </a:rPr>
                <a:t>Calculated Table</a:t>
              </a:r>
              <a:endParaRPr b="1" sz="3600">
                <a:solidFill>
                  <a:schemeClr val="lt1"/>
                </a:solidFill>
                <a:latin typeface="Montserrat"/>
                <a:ea typeface="Montserrat"/>
                <a:cs typeface="Montserrat"/>
                <a:sym typeface="Montserrat"/>
              </a:endParaRPr>
            </a:p>
          </p:txBody>
        </p:sp>
        <p:sp>
          <p:nvSpPr>
            <p:cNvPr id="408" name="Google Shape;408;g39afd2df374_4_230"/>
            <p:cNvSpPr/>
            <p:nvPr/>
          </p:nvSpPr>
          <p:spPr>
            <a:xfrm>
              <a:off x="6019662" y="4120381"/>
              <a:ext cx="5275800" cy="5085000"/>
            </a:xfrm>
            <a:prstGeom prst="rect">
              <a:avLst/>
            </a:prstGeom>
            <a:solidFill>
              <a:srgbClr val="D6DDF0">
                <a:alpha val="8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g39afd2df374_4_230"/>
            <p:cNvSpPr txBox="1"/>
            <p:nvPr/>
          </p:nvSpPr>
          <p:spPr>
            <a:xfrm>
              <a:off x="6019662" y="4120381"/>
              <a:ext cx="5275800" cy="5085000"/>
            </a:xfrm>
            <a:prstGeom prst="rect">
              <a:avLst/>
            </a:prstGeom>
            <a:noFill/>
            <a:ln>
              <a:noFill/>
            </a:ln>
          </p:spPr>
          <p:txBody>
            <a:bodyPr anchorCtr="0" anchor="t" bIns="192000" lIns="128000" spcFirstLastPara="1" rIns="170675" wrap="square" tIns="128000">
              <a:noAutofit/>
            </a:bodyPr>
            <a:lstStyle/>
            <a:p>
              <a:pPr indent="-419100" lvl="0" marL="457200" marR="0" rtl="0" algn="l">
                <a:lnSpc>
                  <a:spcPct val="90000"/>
                </a:lnSpc>
                <a:spcBef>
                  <a:spcPts val="360"/>
                </a:spcBef>
                <a:spcAft>
                  <a:spcPts val="0"/>
                </a:spcAft>
                <a:buSzPts val="3000"/>
                <a:buFont typeface="Montserrat"/>
                <a:buChar char="●"/>
              </a:pPr>
              <a:r>
                <a:rPr lang="en-US" sz="3000">
                  <a:latin typeface="Montserrat"/>
                  <a:ea typeface="Montserrat"/>
                  <a:cs typeface="Montserrat"/>
                  <a:sym typeface="Montserrat"/>
                </a:rPr>
                <a:t>Bảng </a:t>
              </a:r>
              <a:r>
                <a:rPr b="1" lang="en-US" sz="3000">
                  <a:latin typeface="Montserrat"/>
                  <a:ea typeface="Montserrat"/>
                  <a:cs typeface="Montserrat"/>
                  <a:sym typeface="Montserrat"/>
                </a:rPr>
                <a:t>mới được tạo</a:t>
              </a:r>
              <a:r>
                <a:rPr lang="en-US" sz="3000">
                  <a:latin typeface="Montserrat"/>
                  <a:ea typeface="Montserrat"/>
                  <a:cs typeface="Montserrat"/>
                  <a:sym typeface="Montserrat"/>
                </a:rPr>
                <a:t>, tính 1 lần, Lưu trữ trong mô hình.</a:t>
              </a:r>
              <a:endParaRPr sz="3000">
                <a:latin typeface="Montserrat"/>
                <a:ea typeface="Montserrat"/>
                <a:cs typeface="Montserrat"/>
                <a:sym typeface="Montserrat"/>
              </a:endParaRPr>
            </a:p>
            <a:p>
              <a:pPr indent="-419100" lvl="0" marL="457200" marR="0" rtl="0" algn="l">
                <a:lnSpc>
                  <a:spcPct val="90000"/>
                </a:lnSpc>
                <a:spcBef>
                  <a:spcPts val="0"/>
                </a:spcBef>
                <a:spcAft>
                  <a:spcPts val="0"/>
                </a:spcAft>
                <a:buSzPts val="3000"/>
                <a:buFont typeface="Montserrat"/>
                <a:buChar char="●"/>
              </a:pPr>
              <a:r>
                <a:rPr lang="en-US" sz="3000">
                  <a:latin typeface="Montserrat"/>
                  <a:ea typeface="Montserrat"/>
                  <a:cs typeface="Montserrat"/>
                  <a:sym typeface="Montserrat"/>
                </a:rPr>
                <a:t>Tính toán một lần</a:t>
              </a:r>
              <a:endParaRPr sz="3000">
                <a:latin typeface="Montserrat"/>
                <a:ea typeface="Montserrat"/>
                <a:cs typeface="Montserrat"/>
                <a:sym typeface="Montserrat"/>
              </a:endParaRPr>
            </a:p>
            <a:p>
              <a:pPr indent="-419100" lvl="0" marL="457200" marR="0" rtl="0" algn="l">
                <a:lnSpc>
                  <a:spcPct val="90000"/>
                </a:lnSpc>
                <a:spcBef>
                  <a:spcPts val="0"/>
                </a:spcBef>
                <a:spcAft>
                  <a:spcPts val="0"/>
                </a:spcAft>
                <a:buSzPts val="3000"/>
                <a:buFont typeface="Montserrat"/>
                <a:buChar char="●"/>
              </a:pPr>
              <a:r>
                <a:rPr lang="en-US" sz="3000">
                  <a:latin typeface="Montserrat"/>
                  <a:ea typeface="Montserrat"/>
                  <a:cs typeface="Montserrat"/>
                  <a:sym typeface="Montserrat"/>
                </a:rPr>
                <a:t>Dùng khi cần tạo bảng </a:t>
              </a:r>
              <a:r>
                <a:rPr b="1" lang="en-US" sz="3000">
                  <a:latin typeface="Montserrat"/>
                  <a:ea typeface="Montserrat"/>
                  <a:cs typeface="Montserrat"/>
                  <a:sym typeface="Montserrat"/>
                </a:rPr>
                <a:t>độc lập</a:t>
              </a:r>
              <a:endParaRPr b="1" sz="3000">
                <a:latin typeface="Montserrat"/>
                <a:ea typeface="Montserrat"/>
                <a:cs typeface="Montserrat"/>
                <a:sym typeface="Montserrat"/>
              </a:endParaRPr>
            </a:p>
          </p:txBody>
        </p:sp>
        <p:sp>
          <p:nvSpPr>
            <p:cNvPr id="410" name="Google Shape;410;g39afd2df374_4_230"/>
            <p:cNvSpPr/>
            <p:nvPr/>
          </p:nvSpPr>
          <p:spPr>
            <a:xfrm>
              <a:off x="12033914" y="2281384"/>
              <a:ext cx="5275800" cy="1872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39afd2df374_4_230"/>
            <p:cNvSpPr txBox="1"/>
            <p:nvPr/>
          </p:nvSpPr>
          <p:spPr>
            <a:xfrm>
              <a:off x="12033914" y="2281384"/>
              <a:ext cx="5275800" cy="1872000"/>
            </a:xfrm>
            <a:prstGeom prst="rect">
              <a:avLst/>
            </a:prstGeom>
            <a:noFill/>
            <a:ln>
              <a:noFill/>
            </a:ln>
          </p:spPr>
          <p:txBody>
            <a:bodyPr anchorCtr="0" anchor="ctr" bIns="146300" lIns="256025" spcFirstLastPara="1" rIns="256025" wrap="square" tIns="146300">
              <a:noAutofit/>
            </a:bodyPr>
            <a:lstStyle/>
            <a:p>
              <a:pPr indent="0" lvl="0" marL="0" rtl="0" algn="ctr">
                <a:spcBef>
                  <a:spcPts val="0"/>
                </a:spcBef>
                <a:spcAft>
                  <a:spcPts val="0"/>
                </a:spcAft>
                <a:buClr>
                  <a:schemeClr val="dk1"/>
                </a:buClr>
                <a:buFont typeface="Arial"/>
                <a:buNone/>
              </a:pPr>
              <a:r>
                <a:rPr b="1" lang="en-US" sz="3000">
                  <a:solidFill>
                    <a:schemeClr val="lt1"/>
                  </a:solidFill>
                  <a:latin typeface="Montserrat"/>
                  <a:ea typeface="Montserrat"/>
                  <a:cs typeface="Montserrat"/>
                  <a:sym typeface="Montserrat"/>
                </a:rPr>
                <a:t>Calculated </a:t>
              </a:r>
              <a:r>
                <a:rPr b="1" lang="en-US" sz="3000">
                  <a:solidFill>
                    <a:schemeClr val="lt1"/>
                  </a:solidFill>
                  <a:latin typeface="Montserrat"/>
                  <a:ea typeface="Montserrat"/>
                  <a:cs typeface="Montserrat"/>
                  <a:sym typeface="Montserrat"/>
                </a:rPr>
                <a:t>Measure</a:t>
              </a:r>
              <a:endParaRPr b="1" sz="3600">
                <a:solidFill>
                  <a:schemeClr val="lt1"/>
                </a:solidFill>
                <a:latin typeface="Montserrat"/>
                <a:ea typeface="Montserrat"/>
                <a:cs typeface="Montserrat"/>
                <a:sym typeface="Montserrat"/>
              </a:endParaRPr>
            </a:p>
          </p:txBody>
        </p:sp>
        <p:sp>
          <p:nvSpPr>
            <p:cNvPr id="412" name="Google Shape;412;g39afd2df374_4_230"/>
            <p:cNvSpPr/>
            <p:nvPr/>
          </p:nvSpPr>
          <p:spPr>
            <a:xfrm>
              <a:off x="12033914" y="4120381"/>
              <a:ext cx="5275800" cy="5085000"/>
            </a:xfrm>
            <a:prstGeom prst="rect">
              <a:avLst/>
            </a:prstGeom>
            <a:solidFill>
              <a:srgbClr val="FBD0CE">
                <a:alpha val="8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g39afd2df374_4_230"/>
            <p:cNvSpPr txBox="1"/>
            <p:nvPr/>
          </p:nvSpPr>
          <p:spPr>
            <a:xfrm>
              <a:off x="12033914" y="4120381"/>
              <a:ext cx="5275800" cy="5085000"/>
            </a:xfrm>
            <a:prstGeom prst="rect">
              <a:avLst/>
            </a:prstGeom>
            <a:noFill/>
            <a:ln>
              <a:noFill/>
            </a:ln>
          </p:spPr>
          <p:txBody>
            <a:bodyPr anchorCtr="0" anchor="t" bIns="192000" lIns="128000" spcFirstLastPara="1" rIns="170675" wrap="square" tIns="128000">
              <a:noAutofit/>
            </a:bodyPr>
            <a:lstStyle/>
            <a:p>
              <a:pPr indent="-419100" lvl="0" marL="457200" marR="0" rtl="0" algn="l">
                <a:lnSpc>
                  <a:spcPct val="100000"/>
                </a:lnSpc>
                <a:spcBef>
                  <a:spcPts val="0"/>
                </a:spcBef>
                <a:spcAft>
                  <a:spcPts val="0"/>
                </a:spcAft>
                <a:buSzPts val="3000"/>
                <a:buFont typeface="Montserrat"/>
                <a:buChar char="●"/>
              </a:pPr>
              <a:r>
                <a:rPr b="1" lang="en-US" sz="3000">
                  <a:latin typeface="Montserrat"/>
                  <a:ea typeface="Montserrat"/>
                  <a:cs typeface="Montserrat"/>
                  <a:sym typeface="Montserrat"/>
                </a:rPr>
                <a:t>Không lưu</a:t>
              </a:r>
              <a:r>
                <a:rPr lang="en-US" sz="3000">
                  <a:latin typeface="Montserrat"/>
                  <a:ea typeface="Montserrat"/>
                  <a:cs typeface="Montserrat"/>
                  <a:sym typeface="Montserrat"/>
                </a:rPr>
                <a:t> trữ giá trị, tính toán tức thì.</a:t>
              </a:r>
              <a:endParaRPr sz="3000">
                <a:latin typeface="Montserrat"/>
                <a:ea typeface="Montserrat"/>
                <a:cs typeface="Montserrat"/>
                <a:sym typeface="Montserrat"/>
              </a:endParaRPr>
            </a:p>
            <a:p>
              <a:pPr indent="-419100" lvl="0" marL="457200" marR="0" rtl="0" algn="l">
                <a:lnSpc>
                  <a:spcPct val="100000"/>
                </a:lnSpc>
                <a:spcBef>
                  <a:spcPts val="0"/>
                </a:spcBef>
                <a:spcAft>
                  <a:spcPts val="0"/>
                </a:spcAft>
                <a:buSzPts val="3000"/>
                <a:buFont typeface="Montserrat"/>
                <a:buChar char="●"/>
              </a:pPr>
              <a:r>
                <a:rPr lang="en-US" sz="3000">
                  <a:latin typeface="Montserrat"/>
                  <a:ea typeface="Montserrat"/>
                  <a:cs typeface="Montserrat"/>
                  <a:sym typeface="Montserrat"/>
                </a:rPr>
                <a:t>Tính toán theo </a:t>
              </a:r>
              <a:r>
                <a:rPr b="1" lang="en-US" sz="3000">
                  <a:solidFill>
                    <a:schemeClr val="dk1"/>
                  </a:solidFill>
                  <a:latin typeface="Montserrat"/>
                  <a:ea typeface="Montserrat"/>
                  <a:cs typeface="Montserrat"/>
                  <a:sym typeface="Montserrat"/>
                </a:rPr>
                <a:t>Ngữ cảnh Lọc (Filter Context</a:t>
              </a:r>
              <a:r>
                <a:rPr lang="en-US" sz="3000">
                  <a:solidFill>
                    <a:schemeClr val="dk1"/>
                  </a:solidFill>
                  <a:latin typeface="Montserrat"/>
                  <a:ea typeface="Montserrat"/>
                  <a:cs typeface="Montserrat"/>
                  <a:sym typeface="Montserrat"/>
                </a:rPr>
                <a:t>)</a:t>
              </a:r>
              <a:endParaRPr sz="3000">
                <a:solidFill>
                  <a:schemeClr val="dk1"/>
                </a:solidFill>
                <a:latin typeface="Montserrat"/>
                <a:ea typeface="Montserrat"/>
                <a:cs typeface="Montserrat"/>
                <a:sym typeface="Montserrat"/>
              </a:endParaRPr>
            </a:p>
            <a:p>
              <a:pPr indent="-419100" lvl="0" marL="457200" marR="0" rtl="0" algn="l">
                <a:lnSpc>
                  <a:spcPct val="100000"/>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Tạo </a:t>
              </a:r>
              <a:r>
                <a:rPr b="1" lang="en-US" sz="3000">
                  <a:solidFill>
                    <a:schemeClr val="dk1"/>
                  </a:solidFill>
                  <a:latin typeface="Montserrat"/>
                  <a:ea typeface="Montserrat"/>
                  <a:cs typeface="Montserrat"/>
                  <a:sym typeface="Montserrat"/>
                </a:rPr>
                <a:t>Giá trị tổng hợp</a:t>
              </a:r>
              <a:r>
                <a:rPr lang="en-US" sz="3000">
                  <a:solidFill>
                    <a:schemeClr val="dk1"/>
                  </a:solidFill>
                  <a:latin typeface="Montserrat"/>
                  <a:ea typeface="Montserrat"/>
                  <a:cs typeface="Montserrat"/>
                  <a:sym typeface="Montserrat"/>
                </a:rPr>
                <a:t> (KPI, Tổng, TB) thay đổi theo tương tác người dùng</a:t>
              </a:r>
              <a:endParaRPr sz="3000">
                <a:solidFill>
                  <a:schemeClr val="dk1"/>
                </a:solidFill>
                <a:latin typeface="Montserrat"/>
                <a:ea typeface="Montserrat"/>
                <a:cs typeface="Montserrat"/>
                <a:sym typeface="Montserra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00"/>
                                        </p:tgtEl>
                                        <p:attrNameLst>
                                          <p:attrName>style.visibility</p:attrName>
                                        </p:attrNameLst>
                                      </p:cBhvr>
                                      <p:to>
                                        <p:strVal val="visible"/>
                                      </p:to>
                                    </p:set>
                                    <p:anim calcmode="lin" valueType="num">
                                      <p:cBhvr additive="base">
                                        <p:cTn dur="500"/>
                                        <p:tgtEl>
                                          <p:spTgt spid="400"/>
                                        </p:tgtEl>
                                        <p:attrNameLst>
                                          <p:attrName>ppt_w</p:attrName>
                                        </p:attrNameLst>
                                      </p:cBhvr>
                                      <p:tavLst>
                                        <p:tav fmla="" tm="0">
                                          <p:val>
                                            <p:strVal val="0"/>
                                          </p:val>
                                        </p:tav>
                                        <p:tav fmla="" tm="100000">
                                          <p:val>
                                            <p:strVal val="#ppt_w"/>
                                          </p:val>
                                        </p:tav>
                                      </p:tavLst>
                                    </p:anim>
                                    <p:anim calcmode="lin" valueType="num">
                                      <p:cBhvr additive="base">
                                        <p:cTn dur="500"/>
                                        <p:tgtEl>
                                          <p:spTgt spid="40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39b8c87ebf5_1_0"/>
          <p:cNvSpPr txBox="1"/>
          <p:nvPr/>
        </p:nvSpPr>
        <p:spPr>
          <a:xfrm>
            <a:off x="1748700" y="754800"/>
            <a:ext cx="147906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Minh họa</a:t>
            </a:r>
            <a:endParaRPr b="1" i="0" sz="7200" u="none" cap="none" strike="noStrike">
              <a:solidFill>
                <a:schemeClr val="accent2"/>
              </a:solidFill>
              <a:latin typeface="Montserrat"/>
              <a:ea typeface="Montserrat"/>
              <a:cs typeface="Montserrat"/>
              <a:sym typeface="Montserrat"/>
            </a:endParaRPr>
          </a:p>
        </p:txBody>
      </p:sp>
      <p:pic>
        <p:nvPicPr>
          <p:cNvPr id="419" name="Google Shape;419;g39b8c87ebf5_1_0"/>
          <p:cNvPicPr preferRelativeResize="0"/>
          <p:nvPr/>
        </p:nvPicPr>
        <p:blipFill>
          <a:blip r:embed="rId3">
            <a:alphaModFix/>
          </a:blip>
          <a:stretch>
            <a:fillRect/>
          </a:stretch>
        </p:blipFill>
        <p:spPr>
          <a:xfrm>
            <a:off x="2062975" y="2459425"/>
            <a:ext cx="14643750" cy="53681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39bbf9bcc5c_2_2"/>
          <p:cNvSpPr txBox="1"/>
          <p:nvPr/>
        </p:nvSpPr>
        <p:spPr>
          <a:xfrm>
            <a:off x="1786800" y="793550"/>
            <a:ext cx="147906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Ví dụ về Calculated Column</a:t>
            </a:r>
            <a:endParaRPr b="1" i="0" sz="7200" u="none" cap="none" strike="noStrike">
              <a:solidFill>
                <a:schemeClr val="accent2"/>
              </a:solidFill>
              <a:latin typeface="Montserrat"/>
              <a:ea typeface="Montserrat"/>
              <a:cs typeface="Montserrat"/>
              <a:sym typeface="Montserrat"/>
            </a:endParaRPr>
          </a:p>
        </p:txBody>
      </p:sp>
      <p:pic>
        <p:nvPicPr>
          <p:cNvPr id="425" name="Google Shape;425;g39bbf9bcc5c_2_2"/>
          <p:cNvPicPr preferRelativeResize="0"/>
          <p:nvPr/>
        </p:nvPicPr>
        <p:blipFill>
          <a:blip r:embed="rId3">
            <a:alphaModFix/>
          </a:blip>
          <a:stretch>
            <a:fillRect/>
          </a:stretch>
        </p:blipFill>
        <p:spPr>
          <a:xfrm>
            <a:off x="798425" y="2841225"/>
            <a:ext cx="16767350" cy="6420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9b8c87ebf5_1_5"/>
          <p:cNvSpPr txBox="1"/>
          <p:nvPr/>
        </p:nvSpPr>
        <p:spPr>
          <a:xfrm>
            <a:off x="1786800" y="793550"/>
            <a:ext cx="14790600" cy="1077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000">
                <a:solidFill>
                  <a:schemeClr val="accent2"/>
                </a:solidFill>
                <a:latin typeface="Montserrat"/>
                <a:ea typeface="Montserrat"/>
                <a:cs typeface="Montserrat"/>
                <a:sym typeface="Montserrat"/>
              </a:rPr>
              <a:t>Ví dụ về Calculated Table</a:t>
            </a:r>
            <a:endParaRPr b="1" i="0" sz="7000" u="none" cap="none" strike="noStrike">
              <a:solidFill>
                <a:schemeClr val="accent2"/>
              </a:solidFill>
              <a:latin typeface="Montserrat"/>
              <a:ea typeface="Montserrat"/>
              <a:cs typeface="Montserrat"/>
              <a:sym typeface="Montserrat"/>
            </a:endParaRPr>
          </a:p>
        </p:txBody>
      </p:sp>
      <p:pic>
        <p:nvPicPr>
          <p:cNvPr id="431" name="Google Shape;431;g39b8c87ebf5_1_5"/>
          <p:cNvPicPr preferRelativeResize="0"/>
          <p:nvPr/>
        </p:nvPicPr>
        <p:blipFill>
          <a:blip r:embed="rId3">
            <a:alphaModFix/>
          </a:blip>
          <a:stretch>
            <a:fillRect/>
          </a:stretch>
        </p:blipFill>
        <p:spPr>
          <a:xfrm>
            <a:off x="3374963" y="2546800"/>
            <a:ext cx="11614275" cy="6893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39b8c87ebf5_1_12"/>
          <p:cNvSpPr txBox="1"/>
          <p:nvPr/>
        </p:nvSpPr>
        <p:spPr>
          <a:xfrm>
            <a:off x="1786800" y="619200"/>
            <a:ext cx="147906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Ví dụ về Calculated Measure</a:t>
            </a:r>
            <a:endParaRPr b="1" i="0" sz="7200" u="none" cap="none" strike="noStrike">
              <a:solidFill>
                <a:schemeClr val="accent2"/>
              </a:solidFill>
              <a:latin typeface="Montserrat"/>
              <a:ea typeface="Montserrat"/>
              <a:cs typeface="Montserrat"/>
              <a:sym typeface="Montserrat"/>
            </a:endParaRPr>
          </a:p>
        </p:txBody>
      </p:sp>
      <p:pic>
        <p:nvPicPr>
          <p:cNvPr id="437" name="Google Shape;437;g39b8c87ebf5_1_12"/>
          <p:cNvPicPr preferRelativeResize="0"/>
          <p:nvPr/>
        </p:nvPicPr>
        <p:blipFill>
          <a:blip r:embed="rId3">
            <a:alphaModFix/>
          </a:blip>
          <a:stretch>
            <a:fillRect/>
          </a:stretch>
        </p:blipFill>
        <p:spPr>
          <a:xfrm>
            <a:off x="1016663" y="1727400"/>
            <a:ext cx="16330887" cy="82547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39bbf9bcc5c_2_13"/>
          <p:cNvSpPr txBox="1"/>
          <p:nvPr/>
        </p:nvSpPr>
        <p:spPr>
          <a:xfrm>
            <a:off x="2197100" y="952370"/>
            <a:ext cx="136779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Functions trong DAX</a:t>
            </a:r>
            <a:endParaRPr b="1" i="0" sz="7200" u="none" cap="none" strike="noStrike">
              <a:solidFill>
                <a:schemeClr val="accent2"/>
              </a:solidFill>
              <a:latin typeface="Montserrat"/>
              <a:ea typeface="Montserrat"/>
              <a:cs typeface="Montserrat"/>
              <a:sym typeface="Montserrat"/>
            </a:endParaRPr>
          </a:p>
        </p:txBody>
      </p:sp>
      <p:grpSp>
        <p:nvGrpSpPr>
          <p:cNvPr id="443" name="Google Shape;443;g39bbf9bcc5c_2_13"/>
          <p:cNvGrpSpPr/>
          <p:nvPr/>
        </p:nvGrpSpPr>
        <p:grpSpPr>
          <a:xfrm>
            <a:off x="0" y="9426322"/>
            <a:ext cx="18287843" cy="860673"/>
            <a:chOff x="0" y="-38100"/>
            <a:chExt cx="6128839" cy="288439"/>
          </a:xfrm>
        </p:grpSpPr>
        <p:sp>
          <p:nvSpPr>
            <p:cNvPr id="444" name="Google Shape;444;g39bbf9bcc5c_2_13"/>
            <p:cNvSpPr/>
            <p:nvPr/>
          </p:nvSpPr>
          <p:spPr>
            <a:xfrm>
              <a:off x="0" y="0"/>
              <a:ext cx="6128839" cy="250339"/>
            </a:xfrm>
            <a:custGeom>
              <a:rect b="b" l="l" r="r" t="t"/>
              <a:pathLst>
                <a:path extrusionOk="0" h="250339" w="6128839">
                  <a:moveTo>
                    <a:pt x="0" y="0"/>
                  </a:moveTo>
                  <a:lnTo>
                    <a:pt x="6128839" y="0"/>
                  </a:lnTo>
                  <a:lnTo>
                    <a:pt x="6128839" y="250339"/>
                  </a:lnTo>
                  <a:lnTo>
                    <a:pt x="0" y="250339"/>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g39bbf9bcc5c_2_13"/>
            <p:cNvSpPr txBox="1"/>
            <p:nvPr/>
          </p:nvSpPr>
          <p:spPr>
            <a:xfrm>
              <a:off x="0" y="-38100"/>
              <a:ext cx="6128700" cy="288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446" name="Google Shape;446;g39bbf9bcc5c_2_13"/>
          <p:cNvPicPr preferRelativeResize="0"/>
          <p:nvPr/>
        </p:nvPicPr>
        <p:blipFill rotWithShape="1">
          <a:blip r:embed="rId3">
            <a:alphaModFix/>
          </a:blip>
          <a:srcRect b="0" l="0" r="0" t="0"/>
          <a:stretch/>
        </p:blipFill>
        <p:spPr>
          <a:xfrm>
            <a:off x="620425" y="1104099"/>
            <a:ext cx="353625" cy="2459996"/>
          </a:xfrm>
          <a:prstGeom prst="rect">
            <a:avLst/>
          </a:prstGeom>
          <a:noFill/>
          <a:ln>
            <a:noFill/>
          </a:ln>
        </p:spPr>
      </p:pic>
      <p:pic>
        <p:nvPicPr>
          <p:cNvPr id="447" name="Google Shape;447;g39bbf9bcc5c_2_13"/>
          <p:cNvPicPr preferRelativeResize="0"/>
          <p:nvPr/>
        </p:nvPicPr>
        <p:blipFill rotWithShape="1">
          <a:blip r:embed="rId4">
            <a:alphaModFix/>
          </a:blip>
          <a:srcRect b="0" l="0" r="0" t="0"/>
          <a:stretch/>
        </p:blipFill>
        <p:spPr>
          <a:xfrm>
            <a:off x="-1513655" y="9273925"/>
            <a:ext cx="7332975" cy="452200"/>
          </a:xfrm>
          <a:prstGeom prst="rect">
            <a:avLst/>
          </a:prstGeom>
          <a:noFill/>
          <a:ln>
            <a:noFill/>
          </a:ln>
        </p:spPr>
      </p:pic>
      <p:pic>
        <p:nvPicPr>
          <p:cNvPr id="448" name="Google Shape;448;g39bbf9bcc5c_2_13"/>
          <p:cNvPicPr preferRelativeResize="0"/>
          <p:nvPr/>
        </p:nvPicPr>
        <p:blipFill rotWithShape="1">
          <a:blip r:embed="rId5">
            <a:alphaModFix/>
          </a:blip>
          <a:srcRect b="0" l="0" r="0" t="0"/>
          <a:stretch/>
        </p:blipFill>
        <p:spPr>
          <a:xfrm>
            <a:off x="16925699" y="1997445"/>
            <a:ext cx="940575" cy="872625"/>
          </a:xfrm>
          <a:prstGeom prst="rect">
            <a:avLst/>
          </a:prstGeom>
          <a:noFill/>
          <a:ln>
            <a:noFill/>
          </a:ln>
        </p:spPr>
      </p:pic>
      <p:sp>
        <p:nvSpPr>
          <p:cNvPr id="449" name="Google Shape;449;g39bbf9bcc5c_2_13"/>
          <p:cNvSpPr/>
          <p:nvPr/>
        </p:nvSpPr>
        <p:spPr>
          <a:xfrm>
            <a:off x="1625363" y="6312419"/>
            <a:ext cx="3735600" cy="23469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rPr b="1" lang="en-US" sz="3000">
                <a:solidFill>
                  <a:schemeClr val="lt1"/>
                </a:solidFill>
                <a:latin typeface="Montserrat"/>
                <a:ea typeface="Montserrat"/>
                <a:cs typeface="Montserrat"/>
                <a:sym typeface="Montserrat"/>
              </a:rPr>
              <a:t>Aggregation Functions</a:t>
            </a:r>
            <a:endParaRPr b="1" i="0" sz="3000" u="none" cap="none" strike="noStrike">
              <a:solidFill>
                <a:schemeClr val="lt1"/>
              </a:solidFill>
              <a:latin typeface="Montserrat"/>
              <a:ea typeface="Montserrat"/>
              <a:cs typeface="Montserrat"/>
              <a:sym typeface="Montserrat"/>
            </a:endParaRPr>
          </a:p>
        </p:txBody>
      </p:sp>
      <p:sp>
        <p:nvSpPr>
          <p:cNvPr id="450" name="Google Shape;450;g39bbf9bcc5c_2_13"/>
          <p:cNvSpPr/>
          <p:nvPr/>
        </p:nvSpPr>
        <p:spPr>
          <a:xfrm>
            <a:off x="12740281" y="6312419"/>
            <a:ext cx="3735600" cy="23469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lt1"/>
                </a:solidFill>
                <a:latin typeface="Montserrat"/>
                <a:ea typeface="Montserrat"/>
                <a:cs typeface="Montserrat"/>
                <a:sym typeface="Montserrat"/>
              </a:rPr>
              <a:t>Calculated </a:t>
            </a:r>
            <a:r>
              <a:rPr b="1" lang="en-US" sz="3000">
                <a:solidFill>
                  <a:schemeClr val="lt1"/>
                </a:solidFill>
                <a:latin typeface="Montserrat"/>
                <a:ea typeface="Montserrat"/>
                <a:cs typeface="Montserrat"/>
                <a:sym typeface="Montserrat"/>
              </a:rPr>
              <a:t>Measure</a:t>
            </a:r>
            <a:endParaRPr b="1" i="0" sz="3000" u="none" cap="none" strike="noStrike">
              <a:solidFill>
                <a:schemeClr val="lt1"/>
              </a:solidFill>
              <a:latin typeface="Montserrat"/>
              <a:ea typeface="Montserrat"/>
              <a:cs typeface="Montserrat"/>
              <a:sym typeface="Montserrat"/>
            </a:endParaRPr>
          </a:p>
        </p:txBody>
      </p:sp>
      <p:sp>
        <p:nvSpPr>
          <p:cNvPr id="451" name="Google Shape;451;g39bbf9bcc5c_2_13"/>
          <p:cNvSpPr/>
          <p:nvPr/>
        </p:nvSpPr>
        <p:spPr>
          <a:xfrm>
            <a:off x="7639351" y="2369034"/>
            <a:ext cx="2513100" cy="2509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lt1"/>
                </a:solidFill>
                <a:latin typeface="Montserrat"/>
                <a:ea typeface="Montserrat"/>
                <a:cs typeface="Montserrat"/>
                <a:sym typeface="Montserrat"/>
              </a:rPr>
              <a:t>DAX</a:t>
            </a:r>
            <a:endParaRPr b="1" i="0" sz="3000" u="none" cap="none" strike="noStrike">
              <a:solidFill>
                <a:schemeClr val="lt1"/>
              </a:solidFill>
              <a:latin typeface="Montserrat"/>
              <a:ea typeface="Montserrat"/>
              <a:cs typeface="Montserrat"/>
              <a:sym typeface="Montserrat"/>
            </a:endParaRPr>
          </a:p>
        </p:txBody>
      </p:sp>
      <p:cxnSp>
        <p:nvCxnSpPr>
          <p:cNvPr id="452" name="Google Shape;452;g39bbf9bcc5c_2_13"/>
          <p:cNvCxnSpPr>
            <a:stCxn id="451" idx="2"/>
          </p:cNvCxnSpPr>
          <p:nvPr/>
        </p:nvCxnSpPr>
        <p:spPr>
          <a:xfrm flipH="1">
            <a:off x="4457251" y="3623934"/>
            <a:ext cx="3182100" cy="2714700"/>
          </a:xfrm>
          <a:prstGeom prst="straightConnector1">
            <a:avLst/>
          </a:prstGeom>
          <a:noFill/>
          <a:ln cap="flat" cmpd="sng" w="114300">
            <a:solidFill>
              <a:schemeClr val="accent2"/>
            </a:solidFill>
            <a:prstDash val="solid"/>
            <a:round/>
            <a:headEnd len="med" w="med" type="none"/>
            <a:tailEnd len="med" w="med" type="stealth"/>
          </a:ln>
        </p:spPr>
      </p:cxnSp>
      <p:cxnSp>
        <p:nvCxnSpPr>
          <p:cNvPr id="453" name="Google Shape;453;g39bbf9bcc5c_2_13"/>
          <p:cNvCxnSpPr>
            <a:stCxn id="451" idx="6"/>
          </p:cNvCxnSpPr>
          <p:nvPr/>
        </p:nvCxnSpPr>
        <p:spPr>
          <a:xfrm>
            <a:off x="10152451" y="3623934"/>
            <a:ext cx="3404100" cy="2684100"/>
          </a:xfrm>
          <a:prstGeom prst="straightConnector1">
            <a:avLst/>
          </a:prstGeom>
          <a:noFill/>
          <a:ln cap="flat" cmpd="sng" w="114300">
            <a:solidFill>
              <a:schemeClr val="accent2"/>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42"/>
                                        </p:tgtEl>
                                        <p:attrNameLst>
                                          <p:attrName>style.visibility</p:attrName>
                                        </p:attrNameLst>
                                      </p:cBhvr>
                                      <p:to>
                                        <p:strVal val="visible"/>
                                      </p:to>
                                    </p:set>
                                    <p:anim calcmode="lin" valueType="num">
                                      <p:cBhvr additive="base">
                                        <p:cTn dur="500"/>
                                        <p:tgtEl>
                                          <p:spTgt spid="442"/>
                                        </p:tgtEl>
                                        <p:attrNameLst>
                                          <p:attrName>ppt_w</p:attrName>
                                        </p:attrNameLst>
                                      </p:cBhvr>
                                      <p:tavLst>
                                        <p:tav fmla="" tm="0">
                                          <p:val>
                                            <p:strVal val="0"/>
                                          </p:val>
                                        </p:tav>
                                        <p:tav fmla="" tm="100000">
                                          <p:val>
                                            <p:strVal val="#ppt_w"/>
                                          </p:val>
                                        </p:tav>
                                      </p:tavLst>
                                    </p:anim>
                                    <p:anim calcmode="lin" valueType="num">
                                      <p:cBhvr additive="base">
                                        <p:cTn dur="500"/>
                                        <p:tgtEl>
                                          <p:spTgt spid="442"/>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449"/>
                                        </p:tgtEl>
                                        <p:attrNameLst>
                                          <p:attrName>style.visibility</p:attrName>
                                        </p:attrNameLst>
                                      </p:cBhvr>
                                      <p:to>
                                        <p:strVal val="visible"/>
                                      </p:to>
                                    </p:set>
                                    <p:anim calcmode="lin" valueType="num">
                                      <p:cBhvr additive="base">
                                        <p:cTn dur="500"/>
                                        <p:tgtEl>
                                          <p:spTgt spid="449"/>
                                        </p:tgtEl>
                                        <p:attrNameLst>
                                          <p:attrName>ppt_w</p:attrName>
                                        </p:attrNameLst>
                                      </p:cBhvr>
                                      <p:tavLst>
                                        <p:tav fmla="" tm="0">
                                          <p:val>
                                            <p:strVal val="0"/>
                                          </p:val>
                                        </p:tav>
                                        <p:tav fmla="" tm="100000">
                                          <p:val>
                                            <p:strVal val="#ppt_w"/>
                                          </p:val>
                                        </p:tav>
                                      </p:tavLst>
                                    </p:anim>
                                    <p:anim calcmode="lin" valueType="num">
                                      <p:cBhvr additive="base">
                                        <p:cTn dur="500"/>
                                        <p:tgtEl>
                                          <p:spTgt spid="44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450"/>
                                        </p:tgtEl>
                                        <p:attrNameLst>
                                          <p:attrName>style.visibility</p:attrName>
                                        </p:attrNameLst>
                                      </p:cBhvr>
                                      <p:to>
                                        <p:strVal val="visible"/>
                                      </p:to>
                                    </p:set>
                                    <p:anim calcmode="lin" valueType="num">
                                      <p:cBhvr additive="base">
                                        <p:cTn dur="500"/>
                                        <p:tgtEl>
                                          <p:spTgt spid="450"/>
                                        </p:tgtEl>
                                        <p:attrNameLst>
                                          <p:attrName>ppt_w</p:attrName>
                                        </p:attrNameLst>
                                      </p:cBhvr>
                                      <p:tavLst>
                                        <p:tav fmla="" tm="0">
                                          <p:val>
                                            <p:strVal val="0"/>
                                          </p:val>
                                        </p:tav>
                                        <p:tav fmla="" tm="100000">
                                          <p:val>
                                            <p:strVal val="#ppt_w"/>
                                          </p:val>
                                        </p:tav>
                                      </p:tavLst>
                                    </p:anim>
                                    <p:anim calcmode="lin" valueType="num">
                                      <p:cBhvr additive="base">
                                        <p:cTn dur="500"/>
                                        <p:tgtEl>
                                          <p:spTgt spid="45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9bbf9bcc5c_2_30"/>
          <p:cNvSpPr txBox="1"/>
          <p:nvPr/>
        </p:nvSpPr>
        <p:spPr>
          <a:xfrm>
            <a:off x="3053700" y="474875"/>
            <a:ext cx="123846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Aggregation Functions</a:t>
            </a:r>
            <a:endParaRPr b="1" i="0" sz="7200" u="none" cap="none" strike="noStrike">
              <a:solidFill>
                <a:schemeClr val="accent2"/>
              </a:solidFill>
              <a:latin typeface="Montserrat"/>
              <a:ea typeface="Montserrat"/>
              <a:cs typeface="Montserrat"/>
              <a:sym typeface="Montserrat"/>
            </a:endParaRPr>
          </a:p>
        </p:txBody>
      </p:sp>
      <p:sp>
        <p:nvSpPr>
          <p:cNvPr id="459" name="Google Shape;459;g39bbf9bcc5c_2_30"/>
          <p:cNvSpPr txBox="1"/>
          <p:nvPr/>
        </p:nvSpPr>
        <p:spPr>
          <a:xfrm>
            <a:off x="9474200" y="3813050"/>
            <a:ext cx="7244100" cy="46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chemeClr val="accent2"/>
                </a:solidFill>
                <a:latin typeface="Montserrat"/>
                <a:ea typeface="Montserrat"/>
                <a:cs typeface="Montserrat"/>
                <a:sym typeface="Montserrat"/>
              </a:rPr>
              <a:t>Khái niệm:</a:t>
            </a:r>
            <a:r>
              <a:rPr lang="en-US" sz="3000">
                <a:solidFill>
                  <a:schemeClr val="dk1"/>
                </a:solidFill>
                <a:latin typeface="Montserrat"/>
                <a:ea typeface="Montserrat"/>
                <a:cs typeface="Montserrat"/>
                <a:sym typeface="Montserrat"/>
              </a:rPr>
              <a:t>  </a:t>
            </a:r>
            <a:endParaRPr sz="3000">
              <a:solidFill>
                <a:schemeClr val="dk1"/>
              </a:solidFill>
              <a:latin typeface="Montserrat"/>
              <a:ea typeface="Montserrat"/>
              <a:cs typeface="Montserrat"/>
              <a:sym typeface="Montserrat"/>
            </a:endParaRPr>
          </a:p>
          <a:p>
            <a:pPr indent="0" lvl="0" marL="0" rtl="0" algn="just">
              <a:spcBef>
                <a:spcPts val="0"/>
              </a:spcBef>
              <a:spcAft>
                <a:spcPts val="0"/>
              </a:spcAft>
              <a:buNone/>
            </a:pPr>
            <a:r>
              <a:rPr lang="en-US" sz="3000">
                <a:solidFill>
                  <a:schemeClr val="dk1"/>
                </a:solidFill>
                <a:latin typeface="Montserrat"/>
                <a:ea typeface="Montserrat"/>
                <a:cs typeface="Montserrat"/>
                <a:sym typeface="Montserrat"/>
              </a:rPr>
              <a:t>Đây là các hàm cơ bản nhất, dùng để thực hiện một phép tính tóm tắt trên một cột dữ liệu. Chúng trả về một giá trị duy nhất (scalar value) và luôn hoạt động trong Ngữ cảnh Lọc (Filter Context) hiện tại.</a:t>
            </a:r>
            <a:endParaRPr sz="3000">
              <a:solidFill>
                <a:schemeClr val="dk1"/>
              </a:solidFill>
              <a:latin typeface="Montserrat"/>
              <a:ea typeface="Montserrat"/>
              <a:cs typeface="Montserrat"/>
              <a:sym typeface="Montserrat"/>
            </a:endParaRPr>
          </a:p>
        </p:txBody>
      </p:sp>
      <p:pic>
        <p:nvPicPr>
          <p:cNvPr id="460" name="Google Shape;460;g39bbf9bcc5c_2_30"/>
          <p:cNvPicPr preferRelativeResize="0"/>
          <p:nvPr/>
        </p:nvPicPr>
        <p:blipFill>
          <a:blip r:embed="rId3">
            <a:alphaModFix/>
          </a:blip>
          <a:stretch>
            <a:fillRect/>
          </a:stretch>
        </p:blipFill>
        <p:spPr>
          <a:xfrm>
            <a:off x="692175" y="2845925"/>
            <a:ext cx="7944575" cy="55532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58"/>
                                        </p:tgtEl>
                                        <p:attrNameLst>
                                          <p:attrName>style.visibility</p:attrName>
                                        </p:attrNameLst>
                                      </p:cBhvr>
                                      <p:to>
                                        <p:strVal val="visible"/>
                                      </p:to>
                                    </p:set>
                                    <p:anim calcmode="lin" valueType="num">
                                      <p:cBhvr additive="base">
                                        <p:cTn dur="500"/>
                                        <p:tgtEl>
                                          <p:spTgt spid="458"/>
                                        </p:tgtEl>
                                        <p:attrNameLst>
                                          <p:attrName>ppt_w</p:attrName>
                                        </p:attrNameLst>
                                      </p:cBhvr>
                                      <p:tavLst>
                                        <p:tav fmla="" tm="0">
                                          <p:val>
                                            <p:strVal val="0"/>
                                          </p:val>
                                        </p:tav>
                                        <p:tav fmla="" tm="100000">
                                          <p:val>
                                            <p:strVal val="#ppt_w"/>
                                          </p:val>
                                        </p:tav>
                                      </p:tavLst>
                                    </p:anim>
                                    <p:anim calcmode="lin" valueType="num">
                                      <p:cBhvr additive="base">
                                        <p:cTn dur="500"/>
                                        <p:tgtEl>
                                          <p:spTgt spid="45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grpSp>
        <p:nvGrpSpPr>
          <p:cNvPr id="465" name="Google Shape;465;g39bbf9bcc5c_2_38"/>
          <p:cNvGrpSpPr/>
          <p:nvPr/>
        </p:nvGrpSpPr>
        <p:grpSpPr>
          <a:xfrm>
            <a:off x="10073845" y="9144613"/>
            <a:ext cx="8214086" cy="1142377"/>
            <a:chOff x="0" y="-38100"/>
            <a:chExt cx="2752802" cy="382847"/>
          </a:xfrm>
        </p:grpSpPr>
        <p:sp>
          <p:nvSpPr>
            <p:cNvPr id="466" name="Google Shape;466;g39bbf9bcc5c_2_38"/>
            <p:cNvSpPr/>
            <p:nvPr/>
          </p:nvSpPr>
          <p:spPr>
            <a:xfrm>
              <a:off x="0" y="0"/>
              <a:ext cx="2752802" cy="344747"/>
            </a:xfrm>
            <a:custGeom>
              <a:rect b="b" l="l" r="r" t="t"/>
              <a:pathLst>
                <a:path extrusionOk="0" h="344747" w="2752802">
                  <a:moveTo>
                    <a:pt x="0" y="0"/>
                  </a:moveTo>
                  <a:lnTo>
                    <a:pt x="2752802" y="0"/>
                  </a:lnTo>
                  <a:lnTo>
                    <a:pt x="2752802" y="344747"/>
                  </a:lnTo>
                  <a:lnTo>
                    <a:pt x="0" y="344747"/>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g39bbf9bcc5c_2_38"/>
            <p:cNvSpPr txBox="1"/>
            <p:nvPr/>
          </p:nvSpPr>
          <p:spPr>
            <a:xfrm>
              <a:off x="0" y="-38100"/>
              <a:ext cx="2752800" cy="3828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8" name="Google Shape;468;g39bbf9bcc5c_2_38"/>
          <p:cNvGrpSpPr/>
          <p:nvPr/>
        </p:nvGrpSpPr>
        <p:grpSpPr>
          <a:xfrm>
            <a:off x="0" y="8125136"/>
            <a:ext cx="10074053" cy="2162012"/>
            <a:chOff x="0" y="-38100"/>
            <a:chExt cx="4441039" cy="953100"/>
          </a:xfrm>
        </p:grpSpPr>
        <p:sp>
          <p:nvSpPr>
            <p:cNvPr id="469" name="Google Shape;469;g39bbf9bcc5c_2_38"/>
            <p:cNvSpPr/>
            <p:nvPr/>
          </p:nvSpPr>
          <p:spPr>
            <a:xfrm>
              <a:off x="0" y="0"/>
              <a:ext cx="4441039" cy="914953"/>
            </a:xfrm>
            <a:custGeom>
              <a:rect b="b" l="l" r="r" t="t"/>
              <a:pathLst>
                <a:path extrusionOk="0" h="914953" w="4441039">
                  <a:moveTo>
                    <a:pt x="0" y="0"/>
                  </a:moveTo>
                  <a:lnTo>
                    <a:pt x="4441039" y="0"/>
                  </a:lnTo>
                  <a:lnTo>
                    <a:pt x="4441039" y="914953"/>
                  </a:lnTo>
                  <a:lnTo>
                    <a:pt x="0" y="914953"/>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g39bbf9bcc5c_2_38"/>
            <p:cNvSpPr txBox="1"/>
            <p:nvPr/>
          </p:nvSpPr>
          <p:spPr>
            <a:xfrm>
              <a:off x="0" y="-38100"/>
              <a:ext cx="4440900" cy="9531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471" name="Google Shape;471;g39bbf9bcc5c_2_38"/>
          <p:cNvPicPr preferRelativeResize="0"/>
          <p:nvPr/>
        </p:nvPicPr>
        <p:blipFill rotWithShape="1">
          <a:blip r:embed="rId3">
            <a:alphaModFix/>
          </a:blip>
          <a:srcRect b="0" l="0" r="0" t="0"/>
          <a:stretch/>
        </p:blipFill>
        <p:spPr>
          <a:xfrm>
            <a:off x="528908" y="445935"/>
            <a:ext cx="1651963" cy="1142375"/>
          </a:xfrm>
          <a:prstGeom prst="rect">
            <a:avLst/>
          </a:prstGeom>
          <a:noFill/>
          <a:ln>
            <a:noFill/>
          </a:ln>
        </p:spPr>
      </p:pic>
      <p:pic>
        <p:nvPicPr>
          <p:cNvPr id="472" name="Google Shape;472;g39bbf9bcc5c_2_38"/>
          <p:cNvPicPr preferRelativeResize="0"/>
          <p:nvPr/>
        </p:nvPicPr>
        <p:blipFill rotWithShape="1">
          <a:blip r:embed="rId4">
            <a:alphaModFix/>
          </a:blip>
          <a:srcRect b="0" l="0" r="0" t="0"/>
          <a:stretch/>
        </p:blipFill>
        <p:spPr>
          <a:xfrm flipH="1" rot="10800000">
            <a:off x="16385880" y="339700"/>
            <a:ext cx="2746424" cy="400521"/>
          </a:xfrm>
          <a:prstGeom prst="rect">
            <a:avLst/>
          </a:prstGeom>
          <a:noFill/>
          <a:ln>
            <a:noFill/>
          </a:ln>
        </p:spPr>
      </p:pic>
      <p:pic>
        <p:nvPicPr>
          <p:cNvPr id="473" name="Google Shape;473;g39bbf9bcc5c_2_38"/>
          <p:cNvPicPr preferRelativeResize="0"/>
          <p:nvPr/>
        </p:nvPicPr>
        <p:blipFill rotWithShape="1">
          <a:blip r:embed="rId5">
            <a:alphaModFix/>
          </a:blip>
          <a:srcRect b="0" l="0" r="0" t="0"/>
          <a:stretch/>
        </p:blipFill>
        <p:spPr>
          <a:xfrm>
            <a:off x="14915958" y="9460972"/>
            <a:ext cx="2351617" cy="595500"/>
          </a:xfrm>
          <a:prstGeom prst="rect">
            <a:avLst/>
          </a:prstGeom>
          <a:noFill/>
          <a:ln>
            <a:noFill/>
          </a:ln>
        </p:spPr>
      </p:pic>
      <p:sp>
        <p:nvSpPr>
          <p:cNvPr id="474" name="Google Shape;474;g39bbf9bcc5c_2_38"/>
          <p:cNvSpPr txBox="1"/>
          <p:nvPr/>
        </p:nvSpPr>
        <p:spPr>
          <a:xfrm>
            <a:off x="4504373" y="590360"/>
            <a:ext cx="92793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Iterative Functions</a:t>
            </a:r>
            <a:endParaRPr/>
          </a:p>
        </p:txBody>
      </p:sp>
      <p:sp>
        <p:nvSpPr>
          <p:cNvPr id="475" name="Google Shape;475;g39bbf9bcc5c_2_38"/>
          <p:cNvSpPr/>
          <p:nvPr/>
        </p:nvSpPr>
        <p:spPr>
          <a:xfrm>
            <a:off x="15338124" y="5771712"/>
            <a:ext cx="2335800" cy="2332800"/>
          </a:xfrm>
          <a:prstGeom prst="ellipse">
            <a:avLst/>
          </a:prstGeom>
          <a:solidFill>
            <a:schemeClr val="accent2"/>
          </a:solidFill>
          <a:ln>
            <a:noFill/>
          </a:ln>
        </p:spPr>
        <p:txBody>
          <a:bodyPr anchorCtr="0" anchor="ctr" bIns="45700" lIns="91425" spcFirstLastPara="1" rIns="91425" wrap="square" tIns="45700">
            <a:noAutofit/>
          </a:bodyPr>
          <a:lstStyle/>
          <a:p>
            <a:pPr indent="0" lvl="0" marL="0" rtl="0" algn="ctr">
              <a:lnSpc>
                <a:spcPct val="150000"/>
              </a:lnSpc>
              <a:spcBef>
                <a:spcPts val="1200"/>
              </a:spcBef>
              <a:spcAft>
                <a:spcPts val="2400"/>
              </a:spcAft>
              <a:buNone/>
            </a:pPr>
            <a:r>
              <a:rPr b="1" lang="en-US" sz="3000">
                <a:solidFill>
                  <a:schemeClr val="lt1"/>
                </a:solidFill>
                <a:latin typeface="Montserrat"/>
                <a:ea typeface="Montserrat"/>
                <a:cs typeface="Montserrat"/>
                <a:sym typeface="Montserrat"/>
              </a:rPr>
              <a:t>Tổng hợp</a:t>
            </a:r>
            <a:endParaRPr b="1" i="0" sz="3000" u="none" cap="none" strike="noStrike">
              <a:solidFill>
                <a:schemeClr val="lt1"/>
              </a:solidFill>
              <a:latin typeface="Montserrat"/>
              <a:ea typeface="Montserrat"/>
              <a:cs typeface="Montserrat"/>
              <a:sym typeface="Montserrat"/>
            </a:endParaRPr>
          </a:p>
        </p:txBody>
      </p:sp>
      <p:sp>
        <p:nvSpPr>
          <p:cNvPr id="476" name="Google Shape;476;g39bbf9bcc5c_2_38"/>
          <p:cNvSpPr/>
          <p:nvPr/>
        </p:nvSpPr>
        <p:spPr>
          <a:xfrm>
            <a:off x="98339" y="3601809"/>
            <a:ext cx="2513100" cy="25098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2800">
                <a:solidFill>
                  <a:schemeClr val="lt1"/>
                </a:solidFill>
              </a:rPr>
              <a:t>Cơ chế</a:t>
            </a:r>
            <a:endParaRPr b="1" i="0" sz="2800" u="none" cap="none" strike="noStrike">
              <a:solidFill>
                <a:schemeClr val="lt1"/>
              </a:solidFill>
            </a:endParaRPr>
          </a:p>
        </p:txBody>
      </p:sp>
      <p:sp>
        <p:nvSpPr>
          <p:cNvPr id="477" name="Google Shape;477;g39bbf9bcc5c_2_38"/>
          <p:cNvSpPr/>
          <p:nvPr/>
        </p:nvSpPr>
        <p:spPr>
          <a:xfrm>
            <a:off x="15338137" y="1388862"/>
            <a:ext cx="2335800" cy="2332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2800">
                <a:solidFill>
                  <a:schemeClr val="lt1"/>
                </a:solidFill>
              </a:rPr>
              <a:t>Khái niệm</a:t>
            </a:r>
            <a:endParaRPr b="1" i="0" sz="2800" u="none" cap="none" strike="noStrike">
              <a:solidFill>
                <a:schemeClr val="lt1"/>
              </a:solidFill>
            </a:endParaRPr>
          </a:p>
        </p:txBody>
      </p:sp>
      <p:sp>
        <p:nvSpPr>
          <p:cNvPr id="478" name="Google Shape;478;g39bbf9bcc5c_2_38"/>
          <p:cNvSpPr txBox="1"/>
          <p:nvPr/>
        </p:nvSpPr>
        <p:spPr>
          <a:xfrm>
            <a:off x="2846075" y="4121463"/>
            <a:ext cx="8572500" cy="18006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2400"/>
              </a:spcAft>
              <a:buNone/>
            </a:pPr>
            <a:r>
              <a:rPr lang="en-US" sz="3000">
                <a:solidFill>
                  <a:srgbClr val="0A0A0A"/>
                </a:solidFill>
                <a:latin typeface="Montserrat"/>
                <a:ea typeface="Montserrat"/>
                <a:cs typeface="Montserrat"/>
                <a:sym typeface="Montserrat"/>
              </a:rPr>
              <a:t>Lặp qua từng hàng và thực hiện tính toán trên mỗi hàng</a:t>
            </a:r>
            <a:endParaRPr sz="3000">
              <a:solidFill>
                <a:srgbClr val="0A0A0A"/>
              </a:solidFill>
              <a:latin typeface="Montserrat"/>
              <a:ea typeface="Montserrat"/>
              <a:cs typeface="Montserrat"/>
              <a:sym typeface="Montserrat"/>
            </a:endParaRPr>
          </a:p>
        </p:txBody>
      </p:sp>
      <p:sp>
        <p:nvSpPr>
          <p:cNvPr id="479" name="Google Shape;479;g39bbf9bcc5c_2_38"/>
          <p:cNvSpPr txBox="1"/>
          <p:nvPr/>
        </p:nvSpPr>
        <p:spPr>
          <a:xfrm>
            <a:off x="8748575" y="2158650"/>
            <a:ext cx="5732400" cy="1563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2400"/>
              </a:spcAft>
              <a:buNone/>
            </a:pPr>
            <a:r>
              <a:rPr lang="en-US" sz="3000">
                <a:solidFill>
                  <a:srgbClr val="0A0A0A"/>
                </a:solidFill>
                <a:latin typeface="Montserrat"/>
                <a:ea typeface="Montserrat"/>
                <a:cs typeface="Montserrat"/>
                <a:sym typeface="Montserrat"/>
              </a:rPr>
              <a:t>Là các hàm lặp rất mạnh mẽ vì tạo ra Row Context</a:t>
            </a:r>
            <a:endParaRPr sz="2400">
              <a:solidFill>
                <a:schemeClr val="dk1"/>
              </a:solidFill>
              <a:latin typeface="Montserrat"/>
              <a:ea typeface="Montserrat"/>
              <a:cs typeface="Montserrat"/>
              <a:sym typeface="Montserrat"/>
            </a:endParaRPr>
          </a:p>
        </p:txBody>
      </p:sp>
      <p:sp>
        <p:nvSpPr>
          <p:cNvPr id="480" name="Google Shape;480;g39bbf9bcc5c_2_38"/>
          <p:cNvSpPr txBox="1"/>
          <p:nvPr/>
        </p:nvSpPr>
        <p:spPr>
          <a:xfrm>
            <a:off x="6621425" y="5942688"/>
            <a:ext cx="8081700" cy="2161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0"/>
              </a:spcAft>
              <a:buNone/>
            </a:pPr>
            <a:r>
              <a:rPr lang="en-US" sz="3000">
                <a:solidFill>
                  <a:srgbClr val="0A0A0A"/>
                </a:solidFill>
                <a:latin typeface="Montserrat"/>
                <a:ea typeface="Montserrat"/>
                <a:cs typeface="Montserrat"/>
                <a:sym typeface="Montserrat"/>
              </a:rPr>
              <a:t>Sau đó tổng hợp lại và trả kết quả</a:t>
            </a:r>
            <a:endParaRPr sz="3000">
              <a:solidFill>
                <a:srgbClr val="0A0A0A"/>
              </a:solidFill>
              <a:latin typeface="Montserrat"/>
              <a:ea typeface="Montserrat"/>
              <a:cs typeface="Montserrat"/>
              <a:sym typeface="Montserrat"/>
            </a:endParaRPr>
          </a:p>
          <a:p>
            <a:pPr indent="0" lvl="0" marL="0" rtl="0" algn="l">
              <a:spcBef>
                <a:spcPts val="2400"/>
              </a:spcBef>
              <a:spcAft>
                <a:spcPts val="0"/>
              </a:spcAft>
              <a:buNone/>
            </a:pPr>
            <a:r>
              <a:t/>
            </a:r>
            <a:endParaRPr sz="24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4"/>
                                        </p:tgtEl>
                                        <p:attrNameLst>
                                          <p:attrName>style.visibility</p:attrName>
                                        </p:attrNameLst>
                                      </p:cBhvr>
                                      <p:to>
                                        <p:strVal val="visible"/>
                                      </p:to>
                                    </p:set>
                                    <p:anim calcmode="lin" valueType="num">
                                      <p:cBhvr additive="base">
                                        <p:cTn dur="500"/>
                                        <p:tgtEl>
                                          <p:spTgt spid="474"/>
                                        </p:tgtEl>
                                        <p:attrNameLst>
                                          <p:attrName>ppt_w</p:attrName>
                                        </p:attrNameLst>
                                      </p:cBhvr>
                                      <p:tavLst>
                                        <p:tav fmla="" tm="0">
                                          <p:val>
                                            <p:strVal val="0"/>
                                          </p:val>
                                        </p:tav>
                                        <p:tav fmla="" tm="100000">
                                          <p:val>
                                            <p:strVal val="#ppt_w"/>
                                          </p:val>
                                        </p:tav>
                                      </p:tavLst>
                                    </p:anim>
                                    <p:anim calcmode="lin" valueType="num">
                                      <p:cBhvr additive="base">
                                        <p:cTn dur="500"/>
                                        <p:tgtEl>
                                          <p:spTgt spid="47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5"/>
                                        </p:tgtEl>
                                        <p:attrNameLst>
                                          <p:attrName>style.visibility</p:attrName>
                                        </p:attrNameLst>
                                      </p:cBhvr>
                                      <p:to>
                                        <p:strVal val="visible"/>
                                      </p:to>
                                    </p:set>
                                    <p:anim calcmode="lin" valueType="num">
                                      <p:cBhvr additive="base">
                                        <p:cTn dur="500"/>
                                        <p:tgtEl>
                                          <p:spTgt spid="475"/>
                                        </p:tgtEl>
                                        <p:attrNameLst>
                                          <p:attrName>ppt_w</p:attrName>
                                        </p:attrNameLst>
                                      </p:cBhvr>
                                      <p:tavLst>
                                        <p:tav fmla="" tm="0">
                                          <p:val>
                                            <p:strVal val="0"/>
                                          </p:val>
                                        </p:tav>
                                        <p:tav fmla="" tm="100000">
                                          <p:val>
                                            <p:strVal val="#ppt_w"/>
                                          </p:val>
                                        </p:tav>
                                      </p:tavLst>
                                    </p:anim>
                                    <p:anim calcmode="lin" valueType="num">
                                      <p:cBhvr additive="base">
                                        <p:cTn dur="500"/>
                                        <p:tgtEl>
                                          <p:spTgt spid="47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50"/>
                                  </p:stCondLst>
                                  <p:childTnLst>
                                    <p:set>
                                      <p:cBhvr>
                                        <p:cTn dur="1" fill="hold">
                                          <p:stCondLst>
                                            <p:cond delay="0"/>
                                          </p:stCondLst>
                                        </p:cTn>
                                        <p:tgtEl>
                                          <p:spTgt spid="476"/>
                                        </p:tgtEl>
                                        <p:attrNameLst>
                                          <p:attrName>style.visibility</p:attrName>
                                        </p:attrNameLst>
                                      </p:cBhvr>
                                      <p:to>
                                        <p:strVal val="visible"/>
                                      </p:to>
                                    </p:set>
                                    <p:anim calcmode="lin" valueType="num">
                                      <p:cBhvr additive="base">
                                        <p:cTn dur="500"/>
                                        <p:tgtEl>
                                          <p:spTgt spid="476"/>
                                        </p:tgtEl>
                                        <p:attrNameLst>
                                          <p:attrName>ppt_w</p:attrName>
                                        </p:attrNameLst>
                                      </p:cBhvr>
                                      <p:tavLst>
                                        <p:tav fmla="" tm="0">
                                          <p:val>
                                            <p:strVal val="0"/>
                                          </p:val>
                                        </p:tav>
                                        <p:tav fmla="" tm="100000">
                                          <p:val>
                                            <p:strVal val="#ppt_w"/>
                                          </p:val>
                                        </p:tav>
                                      </p:tavLst>
                                    </p:anim>
                                    <p:anim calcmode="lin" valueType="num">
                                      <p:cBhvr additive="base">
                                        <p:cTn dur="500"/>
                                        <p:tgtEl>
                                          <p:spTgt spid="47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36cb847554b_0_0"/>
          <p:cNvSpPr txBox="1"/>
          <p:nvPr/>
        </p:nvSpPr>
        <p:spPr>
          <a:xfrm>
            <a:off x="4336775" y="1363825"/>
            <a:ext cx="9580800" cy="10776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lang="en-US" sz="7000">
                <a:solidFill>
                  <a:schemeClr val="accent2"/>
                </a:solidFill>
                <a:latin typeface="Montserrat"/>
                <a:ea typeface="Montserrat"/>
                <a:cs typeface="Montserrat"/>
                <a:sym typeface="Montserrat"/>
              </a:rPr>
              <a:t>Time Intelligence</a:t>
            </a:r>
            <a:endParaRPr b="1" sz="7000">
              <a:solidFill>
                <a:schemeClr val="accent2"/>
              </a:solidFill>
              <a:latin typeface="Montserrat"/>
              <a:ea typeface="Montserrat"/>
              <a:cs typeface="Montserrat"/>
              <a:sym typeface="Montserrat"/>
            </a:endParaRPr>
          </a:p>
        </p:txBody>
      </p:sp>
      <p:sp>
        <p:nvSpPr>
          <p:cNvPr id="486" name="Google Shape;486;g36cb847554b_0_0"/>
          <p:cNvSpPr txBox="1"/>
          <p:nvPr/>
        </p:nvSpPr>
        <p:spPr>
          <a:xfrm>
            <a:off x="9182100" y="3802930"/>
            <a:ext cx="6918600" cy="1724100"/>
          </a:xfrm>
          <a:prstGeom prst="rect">
            <a:avLst/>
          </a:prstGeom>
          <a:noFill/>
          <a:ln>
            <a:noFill/>
          </a:ln>
        </p:spPr>
        <p:txBody>
          <a:bodyPr anchorCtr="0" anchor="t" bIns="0" lIns="0" spcFirstLastPara="1" rIns="0" wrap="square" tIns="0">
            <a:spAutoFit/>
          </a:bodyPr>
          <a:lstStyle/>
          <a:p>
            <a:pPr indent="0" lvl="0" marL="0" marR="0" rtl="0" algn="just">
              <a:lnSpc>
                <a:spcPct val="150014"/>
              </a:lnSpc>
              <a:spcBef>
                <a:spcPts val="0"/>
              </a:spcBef>
              <a:spcAft>
                <a:spcPts val="0"/>
              </a:spcAft>
              <a:buNone/>
            </a:pPr>
            <a:r>
              <a:rPr lang="en-US" sz="2800">
                <a:solidFill>
                  <a:schemeClr val="dk1"/>
                </a:solidFill>
                <a:latin typeface="Montserrat"/>
                <a:ea typeface="Montserrat"/>
                <a:cs typeface="Montserrat"/>
                <a:sym typeface="Montserrat"/>
              </a:rPr>
              <a:t>Là tập hợp các DAX chuyên dụng để thực hiện các phép tính so sánh về thời gian</a:t>
            </a:r>
            <a:endParaRPr sz="2800">
              <a:solidFill>
                <a:schemeClr val="dk1"/>
              </a:solidFill>
              <a:latin typeface="Montserrat"/>
              <a:ea typeface="Montserrat"/>
              <a:cs typeface="Montserrat"/>
              <a:sym typeface="Montserrat"/>
            </a:endParaRPr>
          </a:p>
        </p:txBody>
      </p:sp>
      <p:pic>
        <p:nvPicPr>
          <p:cNvPr id="487" name="Google Shape;487;g36cb847554b_0_0"/>
          <p:cNvPicPr preferRelativeResize="0"/>
          <p:nvPr/>
        </p:nvPicPr>
        <p:blipFill>
          <a:blip r:embed="rId3">
            <a:alphaModFix/>
          </a:blip>
          <a:stretch>
            <a:fillRect/>
          </a:stretch>
        </p:blipFill>
        <p:spPr>
          <a:xfrm>
            <a:off x="490975" y="3802925"/>
            <a:ext cx="7385499" cy="3692750"/>
          </a:xfrm>
          <a:prstGeom prst="rect">
            <a:avLst/>
          </a:prstGeom>
          <a:noFill/>
          <a:ln>
            <a:noFill/>
          </a:ln>
        </p:spPr>
      </p:pic>
      <p:sp>
        <p:nvSpPr>
          <p:cNvPr id="488" name="Google Shape;488;g36cb847554b_0_0"/>
          <p:cNvSpPr txBox="1"/>
          <p:nvPr/>
        </p:nvSpPr>
        <p:spPr>
          <a:xfrm>
            <a:off x="9182100" y="5771580"/>
            <a:ext cx="6918600" cy="1724100"/>
          </a:xfrm>
          <a:prstGeom prst="rect">
            <a:avLst/>
          </a:prstGeom>
          <a:noFill/>
          <a:ln>
            <a:noFill/>
          </a:ln>
        </p:spPr>
        <p:txBody>
          <a:bodyPr anchorCtr="0" anchor="t" bIns="0" lIns="0" spcFirstLastPara="1" rIns="0" wrap="square" tIns="0">
            <a:spAutoFit/>
          </a:bodyPr>
          <a:lstStyle/>
          <a:p>
            <a:pPr indent="0" lvl="0" marL="0" marR="0" rtl="0" algn="just">
              <a:lnSpc>
                <a:spcPct val="150014"/>
              </a:lnSpc>
              <a:spcBef>
                <a:spcPts val="0"/>
              </a:spcBef>
              <a:spcAft>
                <a:spcPts val="0"/>
              </a:spcAft>
              <a:buNone/>
            </a:pPr>
            <a:r>
              <a:rPr lang="en-US" sz="2800">
                <a:solidFill>
                  <a:schemeClr val="dk1"/>
                </a:solidFill>
                <a:latin typeface="Montserrat"/>
                <a:ea typeface="Montserrat"/>
                <a:cs typeface="Montserrat"/>
                <a:sym typeface="Montserrat"/>
              </a:rPr>
              <a:t>Vô cùng hữu ích khi ta cần thống kê những insight liên quan đến quý hay mốc thời gian cụ thể</a:t>
            </a:r>
            <a:endParaRPr sz="2800">
              <a:solidFill>
                <a:schemeClr val="dk1"/>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grpSp>
        <p:nvGrpSpPr>
          <p:cNvPr id="493" name="Google Shape;493;g39afd2df374_4_0"/>
          <p:cNvGrpSpPr/>
          <p:nvPr/>
        </p:nvGrpSpPr>
        <p:grpSpPr>
          <a:xfrm>
            <a:off x="8696112" y="8188625"/>
            <a:ext cx="9591806" cy="2098356"/>
            <a:chOff x="0" y="-38100"/>
            <a:chExt cx="3214520" cy="703226"/>
          </a:xfrm>
        </p:grpSpPr>
        <p:sp>
          <p:nvSpPr>
            <p:cNvPr id="494" name="Google Shape;494;g39afd2df374_4_0"/>
            <p:cNvSpPr/>
            <p:nvPr/>
          </p:nvSpPr>
          <p:spPr>
            <a:xfrm>
              <a:off x="0" y="0"/>
              <a:ext cx="3214520" cy="665126"/>
            </a:xfrm>
            <a:custGeom>
              <a:rect b="b" l="l" r="r" t="t"/>
              <a:pathLst>
                <a:path extrusionOk="0" h="665126" w="3214520">
                  <a:moveTo>
                    <a:pt x="0" y="0"/>
                  </a:moveTo>
                  <a:lnTo>
                    <a:pt x="3214520" y="0"/>
                  </a:lnTo>
                  <a:lnTo>
                    <a:pt x="3214520" y="665126"/>
                  </a:lnTo>
                  <a:lnTo>
                    <a:pt x="0" y="665126"/>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g39afd2df374_4_0"/>
            <p:cNvSpPr txBox="1"/>
            <p:nvPr/>
          </p:nvSpPr>
          <p:spPr>
            <a:xfrm>
              <a:off x="0" y="-38100"/>
              <a:ext cx="3214500" cy="7032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496" name="Google Shape;496;g39afd2df374_4_0"/>
          <p:cNvPicPr preferRelativeResize="0"/>
          <p:nvPr/>
        </p:nvPicPr>
        <p:blipFill rotWithShape="1">
          <a:blip r:embed="rId3">
            <a:alphaModFix/>
          </a:blip>
          <a:srcRect b="0" l="0" r="0" t="0"/>
          <a:stretch/>
        </p:blipFill>
        <p:spPr>
          <a:xfrm>
            <a:off x="5908247" y="9331625"/>
            <a:ext cx="7333203" cy="452225"/>
          </a:xfrm>
          <a:prstGeom prst="rect">
            <a:avLst/>
          </a:prstGeom>
          <a:noFill/>
          <a:ln>
            <a:noFill/>
          </a:ln>
        </p:spPr>
      </p:pic>
      <p:grpSp>
        <p:nvGrpSpPr>
          <p:cNvPr id="497" name="Google Shape;497;g39afd2df374_4_0"/>
          <p:cNvGrpSpPr/>
          <p:nvPr/>
        </p:nvGrpSpPr>
        <p:grpSpPr>
          <a:xfrm>
            <a:off x="0" y="-113687"/>
            <a:ext cx="4724973" cy="1142377"/>
            <a:chOff x="0" y="-38100"/>
            <a:chExt cx="1583489" cy="382847"/>
          </a:xfrm>
        </p:grpSpPr>
        <p:sp>
          <p:nvSpPr>
            <p:cNvPr id="498" name="Google Shape;498;g39afd2df374_4_0"/>
            <p:cNvSpPr/>
            <p:nvPr/>
          </p:nvSpPr>
          <p:spPr>
            <a:xfrm>
              <a:off x="0" y="0"/>
              <a:ext cx="1583489" cy="344747"/>
            </a:xfrm>
            <a:custGeom>
              <a:rect b="b" l="l" r="r" t="t"/>
              <a:pathLst>
                <a:path extrusionOk="0" h="344747" w="1583489">
                  <a:moveTo>
                    <a:pt x="0" y="0"/>
                  </a:moveTo>
                  <a:lnTo>
                    <a:pt x="1583489" y="0"/>
                  </a:lnTo>
                  <a:lnTo>
                    <a:pt x="1583489" y="344747"/>
                  </a:lnTo>
                  <a:lnTo>
                    <a:pt x="0" y="344747"/>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g39afd2df374_4_0"/>
            <p:cNvSpPr txBox="1"/>
            <p:nvPr/>
          </p:nvSpPr>
          <p:spPr>
            <a:xfrm>
              <a:off x="0" y="-38100"/>
              <a:ext cx="1583400" cy="3828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00" name="Google Shape;500;g39afd2df374_4_0"/>
          <p:cNvGrpSpPr/>
          <p:nvPr/>
        </p:nvGrpSpPr>
        <p:grpSpPr>
          <a:xfrm>
            <a:off x="-249595" y="400663"/>
            <a:ext cx="5607345" cy="1108319"/>
            <a:chOff x="0" y="-38100"/>
            <a:chExt cx="1879200" cy="371433"/>
          </a:xfrm>
        </p:grpSpPr>
        <p:sp>
          <p:nvSpPr>
            <p:cNvPr id="501" name="Google Shape;501;g39afd2df374_4_0"/>
            <p:cNvSpPr/>
            <p:nvPr/>
          </p:nvSpPr>
          <p:spPr>
            <a:xfrm>
              <a:off x="0" y="0"/>
              <a:ext cx="1879128" cy="333333"/>
            </a:xfrm>
            <a:custGeom>
              <a:rect b="b" l="l" r="r" t="t"/>
              <a:pathLst>
                <a:path extrusionOk="0" h="333333" w="1879128">
                  <a:moveTo>
                    <a:pt x="0" y="0"/>
                  </a:moveTo>
                  <a:lnTo>
                    <a:pt x="1879128" y="0"/>
                  </a:lnTo>
                  <a:lnTo>
                    <a:pt x="1879128" y="333333"/>
                  </a:lnTo>
                  <a:lnTo>
                    <a:pt x="0" y="333333"/>
                  </a:lnTo>
                  <a:close/>
                </a:path>
              </a:pathLst>
            </a:custGeom>
            <a:solidFill>
              <a:srgbClr val="000000">
                <a:alpha val="0"/>
              </a:srgbClr>
            </a:solidFill>
            <a:ln cap="sq" cmpd="sng" w="38100">
              <a:solidFill>
                <a:srgbClr val="3E5BB2"/>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g39afd2df374_4_0"/>
            <p:cNvSpPr txBox="1"/>
            <p:nvPr/>
          </p:nvSpPr>
          <p:spPr>
            <a:xfrm>
              <a:off x="0" y="-38100"/>
              <a:ext cx="1879200" cy="371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503" name="Google Shape;503;g39afd2df374_4_0"/>
          <p:cNvSpPr txBox="1"/>
          <p:nvPr/>
        </p:nvSpPr>
        <p:spPr>
          <a:xfrm>
            <a:off x="6244325" y="4069562"/>
            <a:ext cx="13215900" cy="2709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800"/>
              <a:buFont typeface="Arial"/>
              <a:buNone/>
            </a:pPr>
            <a:r>
              <a:rPr b="1" lang="en-US" sz="8800">
                <a:solidFill>
                  <a:schemeClr val="accent5"/>
                </a:solidFill>
                <a:latin typeface="Montserrat"/>
                <a:ea typeface="Montserrat"/>
                <a:cs typeface="Montserrat"/>
                <a:sym typeface="Montserrat"/>
              </a:rPr>
              <a:t>Mô hình dữ liệu và Phân cấp chiều</a:t>
            </a:r>
            <a:endParaRPr b="0" i="0" sz="1100" u="none" cap="none" strike="noStrike">
              <a:solidFill>
                <a:schemeClr val="accent5"/>
              </a:solidFill>
              <a:latin typeface="Arial"/>
              <a:ea typeface="Arial"/>
              <a:cs typeface="Arial"/>
              <a:sym typeface="Arial"/>
            </a:endParaRPr>
          </a:p>
        </p:txBody>
      </p:sp>
      <p:sp>
        <p:nvSpPr>
          <p:cNvPr id="504" name="Google Shape;504;g39afd2df374_4_0"/>
          <p:cNvSpPr txBox="1"/>
          <p:nvPr/>
        </p:nvSpPr>
        <p:spPr>
          <a:xfrm>
            <a:off x="883874" y="1622679"/>
            <a:ext cx="5024400" cy="4617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30000"/>
              <a:buFont typeface="Arial"/>
              <a:buNone/>
            </a:pPr>
            <a:r>
              <a:rPr b="1" i="0" lang="en-US" sz="30000" u="none" cap="none" strike="noStrike">
                <a:solidFill>
                  <a:schemeClr val="accent5"/>
                </a:solidFill>
                <a:latin typeface="Montserrat"/>
                <a:ea typeface="Montserrat"/>
                <a:cs typeface="Montserrat"/>
                <a:sym typeface="Montserrat"/>
              </a:rPr>
              <a:t>0</a:t>
            </a:r>
            <a:r>
              <a:rPr b="1" lang="en-US" sz="30000">
                <a:solidFill>
                  <a:schemeClr val="accent5"/>
                </a:solidFill>
                <a:latin typeface="Montserrat"/>
                <a:ea typeface="Montserrat"/>
                <a:cs typeface="Montserrat"/>
                <a:sym typeface="Montserrat"/>
              </a:rPr>
              <a:t>3</a:t>
            </a:r>
            <a:endParaRPr b="0" i="0" sz="3200" u="none" cap="none" strike="noStrike">
              <a:solidFill>
                <a:schemeClr val="accent5"/>
              </a:solidFill>
              <a:latin typeface="Arial"/>
              <a:ea typeface="Arial"/>
              <a:cs typeface="Arial"/>
              <a:sym typeface="Arial"/>
            </a:endParaRPr>
          </a:p>
        </p:txBody>
      </p:sp>
      <p:pic>
        <p:nvPicPr>
          <p:cNvPr id="505" name="Google Shape;505;g39afd2df374_4_0"/>
          <p:cNvPicPr preferRelativeResize="0"/>
          <p:nvPr/>
        </p:nvPicPr>
        <p:blipFill rotWithShape="1">
          <a:blip r:embed="rId4">
            <a:alphaModFix/>
          </a:blip>
          <a:srcRect b="0" l="0" r="0" t="0"/>
          <a:stretch/>
        </p:blipFill>
        <p:spPr>
          <a:xfrm>
            <a:off x="16087004" y="1028708"/>
            <a:ext cx="761350" cy="700442"/>
          </a:xfrm>
          <a:prstGeom prst="rect">
            <a:avLst/>
          </a:prstGeom>
          <a:noFill/>
          <a:ln>
            <a:noFill/>
          </a:ln>
        </p:spPr>
      </p:pic>
      <p:pic>
        <p:nvPicPr>
          <p:cNvPr id="506" name="Google Shape;506;g39afd2df374_4_0"/>
          <p:cNvPicPr preferRelativeResize="0"/>
          <p:nvPr/>
        </p:nvPicPr>
        <p:blipFill rotWithShape="1">
          <a:blip r:embed="rId5">
            <a:alphaModFix/>
          </a:blip>
          <a:srcRect b="0" l="0" r="0" t="0"/>
          <a:stretch/>
        </p:blipFill>
        <p:spPr>
          <a:xfrm flipH="1">
            <a:off x="819150" y="524365"/>
            <a:ext cx="423675" cy="2905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grpSp>
        <p:nvGrpSpPr>
          <p:cNvPr id="511" name="Google Shape;511;g39afd2df374_4_372"/>
          <p:cNvGrpSpPr/>
          <p:nvPr/>
        </p:nvGrpSpPr>
        <p:grpSpPr>
          <a:xfrm>
            <a:off x="10073845" y="9144613"/>
            <a:ext cx="8214086" cy="1142377"/>
            <a:chOff x="0" y="-38100"/>
            <a:chExt cx="2752802" cy="382847"/>
          </a:xfrm>
        </p:grpSpPr>
        <p:sp>
          <p:nvSpPr>
            <p:cNvPr id="512" name="Google Shape;512;g39afd2df374_4_372"/>
            <p:cNvSpPr/>
            <p:nvPr/>
          </p:nvSpPr>
          <p:spPr>
            <a:xfrm>
              <a:off x="0" y="0"/>
              <a:ext cx="2752802" cy="344747"/>
            </a:xfrm>
            <a:custGeom>
              <a:rect b="b" l="l" r="r" t="t"/>
              <a:pathLst>
                <a:path extrusionOk="0" h="344747" w="2752802">
                  <a:moveTo>
                    <a:pt x="0" y="0"/>
                  </a:moveTo>
                  <a:lnTo>
                    <a:pt x="2752802" y="0"/>
                  </a:lnTo>
                  <a:lnTo>
                    <a:pt x="2752802" y="344747"/>
                  </a:lnTo>
                  <a:lnTo>
                    <a:pt x="0" y="344747"/>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g39afd2df374_4_372"/>
            <p:cNvSpPr txBox="1"/>
            <p:nvPr/>
          </p:nvSpPr>
          <p:spPr>
            <a:xfrm>
              <a:off x="0" y="-38100"/>
              <a:ext cx="2752800" cy="3828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4" name="Google Shape;514;g39afd2df374_4_372"/>
          <p:cNvGrpSpPr/>
          <p:nvPr/>
        </p:nvGrpSpPr>
        <p:grpSpPr>
          <a:xfrm>
            <a:off x="0" y="8125136"/>
            <a:ext cx="10074053" cy="2162012"/>
            <a:chOff x="0" y="-38100"/>
            <a:chExt cx="4441039" cy="953100"/>
          </a:xfrm>
        </p:grpSpPr>
        <p:sp>
          <p:nvSpPr>
            <p:cNvPr id="515" name="Google Shape;515;g39afd2df374_4_372"/>
            <p:cNvSpPr/>
            <p:nvPr/>
          </p:nvSpPr>
          <p:spPr>
            <a:xfrm>
              <a:off x="0" y="0"/>
              <a:ext cx="4441039" cy="914953"/>
            </a:xfrm>
            <a:custGeom>
              <a:rect b="b" l="l" r="r" t="t"/>
              <a:pathLst>
                <a:path extrusionOk="0" h="914953" w="4441039">
                  <a:moveTo>
                    <a:pt x="0" y="0"/>
                  </a:moveTo>
                  <a:lnTo>
                    <a:pt x="4441039" y="0"/>
                  </a:lnTo>
                  <a:lnTo>
                    <a:pt x="4441039" y="914953"/>
                  </a:lnTo>
                  <a:lnTo>
                    <a:pt x="0" y="914953"/>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g39afd2df374_4_372"/>
            <p:cNvSpPr txBox="1"/>
            <p:nvPr/>
          </p:nvSpPr>
          <p:spPr>
            <a:xfrm>
              <a:off x="0" y="-38100"/>
              <a:ext cx="4440900" cy="9531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517" name="Google Shape;517;g39afd2df374_4_372"/>
          <p:cNvPicPr preferRelativeResize="0"/>
          <p:nvPr/>
        </p:nvPicPr>
        <p:blipFill rotWithShape="1">
          <a:blip r:embed="rId3">
            <a:alphaModFix/>
          </a:blip>
          <a:srcRect b="0" l="0" r="0" t="0"/>
          <a:stretch/>
        </p:blipFill>
        <p:spPr>
          <a:xfrm>
            <a:off x="528908" y="445935"/>
            <a:ext cx="1651963" cy="1142375"/>
          </a:xfrm>
          <a:prstGeom prst="rect">
            <a:avLst/>
          </a:prstGeom>
          <a:noFill/>
          <a:ln>
            <a:noFill/>
          </a:ln>
        </p:spPr>
      </p:pic>
      <p:pic>
        <p:nvPicPr>
          <p:cNvPr id="518" name="Google Shape;518;g39afd2df374_4_372"/>
          <p:cNvPicPr preferRelativeResize="0"/>
          <p:nvPr/>
        </p:nvPicPr>
        <p:blipFill rotWithShape="1">
          <a:blip r:embed="rId4">
            <a:alphaModFix/>
          </a:blip>
          <a:srcRect b="0" l="0" r="0" t="0"/>
          <a:stretch/>
        </p:blipFill>
        <p:spPr>
          <a:xfrm flipH="1" rot="10800000">
            <a:off x="16385880" y="339700"/>
            <a:ext cx="2746424" cy="400521"/>
          </a:xfrm>
          <a:prstGeom prst="rect">
            <a:avLst/>
          </a:prstGeom>
          <a:noFill/>
          <a:ln>
            <a:noFill/>
          </a:ln>
        </p:spPr>
      </p:pic>
      <p:pic>
        <p:nvPicPr>
          <p:cNvPr id="519" name="Google Shape;519;g39afd2df374_4_372"/>
          <p:cNvPicPr preferRelativeResize="0"/>
          <p:nvPr/>
        </p:nvPicPr>
        <p:blipFill rotWithShape="1">
          <a:blip r:embed="rId5">
            <a:alphaModFix/>
          </a:blip>
          <a:srcRect b="0" l="0" r="0" t="0"/>
          <a:stretch/>
        </p:blipFill>
        <p:spPr>
          <a:xfrm>
            <a:off x="14915958" y="9460972"/>
            <a:ext cx="2351617" cy="595500"/>
          </a:xfrm>
          <a:prstGeom prst="rect">
            <a:avLst/>
          </a:prstGeom>
          <a:noFill/>
          <a:ln>
            <a:noFill/>
          </a:ln>
        </p:spPr>
      </p:pic>
      <p:sp>
        <p:nvSpPr>
          <p:cNvPr id="520" name="Google Shape;520;g39afd2df374_4_372"/>
          <p:cNvSpPr txBox="1"/>
          <p:nvPr/>
        </p:nvSpPr>
        <p:spPr>
          <a:xfrm>
            <a:off x="4504373" y="590360"/>
            <a:ext cx="92793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dk2"/>
                </a:solidFill>
                <a:latin typeface="Montserrat"/>
                <a:ea typeface="Montserrat"/>
                <a:cs typeface="Montserrat"/>
                <a:sym typeface="Montserrat"/>
              </a:rPr>
              <a:t>Khái niệm</a:t>
            </a:r>
            <a:endParaRPr b="1" i="0" sz="7200" u="none" cap="none" strike="noStrike">
              <a:solidFill>
                <a:schemeClr val="dk2"/>
              </a:solidFill>
              <a:latin typeface="Montserrat"/>
              <a:ea typeface="Montserrat"/>
              <a:cs typeface="Montserrat"/>
              <a:sym typeface="Montserrat"/>
            </a:endParaRPr>
          </a:p>
        </p:txBody>
      </p:sp>
      <p:sp>
        <p:nvSpPr>
          <p:cNvPr id="521" name="Google Shape;521;g39afd2df374_4_372"/>
          <p:cNvSpPr txBox="1"/>
          <p:nvPr/>
        </p:nvSpPr>
        <p:spPr>
          <a:xfrm>
            <a:off x="9816500" y="3160600"/>
            <a:ext cx="7908600" cy="3507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000">
                <a:solidFill>
                  <a:schemeClr val="dk1"/>
                </a:solidFill>
                <a:latin typeface="Montserrat"/>
                <a:ea typeface="Montserrat"/>
                <a:cs typeface="Montserrat"/>
                <a:sym typeface="Montserrat"/>
              </a:rPr>
              <a:t>Mô hình dữ liệu là việc tổ chức các bảng dữ liệu, thiết lập các mối quan hệ giữa chúng, và thêm các phép tính (Calculated Columns/Measures) để tạo ra một cấu trúc thống nhất và tối ưu cho việc phân tích.</a:t>
            </a:r>
            <a:endParaRPr b="1" sz="3000">
              <a:solidFill>
                <a:schemeClr val="dk1"/>
              </a:solidFill>
              <a:latin typeface="Montserrat"/>
              <a:ea typeface="Montserrat"/>
              <a:cs typeface="Montserrat"/>
              <a:sym typeface="Montserrat"/>
            </a:endParaRPr>
          </a:p>
        </p:txBody>
      </p:sp>
      <p:sp>
        <p:nvSpPr>
          <p:cNvPr id="522" name="Google Shape;522;g39afd2df374_4_372"/>
          <p:cNvSpPr txBox="1"/>
          <p:nvPr/>
        </p:nvSpPr>
        <p:spPr>
          <a:xfrm>
            <a:off x="751819" y="4820251"/>
            <a:ext cx="80916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t/>
            </a:r>
            <a:endParaRPr b="0" i="0" sz="3600" u="none" cap="none" strike="noStrike">
              <a:solidFill>
                <a:schemeClr val="dk1"/>
              </a:solidFill>
              <a:latin typeface="Montserrat"/>
              <a:ea typeface="Montserrat"/>
              <a:cs typeface="Montserrat"/>
              <a:sym typeface="Montserrat"/>
            </a:endParaRPr>
          </a:p>
        </p:txBody>
      </p:sp>
      <p:pic>
        <p:nvPicPr>
          <p:cNvPr id="523" name="Google Shape;523;g39afd2df374_4_372"/>
          <p:cNvPicPr preferRelativeResize="0"/>
          <p:nvPr/>
        </p:nvPicPr>
        <p:blipFill>
          <a:blip r:embed="rId6">
            <a:alphaModFix/>
          </a:blip>
          <a:stretch>
            <a:fillRect/>
          </a:stretch>
        </p:blipFill>
        <p:spPr>
          <a:xfrm>
            <a:off x="270525" y="2810325"/>
            <a:ext cx="9054202" cy="4203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20"/>
                                        </p:tgtEl>
                                        <p:attrNameLst>
                                          <p:attrName>style.visibility</p:attrName>
                                        </p:attrNameLst>
                                      </p:cBhvr>
                                      <p:to>
                                        <p:strVal val="visible"/>
                                      </p:to>
                                    </p:set>
                                    <p:anim calcmode="lin" valueType="num">
                                      <p:cBhvr additive="base">
                                        <p:cTn dur="500"/>
                                        <p:tgtEl>
                                          <p:spTgt spid="520"/>
                                        </p:tgtEl>
                                        <p:attrNameLst>
                                          <p:attrName>ppt_w</p:attrName>
                                        </p:attrNameLst>
                                      </p:cBhvr>
                                      <p:tavLst>
                                        <p:tav fmla="" tm="0">
                                          <p:val>
                                            <p:strVal val="0"/>
                                          </p:val>
                                        </p:tav>
                                        <p:tav fmla="" tm="100000">
                                          <p:val>
                                            <p:strVal val="#ppt_w"/>
                                          </p:val>
                                        </p:tav>
                                      </p:tavLst>
                                    </p:anim>
                                    <p:anim calcmode="lin" valueType="num">
                                      <p:cBhvr additive="base">
                                        <p:cTn dur="500"/>
                                        <p:tgtEl>
                                          <p:spTgt spid="52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grpSp>
        <p:nvGrpSpPr>
          <p:cNvPr id="528" name="Google Shape;528;p5"/>
          <p:cNvGrpSpPr/>
          <p:nvPr/>
        </p:nvGrpSpPr>
        <p:grpSpPr>
          <a:xfrm>
            <a:off x="10073845" y="9144612"/>
            <a:ext cx="8214158" cy="1142388"/>
            <a:chOff x="0" y="-38100"/>
            <a:chExt cx="2752802" cy="382847"/>
          </a:xfrm>
        </p:grpSpPr>
        <p:sp>
          <p:nvSpPr>
            <p:cNvPr id="529" name="Google Shape;529;p5"/>
            <p:cNvSpPr/>
            <p:nvPr/>
          </p:nvSpPr>
          <p:spPr>
            <a:xfrm>
              <a:off x="0" y="0"/>
              <a:ext cx="2752802" cy="344747"/>
            </a:xfrm>
            <a:custGeom>
              <a:rect b="b" l="l" r="r" t="t"/>
              <a:pathLst>
                <a:path extrusionOk="0" h="344747" w="2752802">
                  <a:moveTo>
                    <a:pt x="0" y="0"/>
                  </a:moveTo>
                  <a:lnTo>
                    <a:pt x="2752802" y="0"/>
                  </a:lnTo>
                  <a:lnTo>
                    <a:pt x="2752802" y="344747"/>
                  </a:lnTo>
                  <a:lnTo>
                    <a:pt x="0" y="344747"/>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
            <p:cNvSpPr txBox="1"/>
            <p:nvPr/>
          </p:nvSpPr>
          <p:spPr>
            <a:xfrm>
              <a:off x="0" y="-38100"/>
              <a:ext cx="2752801" cy="38284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1" name="Google Shape;531;p5"/>
          <p:cNvGrpSpPr/>
          <p:nvPr/>
        </p:nvGrpSpPr>
        <p:grpSpPr>
          <a:xfrm>
            <a:off x="0" y="8125138"/>
            <a:ext cx="10073845" cy="2161862"/>
            <a:chOff x="0" y="-38100"/>
            <a:chExt cx="4441039" cy="953053"/>
          </a:xfrm>
        </p:grpSpPr>
        <p:sp>
          <p:nvSpPr>
            <p:cNvPr id="532" name="Google Shape;532;p5"/>
            <p:cNvSpPr/>
            <p:nvPr/>
          </p:nvSpPr>
          <p:spPr>
            <a:xfrm>
              <a:off x="0" y="0"/>
              <a:ext cx="4441039" cy="914953"/>
            </a:xfrm>
            <a:custGeom>
              <a:rect b="b" l="l" r="r" t="t"/>
              <a:pathLst>
                <a:path extrusionOk="0" h="914953" w="4441039">
                  <a:moveTo>
                    <a:pt x="0" y="0"/>
                  </a:moveTo>
                  <a:lnTo>
                    <a:pt x="4441039" y="0"/>
                  </a:lnTo>
                  <a:lnTo>
                    <a:pt x="4441039" y="914953"/>
                  </a:lnTo>
                  <a:lnTo>
                    <a:pt x="0" y="914953"/>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
            <p:cNvSpPr txBox="1"/>
            <p:nvPr/>
          </p:nvSpPr>
          <p:spPr>
            <a:xfrm>
              <a:off x="0" y="-38100"/>
              <a:ext cx="4441039" cy="95305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534" name="Google Shape;534;p5"/>
          <p:cNvPicPr preferRelativeResize="0"/>
          <p:nvPr/>
        </p:nvPicPr>
        <p:blipFill rotWithShape="1">
          <a:blip r:embed="rId3">
            <a:alphaModFix/>
          </a:blip>
          <a:srcRect b="0" l="0" r="0" t="0"/>
          <a:stretch/>
        </p:blipFill>
        <p:spPr>
          <a:xfrm>
            <a:off x="528908" y="445935"/>
            <a:ext cx="1651963" cy="1142375"/>
          </a:xfrm>
          <a:prstGeom prst="rect">
            <a:avLst/>
          </a:prstGeom>
          <a:noFill/>
          <a:ln>
            <a:noFill/>
          </a:ln>
        </p:spPr>
      </p:pic>
      <p:pic>
        <p:nvPicPr>
          <p:cNvPr id="535" name="Google Shape;535;p5"/>
          <p:cNvPicPr preferRelativeResize="0"/>
          <p:nvPr/>
        </p:nvPicPr>
        <p:blipFill rotWithShape="1">
          <a:blip r:embed="rId4">
            <a:alphaModFix/>
          </a:blip>
          <a:srcRect b="0" l="0" r="0" t="0"/>
          <a:stretch/>
        </p:blipFill>
        <p:spPr>
          <a:xfrm flipH="1" rot="10800000">
            <a:off x="16385880" y="339700"/>
            <a:ext cx="2746424" cy="400521"/>
          </a:xfrm>
          <a:prstGeom prst="rect">
            <a:avLst/>
          </a:prstGeom>
          <a:noFill/>
          <a:ln>
            <a:noFill/>
          </a:ln>
        </p:spPr>
      </p:pic>
      <p:pic>
        <p:nvPicPr>
          <p:cNvPr id="536" name="Google Shape;536;p5"/>
          <p:cNvPicPr preferRelativeResize="0"/>
          <p:nvPr/>
        </p:nvPicPr>
        <p:blipFill rotWithShape="1">
          <a:blip r:embed="rId5">
            <a:alphaModFix/>
          </a:blip>
          <a:srcRect b="0" l="0" r="0" t="0"/>
          <a:stretch/>
        </p:blipFill>
        <p:spPr>
          <a:xfrm>
            <a:off x="14915958" y="9460972"/>
            <a:ext cx="2351617" cy="595500"/>
          </a:xfrm>
          <a:prstGeom prst="rect">
            <a:avLst/>
          </a:prstGeom>
          <a:noFill/>
          <a:ln>
            <a:noFill/>
          </a:ln>
        </p:spPr>
      </p:pic>
      <p:sp>
        <p:nvSpPr>
          <p:cNvPr id="537" name="Google Shape;537;p5"/>
          <p:cNvSpPr txBox="1"/>
          <p:nvPr/>
        </p:nvSpPr>
        <p:spPr>
          <a:xfrm>
            <a:off x="4504373" y="590360"/>
            <a:ext cx="92793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Các thành phần</a:t>
            </a:r>
            <a:endParaRPr/>
          </a:p>
        </p:txBody>
      </p:sp>
      <p:sp>
        <p:nvSpPr>
          <p:cNvPr id="538" name="Google Shape;538;p5"/>
          <p:cNvSpPr/>
          <p:nvPr/>
        </p:nvSpPr>
        <p:spPr>
          <a:xfrm>
            <a:off x="15338124" y="5771712"/>
            <a:ext cx="2335800" cy="2332800"/>
          </a:xfrm>
          <a:prstGeom prst="ellipse">
            <a:avLst/>
          </a:prstGeom>
          <a:solidFill>
            <a:schemeClr val="accent2"/>
          </a:solidFill>
          <a:ln>
            <a:noFill/>
          </a:ln>
        </p:spPr>
        <p:txBody>
          <a:bodyPr anchorCtr="0" anchor="ctr" bIns="45700" lIns="91425" spcFirstLastPara="1" rIns="91425" wrap="square" tIns="45700">
            <a:noAutofit/>
          </a:bodyPr>
          <a:lstStyle/>
          <a:p>
            <a:pPr indent="0" lvl="0" marL="0" rtl="0" algn="ctr">
              <a:lnSpc>
                <a:spcPct val="150000"/>
              </a:lnSpc>
              <a:spcBef>
                <a:spcPts val="1200"/>
              </a:spcBef>
              <a:spcAft>
                <a:spcPts val="2400"/>
              </a:spcAft>
              <a:buNone/>
            </a:pPr>
            <a:r>
              <a:rPr b="1" lang="en-US" sz="3000">
                <a:solidFill>
                  <a:schemeClr val="lt1"/>
                </a:solidFill>
                <a:latin typeface="Montserrat"/>
                <a:ea typeface="Montserrat"/>
                <a:cs typeface="Montserrat"/>
                <a:sym typeface="Montserrat"/>
              </a:rPr>
              <a:t>Mối quan hệ</a:t>
            </a:r>
            <a:endParaRPr b="1" i="0" sz="3000" u="none" cap="none" strike="noStrike">
              <a:solidFill>
                <a:schemeClr val="lt1"/>
              </a:solidFill>
              <a:latin typeface="Montserrat"/>
              <a:ea typeface="Montserrat"/>
              <a:cs typeface="Montserrat"/>
              <a:sym typeface="Montserrat"/>
            </a:endParaRPr>
          </a:p>
        </p:txBody>
      </p:sp>
      <p:sp>
        <p:nvSpPr>
          <p:cNvPr id="539" name="Google Shape;539;p5"/>
          <p:cNvSpPr/>
          <p:nvPr/>
        </p:nvSpPr>
        <p:spPr>
          <a:xfrm>
            <a:off x="98339" y="3601809"/>
            <a:ext cx="2513100" cy="25098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2800">
                <a:solidFill>
                  <a:schemeClr val="lt1"/>
                </a:solidFill>
              </a:rPr>
              <a:t>Dimension Table</a:t>
            </a:r>
            <a:endParaRPr b="1" i="0" sz="2800" u="none" cap="none" strike="noStrike">
              <a:solidFill>
                <a:schemeClr val="lt1"/>
              </a:solidFill>
            </a:endParaRPr>
          </a:p>
        </p:txBody>
      </p:sp>
      <p:sp>
        <p:nvSpPr>
          <p:cNvPr id="540" name="Google Shape;540;p5"/>
          <p:cNvSpPr/>
          <p:nvPr/>
        </p:nvSpPr>
        <p:spPr>
          <a:xfrm>
            <a:off x="15338137" y="1388862"/>
            <a:ext cx="2335800" cy="2332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2800">
                <a:solidFill>
                  <a:schemeClr val="lt1"/>
                </a:solidFill>
              </a:rPr>
              <a:t>Fact Table</a:t>
            </a:r>
            <a:endParaRPr b="1" i="0" sz="2800" u="none" cap="none" strike="noStrike">
              <a:solidFill>
                <a:schemeClr val="lt1"/>
              </a:solidFill>
            </a:endParaRPr>
          </a:p>
        </p:txBody>
      </p:sp>
      <p:sp>
        <p:nvSpPr>
          <p:cNvPr id="541" name="Google Shape;541;p5"/>
          <p:cNvSpPr txBox="1"/>
          <p:nvPr/>
        </p:nvSpPr>
        <p:spPr>
          <a:xfrm>
            <a:off x="2846075" y="4121463"/>
            <a:ext cx="8572500" cy="18006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0"/>
              </a:spcAft>
              <a:buNone/>
            </a:pPr>
            <a:r>
              <a:rPr lang="en-US" sz="3000">
                <a:solidFill>
                  <a:srgbClr val="0A0A0A"/>
                </a:solidFill>
                <a:latin typeface="Montserrat"/>
                <a:ea typeface="Montserrat"/>
                <a:cs typeface="Montserrat"/>
                <a:sym typeface="Montserrat"/>
              </a:rPr>
              <a:t>Lưu trữ các thông tin chi tiết về các dữ liệu trong bảng dữ kiện</a:t>
            </a:r>
            <a:endParaRPr sz="3000">
              <a:solidFill>
                <a:srgbClr val="0A0A0A"/>
              </a:solidFill>
              <a:latin typeface="Montserrat"/>
              <a:ea typeface="Montserrat"/>
              <a:cs typeface="Montserrat"/>
              <a:sym typeface="Montserrat"/>
            </a:endParaRPr>
          </a:p>
          <a:p>
            <a:pPr indent="0" lvl="0" marL="0" rtl="0" algn="just">
              <a:lnSpc>
                <a:spcPct val="150000"/>
              </a:lnSpc>
              <a:spcBef>
                <a:spcPts val="2400"/>
              </a:spcBef>
              <a:spcAft>
                <a:spcPts val="2400"/>
              </a:spcAft>
              <a:buNone/>
            </a:pPr>
            <a:r>
              <a:t/>
            </a:r>
            <a:endParaRPr sz="3000">
              <a:solidFill>
                <a:srgbClr val="0A0A0A"/>
              </a:solidFill>
              <a:latin typeface="Montserrat"/>
              <a:ea typeface="Montserrat"/>
              <a:cs typeface="Montserrat"/>
              <a:sym typeface="Montserrat"/>
            </a:endParaRPr>
          </a:p>
        </p:txBody>
      </p:sp>
      <p:sp>
        <p:nvSpPr>
          <p:cNvPr id="542" name="Google Shape;542;p5"/>
          <p:cNvSpPr txBox="1"/>
          <p:nvPr/>
        </p:nvSpPr>
        <p:spPr>
          <a:xfrm>
            <a:off x="8748575" y="2158650"/>
            <a:ext cx="5732400" cy="1563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2400"/>
              </a:spcAft>
              <a:buNone/>
            </a:pPr>
            <a:r>
              <a:rPr lang="en-US" sz="3000">
                <a:solidFill>
                  <a:srgbClr val="0A0A0A"/>
                </a:solidFill>
                <a:latin typeface="Montserrat"/>
                <a:ea typeface="Montserrat"/>
                <a:cs typeface="Montserrat"/>
                <a:sym typeface="Montserrat"/>
              </a:rPr>
              <a:t>Chứa các dữ kiện hoặc sự kiện có thể định lượng</a:t>
            </a:r>
            <a:endParaRPr sz="2400">
              <a:solidFill>
                <a:schemeClr val="dk1"/>
              </a:solidFill>
              <a:latin typeface="Montserrat"/>
              <a:ea typeface="Montserrat"/>
              <a:cs typeface="Montserrat"/>
              <a:sym typeface="Montserrat"/>
            </a:endParaRPr>
          </a:p>
        </p:txBody>
      </p:sp>
      <p:sp>
        <p:nvSpPr>
          <p:cNvPr id="543" name="Google Shape;543;p5"/>
          <p:cNvSpPr txBox="1"/>
          <p:nvPr/>
        </p:nvSpPr>
        <p:spPr>
          <a:xfrm>
            <a:off x="6621425" y="5942688"/>
            <a:ext cx="8081700" cy="2161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0"/>
              </a:spcAft>
              <a:buNone/>
            </a:pPr>
            <a:r>
              <a:rPr lang="en-US" sz="3000">
                <a:solidFill>
                  <a:srgbClr val="0A0A0A"/>
                </a:solidFill>
                <a:latin typeface="Montserrat"/>
                <a:ea typeface="Montserrat"/>
                <a:cs typeface="Montserrat"/>
                <a:sym typeface="Montserrat"/>
              </a:rPr>
              <a:t>Liên kết các bảng với nhau, cho phép dữ liệu từ các bảng khác nhau tương tác và được phân tích cùng nhau</a:t>
            </a:r>
            <a:endParaRPr sz="3000">
              <a:solidFill>
                <a:srgbClr val="0A0A0A"/>
              </a:solidFill>
              <a:latin typeface="Montserrat"/>
              <a:ea typeface="Montserrat"/>
              <a:cs typeface="Montserrat"/>
              <a:sym typeface="Montserrat"/>
            </a:endParaRPr>
          </a:p>
          <a:p>
            <a:pPr indent="0" lvl="0" marL="0" rtl="0" algn="l">
              <a:spcBef>
                <a:spcPts val="2400"/>
              </a:spcBef>
              <a:spcAft>
                <a:spcPts val="0"/>
              </a:spcAft>
              <a:buNone/>
            </a:pPr>
            <a:r>
              <a:t/>
            </a:r>
            <a:endParaRPr sz="2400">
              <a:solidFill>
                <a:schemeClr val="dk1"/>
              </a:solidFill>
              <a:latin typeface="Montserrat"/>
              <a:ea typeface="Montserrat"/>
              <a:cs typeface="Montserrat"/>
              <a:sym typeface="Montserrat"/>
            </a:endParaRPr>
          </a:p>
        </p:txBody>
      </p:sp>
    </p:spTree>
  </p:cSld>
  <p:clrMapOvr>
    <a:masterClrMapping/>
  </p:clrMapOvr>
  <mc:AlternateContent>
    <mc:Choice Requires="p14">
      <p:transition spd="slow" p14:dur="900">
        <p14:flythrough dir="out" hasBounce="1"/>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37"/>
                                        </p:tgtEl>
                                        <p:attrNameLst>
                                          <p:attrName>style.visibility</p:attrName>
                                        </p:attrNameLst>
                                      </p:cBhvr>
                                      <p:to>
                                        <p:strVal val="visible"/>
                                      </p:to>
                                    </p:set>
                                    <p:anim calcmode="lin" valueType="num">
                                      <p:cBhvr additive="base">
                                        <p:cTn dur="500"/>
                                        <p:tgtEl>
                                          <p:spTgt spid="537"/>
                                        </p:tgtEl>
                                        <p:attrNameLst>
                                          <p:attrName>ppt_w</p:attrName>
                                        </p:attrNameLst>
                                      </p:cBhvr>
                                      <p:tavLst>
                                        <p:tav fmla="" tm="0">
                                          <p:val>
                                            <p:strVal val="0"/>
                                          </p:val>
                                        </p:tav>
                                        <p:tav fmla="" tm="100000">
                                          <p:val>
                                            <p:strVal val="#ppt_w"/>
                                          </p:val>
                                        </p:tav>
                                      </p:tavLst>
                                    </p:anim>
                                    <p:anim calcmode="lin" valueType="num">
                                      <p:cBhvr additive="base">
                                        <p:cTn dur="500"/>
                                        <p:tgtEl>
                                          <p:spTgt spid="53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38"/>
                                        </p:tgtEl>
                                        <p:attrNameLst>
                                          <p:attrName>style.visibility</p:attrName>
                                        </p:attrNameLst>
                                      </p:cBhvr>
                                      <p:to>
                                        <p:strVal val="visible"/>
                                      </p:to>
                                    </p:set>
                                    <p:anim calcmode="lin" valueType="num">
                                      <p:cBhvr additive="base">
                                        <p:cTn dur="500"/>
                                        <p:tgtEl>
                                          <p:spTgt spid="538"/>
                                        </p:tgtEl>
                                        <p:attrNameLst>
                                          <p:attrName>ppt_w</p:attrName>
                                        </p:attrNameLst>
                                      </p:cBhvr>
                                      <p:tavLst>
                                        <p:tav fmla="" tm="0">
                                          <p:val>
                                            <p:strVal val="0"/>
                                          </p:val>
                                        </p:tav>
                                        <p:tav fmla="" tm="100000">
                                          <p:val>
                                            <p:strVal val="#ppt_w"/>
                                          </p:val>
                                        </p:tav>
                                      </p:tavLst>
                                    </p:anim>
                                    <p:anim calcmode="lin" valueType="num">
                                      <p:cBhvr additive="base">
                                        <p:cTn dur="500"/>
                                        <p:tgtEl>
                                          <p:spTgt spid="53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50"/>
                                  </p:stCondLst>
                                  <p:childTnLst>
                                    <p:set>
                                      <p:cBhvr>
                                        <p:cTn dur="1" fill="hold">
                                          <p:stCondLst>
                                            <p:cond delay="0"/>
                                          </p:stCondLst>
                                        </p:cTn>
                                        <p:tgtEl>
                                          <p:spTgt spid="539"/>
                                        </p:tgtEl>
                                        <p:attrNameLst>
                                          <p:attrName>style.visibility</p:attrName>
                                        </p:attrNameLst>
                                      </p:cBhvr>
                                      <p:to>
                                        <p:strVal val="visible"/>
                                      </p:to>
                                    </p:set>
                                    <p:anim calcmode="lin" valueType="num">
                                      <p:cBhvr additive="base">
                                        <p:cTn dur="500"/>
                                        <p:tgtEl>
                                          <p:spTgt spid="539"/>
                                        </p:tgtEl>
                                        <p:attrNameLst>
                                          <p:attrName>ppt_w</p:attrName>
                                        </p:attrNameLst>
                                      </p:cBhvr>
                                      <p:tavLst>
                                        <p:tav fmla="" tm="0">
                                          <p:val>
                                            <p:strVal val="0"/>
                                          </p:val>
                                        </p:tav>
                                        <p:tav fmla="" tm="100000">
                                          <p:val>
                                            <p:strVal val="#ppt_w"/>
                                          </p:val>
                                        </p:tav>
                                      </p:tavLst>
                                    </p:anim>
                                    <p:anim calcmode="lin" valueType="num">
                                      <p:cBhvr additive="base">
                                        <p:cTn dur="500"/>
                                        <p:tgtEl>
                                          <p:spTgt spid="53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9afd2df374_4_396"/>
          <p:cNvSpPr txBox="1"/>
          <p:nvPr/>
        </p:nvSpPr>
        <p:spPr>
          <a:xfrm>
            <a:off x="5235553" y="590360"/>
            <a:ext cx="78168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Relationships</a:t>
            </a:r>
            <a:endParaRPr b="1" i="0" sz="7200" u="none" cap="none" strike="noStrike">
              <a:solidFill>
                <a:schemeClr val="accent2"/>
              </a:solidFill>
              <a:latin typeface="Montserrat"/>
              <a:ea typeface="Montserrat"/>
              <a:cs typeface="Montserrat"/>
              <a:sym typeface="Montserrat"/>
            </a:endParaRPr>
          </a:p>
        </p:txBody>
      </p:sp>
      <p:pic>
        <p:nvPicPr>
          <p:cNvPr id="549" name="Google Shape;549;g39afd2df374_4_396"/>
          <p:cNvPicPr preferRelativeResize="0"/>
          <p:nvPr/>
        </p:nvPicPr>
        <p:blipFill>
          <a:blip r:embed="rId3">
            <a:alphaModFix/>
          </a:blip>
          <a:stretch>
            <a:fillRect/>
          </a:stretch>
        </p:blipFill>
        <p:spPr>
          <a:xfrm>
            <a:off x="3633764" y="1913075"/>
            <a:ext cx="11020375" cy="7201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48"/>
                                        </p:tgtEl>
                                        <p:attrNameLst>
                                          <p:attrName>style.visibility</p:attrName>
                                        </p:attrNameLst>
                                      </p:cBhvr>
                                      <p:to>
                                        <p:strVal val="visible"/>
                                      </p:to>
                                    </p:set>
                                    <p:anim calcmode="lin" valueType="num">
                                      <p:cBhvr additive="base">
                                        <p:cTn dur="500"/>
                                        <p:tgtEl>
                                          <p:spTgt spid="548"/>
                                        </p:tgtEl>
                                        <p:attrNameLst>
                                          <p:attrName>ppt_w</p:attrName>
                                        </p:attrNameLst>
                                      </p:cBhvr>
                                      <p:tavLst>
                                        <p:tav fmla="" tm="0">
                                          <p:val>
                                            <p:strVal val="0"/>
                                          </p:val>
                                        </p:tav>
                                        <p:tav fmla="" tm="100000">
                                          <p:val>
                                            <p:strVal val="#ppt_w"/>
                                          </p:val>
                                        </p:tav>
                                      </p:tavLst>
                                    </p:anim>
                                    <p:anim calcmode="lin" valueType="num">
                                      <p:cBhvr additive="base">
                                        <p:cTn dur="500"/>
                                        <p:tgtEl>
                                          <p:spTgt spid="54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10"/>
          <p:cNvSpPr txBox="1"/>
          <p:nvPr/>
        </p:nvSpPr>
        <p:spPr>
          <a:xfrm>
            <a:off x="1790875" y="735575"/>
            <a:ext cx="155589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Lợi ích của mô hình dữ liệu tốt</a:t>
            </a:r>
            <a:endParaRPr/>
          </a:p>
        </p:txBody>
      </p:sp>
      <p:sp>
        <p:nvSpPr>
          <p:cNvPr id="555" name="Google Shape;555;p10"/>
          <p:cNvSpPr/>
          <p:nvPr/>
        </p:nvSpPr>
        <p:spPr>
          <a:xfrm>
            <a:off x="2651125" y="2682240"/>
            <a:ext cx="3735673" cy="2346960"/>
          </a:xfrm>
          <a:prstGeom prst="rect">
            <a:avLst/>
          </a:pr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50000"/>
              </a:lnSpc>
              <a:spcBef>
                <a:spcPts val="1200"/>
              </a:spcBef>
              <a:spcAft>
                <a:spcPts val="2400"/>
              </a:spcAft>
              <a:buNone/>
            </a:pPr>
            <a:r>
              <a:rPr lang="en-US" sz="3000">
                <a:solidFill>
                  <a:schemeClr val="lt1"/>
                </a:solidFill>
                <a:latin typeface="Montserrat"/>
                <a:ea typeface="Montserrat"/>
                <a:cs typeface="Montserrat"/>
                <a:sym typeface="Montserrat"/>
              </a:rPr>
              <a:t>Nâng cao hiệu suất</a:t>
            </a:r>
            <a:endParaRPr i="0" sz="3000" u="none" cap="none" strike="noStrike">
              <a:solidFill>
                <a:schemeClr val="lt1"/>
              </a:solidFill>
              <a:latin typeface="Montserrat"/>
              <a:ea typeface="Montserrat"/>
              <a:cs typeface="Montserrat"/>
              <a:sym typeface="Montserrat"/>
            </a:endParaRPr>
          </a:p>
        </p:txBody>
      </p:sp>
      <p:sp>
        <p:nvSpPr>
          <p:cNvPr id="556" name="Google Shape;556;p10"/>
          <p:cNvSpPr/>
          <p:nvPr/>
        </p:nvSpPr>
        <p:spPr>
          <a:xfrm>
            <a:off x="11901203" y="2682240"/>
            <a:ext cx="3735673" cy="23469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chemeClr val="lt1"/>
                </a:solidFill>
              </a:rPr>
              <a:t>Cải thiện tính toàn vẹn dữ liệu</a:t>
            </a:r>
            <a:endParaRPr b="0" i="0" sz="3200" u="none" cap="none" strike="noStrike">
              <a:solidFill>
                <a:schemeClr val="lt1"/>
              </a:solidFill>
              <a:latin typeface="Arial"/>
              <a:ea typeface="Arial"/>
              <a:cs typeface="Arial"/>
              <a:sym typeface="Arial"/>
            </a:endParaRPr>
          </a:p>
        </p:txBody>
      </p:sp>
      <p:sp>
        <p:nvSpPr>
          <p:cNvPr id="557" name="Google Shape;557;p10"/>
          <p:cNvSpPr/>
          <p:nvPr/>
        </p:nvSpPr>
        <p:spPr>
          <a:xfrm>
            <a:off x="7276164" y="2682240"/>
            <a:ext cx="3735673" cy="23469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chemeClr val="lt1"/>
                </a:solidFill>
              </a:rPr>
              <a:t>Tăng tính dễ sử dụng</a:t>
            </a:r>
            <a:endParaRPr b="0" i="0" sz="3200" u="none" cap="none" strike="noStrike">
              <a:solidFill>
                <a:schemeClr val="lt1"/>
              </a:solidFill>
              <a:latin typeface="Arial"/>
              <a:ea typeface="Arial"/>
              <a:cs typeface="Arial"/>
              <a:sym typeface="Arial"/>
            </a:endParaRPr>
          </a:p>
        </p:txBody>
      </p:sp>
      <p:sp>
        <p:nvSpPr>
          <p:cNvPr id="558" name="Google Shape;558;p10"/>
          <p:cNvSpPr/>
          <p:nvPr/>
        </p:nvSpPr>
        <p:spPr>
          <a:xfrm>
            <a:off x="2651125" y="5867685"/>
            <a:ext cx="3735673" cy="23469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chemeClr val="lt1"/>
                </a:solidFill>
              </a:rPr>
              <a:t>Hỗ trợ phân tích chuyên sâu</a:t>
            </a:r>
            <a:endParaRPr b="0" i="0" sz="3200" u="none" cap="none" strike="noStrike">
              <a:solidFill>
                <a:schemeClr val="lt1"/>
              </a:solidFill>
              <a:latin typeface="Arial"/>
              <a:ea typeface="Arial"/>
              <a:cs typeface="Arial"/>
              <a:sym typeface="Arial"/>
            </a:endParaRPr>
          </a:p>
        </p:txBody>
      </p:sp>
      <p:sp>
        <p:nvSpPr>
          <p:cNvPr id="559" name="Google Shape;559;p10"/>
          <p:cNvSpPr/>
          <p:nvPr/>
        </p:nvSpPr>
        <p:spPr>
          <a:xfrm>
            <a:off x="7276164" y="5867685"/>
            <a:ext cx="3735673" cy="23469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chemeClr val="lt1"/>
                </a:solidFill>
              </a:rPr>
              <a:t>Thúc đẩy hợp tác</a:t>
            </a:r>
            <a:endParaRPr b="0" i="0" sz="3200" u="none" cap="none" strike="noStrike">
              <a:solidFill>
                <a:schemeClr val="lt1"/>
              </a:solidFill>
              <a:latin typeface="Arial"/>
              <a:ea typeface="Arial"/>
              <a:cs typeface="Arial"/>
              <a:sym typeface="Arial"/>
            </a:endParaRPr>
          </a:p>
        </p:txBody>
      </p:sp>
      <p:sp>
        <p:nvSpPr>
          <p:cNvPr id="560" name="Google Shape;560;p10"/>
          <p:cNvSpPr/>
          <p:nvPr/>
        </p:nvSpPr>
        <p:spPr>
          <a:xfrm>
            <a:off x="11901203" y="5867685"/>
            <a:ext cx="3735673" cy="23469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chemeClr val="lt1"/>
                </a:solidFill>
              </a:rPr>
              <a:t>Dễ bảo trì</a:t>
            </a:r>
            <a:endParaRPr b="0" i="0" sz="32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dur="900">
        <p14:flythrough dir="out" hasBounce="1"/>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54"/>
                                        </p:tgtEl>
                                        <p:attrNameLst>
                                          <p:attrName>style.visibility</p:attrName>
                                        </p:attrNameLst>
                                      </p:cBhvr>
                                      <p:to>
                                        <p:strVal val="visible"/>
                                      </p:to>
                                    </p:set>
                                    <p:anim calcmode="lin" valueType="num">
                                      <p:cBhvr additive="base">
                                        <p:cTn dur="500"/>
                                        <p:tgtEl>
                                          <p:spTgt spid="554"/>
                                        </p:tgtEl>
                                        <p:attrNameLst>
                                          <p:attrName>ppt_w</p:attrName>
                                        </p:attrNameLst>
                                      </p:cBhvr>
                                      <p:tavLst>
                                        <p:tav fmla="" tm="0">
                                          <p:val>
                                            <p:strVal val="0"/>
                                          </p:val>
                                        </p:tav>
                                        <p:tav fmla="" tm="100000">
                                          <p:val>
                                            <p:strVal val="#ppt_w"/>
                                          </p:val>
                                        </p:tav>
                                      </p:tavLst>
                                    </p:anim>
                                    <p:anim calcmode="lin" valueType="num">
                                      <p:cBhvr additive="base">
                                        <p:cTn dur="500"/>
                                        <p:tgtEl>
                                          <p:spTgt spid="554"/>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555"/>
                                        </p:tgtEl>
                                        <p:attrNameLst>
                                          <p:attrName>style.visibility</p:attrName>
                                        </p:attrNameLst>
                                      </p:cBhvr>
                                      <p:to>
                                        <p:strVal val="visible"/>
                                      </p:to>
                                    </p:set>
                                    <p:anim calcmode="lin" valueType="num">
                                      <p:cBhvr additive="base">
                                        <p:cTn dur="500"/>
                                        <p:tgtEl>
                                          <p:spTgt spid="555"/>
                                        </p:tgtEl>
                                        <p:attrNameLst>
                                          <p:attrName>ppt_w</p:attrName>
                                        </p:attrNameLst>
                                      </p:cBhvr>
                                      <p:tavLst>
                                        <p:tav fmla="" tm="0">
                                          <p:val>
                                            <p:strVal val="0"/>
                                          </p:val>
                                        </p:tav>
                                        <p:tav fmla="" tm="100000">
                                          <p:val>
                                            <p:strVal val="#ppt_w"/>
                                          </p:val>
                                        </p:tav>
                                      </p:tavLst>
                                    </p:anim>
                                    <p:anim calcmode="lin" valueType="num">
                                      <p:cBhvr additive="base">
                                        <p:cTn dur="500"/>
                                        <p:tgtEl>
                                          <p:spTgt spid="5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50"/>
                                  </p:stCondLst>
                                  <p:childTnLst>
                                    <p:set>
                                      <p:cBhvr>
                                        <p:cTn dur="1" fill="hold">
                                          <p:stCondLst>
                                            <p:cond delay="0"/>
                                          </p:stCondLst>
                                        </p:cTn>
                                        <p:tgtEl>
                                          <p:spTgt spid="557"/>
                                        </p:tgtEl>
                                        <p:attrNameLst>
                                          <p:attrName>style.visibility</p:attrName>
                                        </p:attrNameLst>
                                      </p:cBhvr>
                                      <p:to>
                                        <p:strVal val="visible"/>
                                      </p:to>
                                    </p:set>
                                    <p:anim calcmode="lin" valueType="num">
                                      <p:cBhvr additive="base">
                                        <p:cTn dur="500"/>
                                        <p:tgtEl>
                                          <p:spTgt spid="557"/>
                                        </p:tgtEl>
                                        <p:attrNameLst>
                                          <p:attrName>ppt_w</p:attrName>
                                        </p:attrNameLst>
                                      </p:cBhvr>
                                      <p:tavLst>
                                        <p:tav fmla="" tm="0">
                                          <p:val>
                                            <p:strVal val="0"/>
                                          </p:val>
                                        </p:tav>
                                        <p:tav fmla="" tm="100000">
                                          <p:val>
                                            <p:strVal val="#ppt_w"/>
                                          </p:val>
                                        </p:tav>
                                      </p:tavLst>
                                    </p:anim>
                                    <p:anim calcmode="lin" valueType="num">
                                      <p:cBhvr additive="base">
                                        <p:cTn dur="500"/>
                                        <p:tgtEl>
                                          <p:spTgt spid="55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556"/>
                                        </p:tgtEl>
                                        <p:attrNameLst>
                                          <p:attrName>style.visibility</p:attrName>
                                        </p:attrNameLst>
                                      </p:cBhvr>
                                      <p:to>
                                        <p:strVal val="visible"/>
                                      </p:to>
                                    </p:set>
                                    <p:anim calcmode="lin" valueType="num">
                                      <p:cBhvr additive="base">
                                        <p:cTn dur="500"/>
                                        <p:tgtEl>
                                          <p:spTgt spid="556"/>
                                        </p:tgtEl>
                                        <p:attrNameLst>
                                          <p:attrName>ppt_w</p:attrName>
                                        </p:attrNameLst>
                                      </p:cBhvr>
                                      <p:tavLst>
                                        <p:tav fmla="" tm="0">
                                          <p:val>
                                            <p:strVal val="0"/>
                                          </p:val>
                                        </p:tav>
                                        <p:tav fmla="" tm="100000">
                                          <p:val>
                                            <p:strVal val="#ppt_w"/>
                                          </p:val>
                                        </p:tav>
                                      </p:tavLst>
                                    </p:anim>
                                    <p:anim calcmode="lin" valueType="num">
                                      <p:cBhvr additive="base">
                                        <p:cTn dur="500"/>
                                        <p:tgtEl>
                                          <p:spTgt spid="55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750"/>
                                  </p:stCondLst>
                                  <p:childTnLst>
                                    <p:set>
                                      <p:cBhvr>
                                        <p:cTn dur="1" fill="hold">
                                          <p:stCondLst>
                                            <p:cond delay="0"/>
                                          </p:stCondLst>
                                        </p:cTn>
                                        <p:tgtEl>
                                          <p:spTgt spid="558"/>
                                        </p:tgtEl>
                                        <p:attrNameLst>
                                          <p:attrName>style.visibility</p:attrName>
                                        </p:attrNameLst>
                                      </p:cBhvr>
                                      <p:to>
                                        <p:strVal val="visible"/>
                                      </p:to>
                                    </p:set>
                                    <p:anim calcmode="lin" valueType="num">
                                      <p:cBhvr additive="base">
                                        <p:cTn dur="500"/>
                                        <p:tgtEl>
                                          <p:spTgt spid="558"/>
                                        </p:tgtEl>
                                        <p:attrNameLst>
                                          <p:attrName>ppt_w</p:attrName>
                                        </p:attrNameLst>
                                      </p:cBhvr>
                                      <p:tavLst>
                                        <p:tav fmla="" tm="0">
                                          <p:val>
                                            <p:strVal val="0"/>
                                          </p:val>
                                        </p:tav>
                                        <p:tav fmla="" tm="100000">
                                          <p:val>
                                            <p:strVal val="#ppt_w"/>
                                          </p:val>
                                        </p:tav>
                                      </p:tavLst>
                                    </p:anim>
                                    <p:anim calcmode="lin" valueType="num">
                                      <p:cBhvr additive="base">
                                        <p:cTn dur="500"/>
                                        <p:tgtEl>
                                          <p:spTgt spid="55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00"/>
                                  </p:stCondLst>
                                  <p:childTnLst>
                                    <p:set>
                                      <p:cBhvr>
                                        <p:cTn dur="1" fill="hold">
                                          <p:stCondLst>
                                            <p:cond delay="0"/>
                                          </p:stCondLst>
                                        </p:cTn>
                                        <p:tgtEl>
                                          <p:spTgt spid="559"/>
                                        </p:tgtEl>
                                        <p:attrNameLst>
                                          <p:attrName>style.visibility</p:attrName>
                                        </p:attrNameLst>
                                      </p:cBhvr>
                                      <p:to>
                                        <p:strVal val="visible"/>
                                      </p:to>
                                    </p:set>
                                    <p:anim calcmode="lin" valueType="num">
                                      <p:cBhvr additive="base">
                                        <p:cTn dur="500"/>
                                        <p:tgtEl>
                                          <p:spTgt spid="559"/>
                                        </p:tgtEl>
                                        <p:attrNameLst>
                                          <p:attrName>ppt_w</p:attrName>
                                        </p:attrNameLst>
                                      </p:cBhvr>
                                      <p:tavLst>
                                        <p:tav fmla="" tm="0">
                                          <p:val>
                                            <p:strVal val="0"/>
                                          </p:val>
                                        </p:tav>
                                        <p:tav fmla="" tm="100000">
                                          <p:val>
                                            <p:strVal val="#ppt_w"/>
                                          </p:val>
                                        </p:tav>
                                      </p:tavLst>
                                    </p:anim>
                                    <p:anim calcmode="lin" valueType="num">
                                      <p:cBhvr additive="base">
                                        <p:cTn dur="500"/>
                                        <p:tgtEl>
                                          <p:spTgt spid="55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250"/>
                                  </p:stCondLst>
                                  <p:childTnLst>
                                    <p:set>
                                      <p:cBhvr>
                                        <p:cTn dur="1" fill="hold">
                                          <p:stCondLst>
                                            <p:cond delay="0"/>
                                          </p:stCondLst>
                                        </p:cTn>
                                        <p:tgtEl>
                                          <p:spTgt spid="560"/>
                                        </p:tgtEl>
                                        <p:attrNameLst>
                                          <p:attrName>style.visibility</p:attrName>
                                        </p:attrNameLst>
                                      </p:cBhvr>
                                      <p:to>
                                        <p:strVal val="visible"/>
                                      </p:to>
                                    </p:set>
                                    <p:anim calcmode="lin" valueType="num">
                                      <p:cBhvr additive="base">
                                        <p:cTn dur="500"/>
                                        <p:tgtEl>
                                          <p:spTgt spid="560"/>
                                        </p:tgtEl>
                                        <p:attrNameLst>
                                          <p:attrName>ppt_w</p:attrName>
                                        </p:attrNameLst>
                                      </p:cBhvr>
                                      <p:tavLst>
                                        <p:tav fmla="" tm="0">
                                          <p:val>
                                            <p:strVal val="0"/>
                                          </p:val>
                                        </p:tav>
                                        <p:tav fmla="" tm="100000">
                                          <p:val>
                                            <p:strVal val="#ppt_w"/>
                                          </p:val>
                                        </p:tav>
                                      </p:tavLst>
                                    </p:anim>
                                    <p:anim calcmode="lin" valueType="num">
                                      <p:cBhvr additive="base">
                                        <p:cTn dur="500"/>
                                        <p:tgtEl>
                                          <p:spTgt spid="56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9afd2df374_4_406"/>
          <p:cNvSpPr txBox="1"/>
          <p:nvPr/>
        </p:nvSpPr>
        <p:spPr>
          <a:xfrm>
            <a:off x="5235553" y="590360"/>
            <a:ext cx="78168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Star Schema</a:t>
            </a:r>
            <a:endParaRPr b="1" i="0" sz="7200" u="none" cap="none" strike="noStrike">
              <a:solidFill>
                <a:schemeClr val="accent2"/>
              </a:solidFill>
              <a:latin typeface="Montserrat"/>
              <a:ea typeface="Montserrat"/>
              <a:cs typeface="Montserrat"/>
              <a:sym typeface="Montserrat"/>
            </a:endParaRPr>
          </a:p>
        </p:txBody>
      </p:sp>
      <p:sp>
        <p:nvSpPr>
          <p:cNvPr id="566" name="Google Shape;566;g39afd2df374_4_406"/>
          <p:cNvSpPr txBox="1"/>
          <p:nvPr/>
        </p:nvSpPr>
        <p:spPr>
          <a:xfrm>
            <a:off x="1446125" y="3596663"/>
            <a:ext cx="6465600" cy="3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chemeClr val="accent2"/>
                </a:solidFill>
                <a:latin typeface="Montserrat"/>
                <a:ea typeface="Montserrat"/>
                <a:cs typeface="Montserrat"/>
                <a:sym typeface="Montserrat"/>
              </a:rPr>
              <a:t>Khái niệm:</a:t>
            </a:r>
            <a:r>
              <a:rPr lang="en-US" sz="3000">
                <a:solidFill>
                  <a:schemeClr val="dk1"/>
                </a:solidFill>
                <a:latin typeface="Montserrat"/>
                <a:ea typeface="Montserrat"/>
                <a:cs typeface="Montserrat"/>
                <a:sym typeface="Montserrat"/>
              </a:rPr>
              <a:t>  là nền tảng của việc mô hình hóa dữ liệu cho các kho dữ liệu (Data Warehouse) và kinh doanh thông minh (Business Intelligence - BI)</a:t>
            </a:r>
            <a:endParaRPr sz="3000">
              <a:solidFill>
                <a:schemeClr val="dk1"/>
              </a:solidFill>
              <a:latin typeface="Montserrat"/>
              <a:ea typeface="Montserrat"/>
              <a:cs typeface="Montserrat"/>
              <a:sym typeface="Montserrat"/>
            </a:endParaRPr>
          </a:p>
        </p:txBody>
      </p:sp>
      <p:pic>
        <p:nvPicPr>
          <p:cNvPr id="567" name="Google Shape;567;g39afd2df374_4_406"/>
          <p:cNvPicPr preferRelativeResize="0"/>
          <p:nvPr/>
        </p:nvPicPr>
        <p:blipFill>
          <a:blip r:embed="rId3">
            <a:alphaModFix/>
          </a:blip>
          <a:stretch>
            <a:fillRect/>
          </a:stretch>
        </p:blipFill>
        <p:spPr>
          <a:xfrm>
            <a:off x="8460000" y="2354125"/>
            <a:ext cx="8266775" cy="6093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65"/>
                                        </p:tgtEl>
                                        <p:attrNameLst>
                                          <p:attrName>style.visibility</p:attrName>
                                        </p:attrNameLst>
                                      </p:cBhvr>
                                      <p:to>
                                        <p:strVal val="visible"/>
                                      </p:to>
                                    </p:set>
                                    <p:anim calcmode="lin" valueType="num">
                                      <p:cBhvr additive="base">
                                        <p:cTn dur="500"/>
                                        <p:tgtEl>
                                          <p:spTgt spid="565"/>
                                        </p:tgtEl>
                                        <p:attrNameLst>
                                          <p:attrName>ppt_w</p:attrName>
                                        </p:attrNameLst>
                                      </p:cBhvr>
                                      <p:tavLst>
                                        <p:tav fmla="" tm="0">
                                          <p:val>
                                            <p:strVal val="0"/>
                                          </p:val>
                                        </p:tav>
                                        <p:tav fmla="" tm="100000">
                                          <p:val>
                                            <p:strVal val="#ppt_w"/>
                                          </p:val>
                                        </p:tav>
                                      </p:tavLst>
                                    </p:anim>
                                    <p:anim calcmode="lin" valueType="num">
                                      <p:cBhvr additive="base">
                                        <p:cTn dur="500"/>
                                        <p:tgtEl>
                                          <p:spTgt spid="56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g39afd2df374_4_421"/>
          <p:cNvSpPr txBox="1"/>
          <p:nvPr/>
        </p:nvSpPr>
        <p:spPr>
          <a:xfrm>
            <a:off x="5235553" y="590360"/>
            <a:ext cx="78168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Ví dụ</a:t>
            </a:r>
            <a:endParaRPr b="1" i="0" sz="7200" u="none" cap="none" strike="noStrike">
              <a:solidFill>
                <a:schemeClr val="accent2"/>
              </a:solidFill>
              <a:latin typeface="Montserrat"/>
              <a:ea typeface="Montserrat"/>
              <a:cs typeface="Montserrat"/>
              <a:sym typeface="Montserrat"/>
            </a:endParaRPr>
          </a:p>
        </p:txBody>
      </p:sp>
      <p:pic>
        <p:nvPicPr>
          <p:cNvPr id="573" name="Google Shape;573;g39afd2df374_4_421"/>
          <p:cNvPicPr preferRelativeResize="0"/>
          <p:nvPr/>
        </p:nvPicPr>
        <p:blipFill>
          <a:blip r:embed="rId3">
            <a:alphaModFix/>
          </a:blip>
          <a:stretch>
            <a:fillRect/>
          </a:stretch>
        </p:blipFill>
        <p:spPr>
          <a:xfrm>
            <a:off x="3264550" y="2086250"/>
            <a:ext cx="12036125" cy="678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72"/>
                                        </p:tgtEl>
                                        <p:attrNameLst>
                                          <p:attrName>style.visibility</p:attrName>
                                        </p:attrNameLst>
                                      </p:cBhvr>
                                      <p:to>
                                        <p:strVal val="visible"/>
                                      </p:to>
                                    </p:set>
                                    <p:anim calcmode="lin" valueType="num">
                                      <p:cBhvr additive="base">
                                        <p:cTn dur="500"/>
                                        <p:tgtEl>
                                          <p:spTgt spid="572"/>
                                        </p:tgtEl>
                                        <p:attrNameLst>
                                          <p:attrName>ppt_w</p:attrName>
                                        </p:attrNameLst>
                                      </p:cBhvr>
                                      <p:tavLst>
                                        <p:tav fmla="" tm="0">
                                          <p:val>
                                            <p:strVal val="0"/>
                                          </p:val>
                                        </p:tav>
                                        <p:tav fmla="" tm="100000">
                                          <p:val>
                                            <p:strVal val="#ppt_w"/>
                                          </p:val>
                                        </p:tav>
                                      </p:tavLst>
                                    </p:anim>
                                    <p:anim calcmode="lin" valueType="num">
                                      <p:cBhvr additive="base">
                                        <p:cTn dur="500"/>
                                        <p:tgtEl>
                                          <p:spTgt spid="57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9afd2df374_4_445"/>
          <p:cNvSpPr txBox="1"/>
          <p:nvPr/>
        </p:nvSpPr>
        <p:spPr>
          <a:xfrm>
            <a:off x="4715999" y="474878"/>
            <a:ext cx="99498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Snowflake</a:t>
            </a:r>
            <a:r>
              <a:rPr b="1" lang="en-US" sz="7200">
                <a:solidFill>
                  <a:schemeClr val="accent2"/>
                </a:solidFill>
                <a:latin typeface="Montserrat"/>
                <a:ea typeface="Montserrat"/>
                <a:cs typeface="Montserrat"/>
                <a:sym typeface="Montserrat"/>
              </a:rPr>
              <a:t> Schema</a:t>
            </a:r>
            <a:endParaRPr b="1" i="0" sz="7200" u="none" cap="none" strike="noStrike">
              <a:solidFill>
                <a:schemeClr val="accent2"/>
              </a:solidFill>
              <a:latin typeface="Montserrat"/>
              <a:ea typeface="Montserrat"/>
              <a:cs typeface="Montserrat"/>
              <a:sym typeface="Montserrat"/>
            </a:endParaRPr>
          </a:p>
        </p:txBody>
      </p:sp>
      <p:sp>
        <p:nvSpPr>
          <p:cNvPr id="579" name="Google Shape;579;g39afd2df374_4_445"/>
          <p:cNvSpPr txBox="1"/>
          <p:nvPr/>
        </p:nvSpPr>
        <p:spPr>
          <a:xfrm>
            <a:off x="9412525" y="2563800"/>
            <a:ext cx="6927300" cy="254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chemeClr val="accent2"/>
                </a:solidFill>
                <a:latin typeface="Montserrat"/>
                <a:ea typeface="Montserrat"/>
                <a:cs typeface="Montserrat"/>
                <a:sym typeface="Montserrat"/>
              </a:rPr>
              <a:t>Khái niệm:</a:t>
            </a:r>
            <a:r>
              <a:rPr lang="en-US" sz="3000">
                <a:solidFill>
                  <a:schemeClr val="dk1"/>
                </a:solidFill>
                <a:latin typeface="Montserrat"/>
                <a:ea typeface="Montserrat"/>
                <a:cs typeface="Montserrat"/>
                <a:sym typeface="Montserrat"/>
              </a:rPr>
              <a:t>  </a:t>
            </a:r>
            <a:endParaRPr sz="3000">
              <a:solidFill>
                <a:schemeClr val="dk1"/>
              </a:solidFill>
              <a:latin typeface="Montserrat"/>
              <a:ea typeface="Montserrat"/>
              <a:cs typeface="Montserrat"/>
              <a:sym typeface="Montserrat"/>
            </a:endParaRPr>
          </a:p>
          <a:p>
            <a:pPr indent="0" lvl="0" marL="0" rtl="0" algn="just">
              <a:spcBef>
                <a:spcPts val="0"/>
              </a:spcBef>
              <a:spcAft>
                <a:spcPts val="0"/>
              </a:spcAft>
              <a:buNone/>
            </a:pPr>
            <a:r>
              <a:rPr lang="en-US" sz="3000">
                <a:solidFill>
                  <a:schemeClr val="dk1"/>
                </a:solidFill>
                <a:latin typeface="Montserrat"/>
                <a:ea typeface="Montserrat"/>
                <a:cs typeface="Montserrat"/>
                <a:sym typeface="Montserrat"/>
              </a:rPr>
              <a:t>Là một hình thức chuẩn hóa hơn của mô hình sao. Nó được sử dụng khi cần giảm sự dư thừa dữ liệu trong các bảng thứ nguyên</a:t>
            </a:r>
            <a:endParaRPr sz="3000">
              <a:solidFill>
                <a:schemeClr val="dk1"/>
              </a:solidFill>
              <a:latin typeface="Montserrat"/>
              <a:ea typeface="Montserrat"/>
              <a:cs typeface="Montserrat"/>
              <a:sym typeface="Montserrat"/>
            </a:endParaRPr>
          </a:p>
        </p:txBody>
      </p:sp>
      <p:pic>
        <p:nvPicPr>
          <p:cNvPr id="580" name="Google Shape;580;g39afd2df374_4_445"/>
          <p:cNvPicPr preferRelativeResize="0"/>
          <p:nvPr/>
        </p:nvPicPr>
        <p:blipFill>
          <a:blip r:embed="rId3">
            <a:alphaModFix/>
          </a:blip>
          <a:stretch>
            <a:fillRect/>
          </a:stretch>
        </p:blipFill>
        <p:spPr>
          <a:xfrm>
            <a:off x="1335800" y="2381250"/>
            <a:ext cx="7383975" cy="6247975"/>
          </a:xfrm>
          <a:prstGeom prst="rect">
            <a:avLst/>
          </a:prstGeom>
          <a:noFill/>
          <a:ln>
            <a:noFill/>
          </a:ln>
        </p:spPr>
      </p:pic>
      <p:sp>
        <p:nvSpPr>
          <p:cNvPr id="581" name="Google Shape;581;g39afd2df374_4_445"/>
          <p:cNvSpPr txBox="1"/>
          <p:nvPr/>
        </p:nvSpPr>
        <p:spPr>
          <a:xfrm>
            <a:off x="9412525" y="5409325"/>
            <a:ext cx="6927300" cy="3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chemeClr val="accent2"/>
                </a:solidFill>
                <a:latin typeface="Montserrat"/>
                <a:ea typeface="Montserrat"/>
                <a:cs typeface="Montserrat"/>
                <a:sym typeface="Montserrat"/>
              </a:rPr>
              <a:t>Cấu trúc chi tiết</a:t>
            </a:r>
            <a:r>
              <a:rPr b="1" lang="en-US" sz="3000">
                <a:solidFill>
                  <a:schemeClr val="accent2"/>
                </a:solidFill>
                <a:latin typeface="Montserrat"/>
                <a:ea typeface="Montserrat"/>
                <a:cs typeface="Montserrat"/>
                <a:sym typeface="Montserrat"/>
              </a:rPr>
              <a:t>:</a:t>
            </a:r>
            <a:r>
              <a:rPr lang="en-US" sz="3000">
                <a:solidFill>
                  <a:schemeClr val="dk1"/>
                </a:solidFill>
                <a:latin typeface="Montserrat"/>
                <a:ea typeface="Montserrat"/>
                <a:cs typeface="Montserrat"/>
                <a:sym typeface="Montserrat"/>
              </a:rPr>
              <a:t>  </a:t>
            </a:r>
            <a:endParaRPr sz="3000">
              <a:solidFill>
                <a:schemeClr val="dk1"/>
              </a:solidFill>
              <a:latin typeface="Montserrat"/>
              <a:ea typeface="Montserrat"/>
              <a:cs typeface="Montserrat"/>
              <a:sym typeface="Montserrat"/>
            </a:endParaRPr>
          </a:p>
          <a:p>
            <a:pPr indent="0" lvl="0" marL="0" rtl="0" algn="just">
              <a:spcBef>
                <a:spcPts val="0"/>
              </a:spcBef>
              <a:spcAft>
                <a:spcPts val="0"/>
              </a:spcAft>
              <a:buNone/>
            </a:pPr>
            <a:r>
              <a:rPr lang="en-US" sz="3000">
                <a:solidFill>
                  <a:schemeClr val="dk1"/>
                </a:solidFill>
                <a:latin typeface="Montserrat"/>
                <a:ea typeface="Montserrat"/>
                <a:cs typeface="Montserrat"/>
                <a:sym typeface="Montserrat"/>
              </a:rPr>
              <a:t>Thay vì mọi bảng thứ nguyên đều kết nối trực tiếp với bảng dữ kiện, một số bảng thứ nguyên được chuẩn hóa (normalized) thành các bảng nhỏ hơn và có quan hệ với nhau</a:t>
            </a:r>
            <a:endParaRPr sz="30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78"/>
                                        </p:tgtEl>
                                        <p:attrNameLst>
                                          <p:attrName>style.visibility</p:attrName>
                                        </p:attrNameLst>
                                      </p:cBhvr>
                                      <p:to>
                                        <p:strVal val="visible"/>
                                      </p:to>
                                    </p:set>
                                    <p:anim calcmode="lin" valueType="num">
                                      <p:cBhvr additive="base">
                                        <p:cTn dur="500"/>
                                        <p:tgtEl>
                                          <p:spTgt spid="578"/>
                                        </p:tgtEl>
                                        <p:attrNameLst>
                                          <p:attrName>ppt_w</p:attrName>
                                        </p:attrNameLst>
                                      </p:cBhvr>
                                      <p:tavLst>
                                        <p:tav fmla="" tm="0">
                                          <p:val>
                                            <p:strVal val="0"/>
                                          </p:val>
                                        </p:tav>
                                        <p:tav fmla="" tm="100000">
                                          <p:val>
                                            <p:strVal val="#ppt_w"/>
                                          </p:val>
                                        </p:tav>
                                      </p:tavLst>
                                    </p:anim>
                                    <p:anim calcmode="lin" valueType="num">
                                      <p:cBhvr additive="base">
                                        <p:cTn dur="500"/>
                                        <p:tgtEl>
                                          <p:spTgt spid="57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g39afd2df374_4_454"/>
          <p:cNvSpPr txBox="1"/>
          <p:nvPr/>
        </p:nvSpPr>
        <p:spPr>
          <a:xfrm>
            <a:off x="5235603" y="619210"/>
            <a:ext cx="78168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accent2"/>
                </a:solidFill>
                <a:latin typeface="Montserrat"/>
                <a:ea typeface="Montserrat"/>
                <a:cs typeface="Montserrat"/>
                <a:sym typeface="Montserrat"/>
              </a:rPr>
              <a:t>Ví dụ</a:t>
            </a:r>
            <a:endParaRPr b="1" i="0" sz="7200" u="none" cap="none" strike="noStrike">
              <a:solidFill>
                <a:schemeClr val="accent2"/>
              </a:solidFill>
              <a:latin typeface="Montserrat"/>
              <a:ea typeface="Montserrat"/>
              <a:cs typeface="Montserrat"/>
              <a:sym typeface="Montserrat"/>
            </a:endParaRPr>
          </a:p>
        </p:txBody>
      </p:sp>
      <p:pic>
        <p:nvPicPr>
          <p:cNvPr id="587" name="Google Shape;587;g39afd2df374_4_454"/>
          <p:cNvPicPr preferRelativeResize="0"/>
          <p:nvPr/>
        </p:nvPicPr>
        <p:blipFill>
          <a:blip r:embed="rId3">
            <a:alphaModFix/>
          </a:blip>
          <a:stretch>
            <a:fillRect/>
          </a:stretch>
        </p:blipFill>
        <p:spPr>
          <a:xfrm>
            <a:off x="1992275" y="2143975"/>
            <a:ext cx="14379650" cy="6591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86"/>
                                        </p:tgtEl>
                                        <p:attrNameLst>
                                          <p:attrName>style.visibility</p:attrName>
                                        </p:attrNameLst>
                                      </p:cBhvr>
                                      <p:to>
                                        <p:strVal val="visible"/>
                                      </p:to>
                                    </p:set>
                                    <p:anim calcmode="lin" valueType="num">
                                      <p:cBhvr additive="base">
                                        <p:cTn dur="500"/>
                                        <p:tgtEl>
                                          <p:spTgt spid="586"/>
                                        </p:tgtEl>
                                        <p:attrNameLst>
                                          <p:attrName>ppt_w</p:attrName>
                                        </p:attrNameLst>
                                      </p:cBhvr>
                                      <p:tavLst>
                                        <p:tav fmla="" tm="0">
                                          <p:val>
                                            <p:strVal val="0"/>
                                          </p:val>
                                        </p:tav>
                                        <p:tav fmla="" tm="100000">
                                          <p:val>
                                            <p:strVal val="#ppt_w"/>
                                          </p:val>
                                        </p:tav>
                                      </p:tavLst>
                                    </p:anim>
                                    <p:anim calcmode="lin" valueType="num">
                                      <p:cBhvr additive="base">
                                        <p:cTn dur="500"/>
                                        <p:tgtEl>
                                          <p:spTgt spid="58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g39afd2df374_4_537"/>
          <p:cNvSpPr txBox="1"/>
          <p:nvPr/>
        </p:nvSpPr>
        <p:spPr>
          <a:xfrm>
            <a:off x="4715999" y="474878"/>
            <a:ext cx="99498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dk2"/>
                </a:solidFill>
                <a:latin typeface="Montserrat"/>
                <a:ea typeface="Montserrat"/>
                <a:cs typeface="Montserrat"/>
                <a:sym typeface="Montserrat"/>
              </a:rPr>
              <a:t>Phân cấp chiều</a:t>
            </a:r>
            <a:endParaRPr b="1" i="0" sz="7200" u="none" cap="none" strike="noStrike">
              <a:solidFill>
                <a:schemeClr val="dk2"/>
              </a:solidFill>
              <a:latin typeface="Montserrat"/>
              <a:ea typeface="Montserrat"/>
              <a:cs typeface="Montserrat"/>
              <a:sym typeface="Montserrat"/>
            </a:endParaRPr>
          </a:p>
        </p:txBody>
      </p:sp>
      <p:sp>
        <p:nvSpPr>
          <p:cNvPr id="593" name="Google Shape;593;g39afd2df374_4_537"/>
          <p:cNvSpPr txBox="1"/>
          <p:nvPr/>
        </p:nvSpPr>
        <p:spPr>
          <a:xfrm>
            <a:off x="9527950" y="3848375"/>
            <a:ext cx="6927300" cy="284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chemeClr val="dk2"/>
                </a:solidFill>
                <a:latin typeface="Montserrat"/>
                <a:ea typeface="Montserrat"/>
                <a:cs typeface="Montserrat"/>
                <a:sym typeface="Montserrat"/>
              </a:rPr>
              <a:t>Khái niệm:</a:t>
            </a:r>
            <a:r>
              <a:rPr lang="en-US" sz="3000">
                <a:solidFill>
                  <a:schemeClr val="dk2"/>
                </a:solidFill>
                <a:latin typeface="Montserrat"/>
                <a:ea typeface="Montserrat"/>
                <a:cs typeface="Montserrat"/>
                <a:sym typeface="Montserrat"/>
              </a:rPr>
              <a:t>  </a:t>
            </a:r>
            <a:endParaRPr sz="3000">
              <a:solidFill>
                <a:schemeClr val="dk2"/>
              </a:solidFill>
              <a:latin typeface="Montserrat"/>
              <a:ea typeface="Montserrat"/>
              <a:cs typeface="Montserrat"/>
              <a:sym typeface="Montserrat"/>
            </a:endParaRPr>
          </a:p>
          <a:p>
            <a:pPr indent="0" lvl="0" marL="0" rtl="0" algn="just">
              <a:spcBef>
                <a:spcPts val="0"/>
              </a:spcBef>
              <a:spcAft>
                <a:spcPts val="0"/>
              </a:spcAft>
              <a:buNone/>
            </a:pPr>
            <a:r>
              <a:rPr lang="en-US" sz="3000">
                <a:solidFill>
                  <a:schemeClr val="dk1"/>
                </a:solidFill>
                <a:latin typeface="Montserrat"/>
                <a:ea typeface="Montserrat"/>
                <a:cs typeface="Montserrat"/>
                <a:sym typeface="Montserrat"/>
              </a:rPr>
              <a:t>Phân cấp chiều là việc nhóm các cột (thuộc tính) trong một bảng chiều (Dimension Table) theo một trật tự hợp lý từ cấp độ tổng quát nhất đến chi tiết nhất</a:t>
            </a:r>
            <a:endParaRPr sz="3000">
              <a:solidFill>
                <a:schemeClr val="dk1"/>
              </a:solidFill>
              <a:latin typeface="Montserrat"/>
              <a:ea typeface="Montserrat"/>
              <a:cs typeface="Montserrat"/>
              <a:sym typeface="Montserrat"/>
            </a:endParaRPr>
          </a:p>
        </p:txBody>
      </p:sp>
      <p:pic>
        <p:nvPicPr>
          <p:cNvPr id="594" name="Google Shape;594;g39afd2df374_4_537"/>
          <p:cNvPicPr preferRelativeResize="0"/>
          <p:nvPr/>
        </p:nvPicPr>
        <p:blipFill>
          <a:blip r:embed="rId3">
            <a:alphaModFix/>
          </a:blip>
          <a:stretch>
            <a:fillRect/>
          </a:stretch>
        </p:blipFill>
        <p:spPr>
          <a:xfrm>
            <a:off x="902400" y="2563800"/>
            <a:ext cx="8405574" cy="61878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92"/>
                                        </p:tgtEl>
                                        <p:attrNameLst>
                                          <p:attrName>style.visibility</p:attrName>
                                        </p:attrNameLst>
                                      </p:cBhvr>
                                      <p:to>
                                        <p:strVal val="visible"/>
                                      </p:to>
                                    </p:set>
                                    <p:anim calcmode="lin" valueType="num">
                                      <p:cBhvr additive="base">
                                        <p:cTn dur="500"/>
                                        <p:tgtEl>
                                          <p:spTgt spid="592"/>
                                        </p:tgtEl>
                                        <p:attrNameLst>
                                          <p:attrName>ppt_w</p:attrName>
                                        </p:attrNameLst>
                                      </p:cBhvr>
                                      <p:tavLst>
                                        <p:tav fmla="" tm="0">
                                          <p:val>
                                            <p:strVal val="0"/>
                                          </p:val>
                                        </p:tav>
                                        <p:tav fmla="" tm="100000">
                                          <p:val>
                                            <p:strVal val="#ppt_w"/>
                                          </p:val>
                                        </p:tav>
                                      </p:tavLst>
                                    </p:anim>
                                    <p:anim calcmode="lin" valueType="num">
                                      <p:cBhvr additive="base">
                                        <p:cTn dur="500"/>
                                        <p:tgtEl>
                                          <p:spTgt spid="59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grpSp>
        <p:nvGrpSpPr>
          <p:cNvPr id="599" name="Google Shape;599;g39afd2df374_4_545"/>
          <p:cNvGrpSpPr/>
          <p:nvPr/>
        </p:nvGrpSpPr>
        <p:grpSpPr>
          <a:xfrm>
            <a:off x="6637004" y="9802720"/>
            <a:ext cx="11650894" cy="887552"/>
            <a:chOff x="0" y="-38100"/>
            <a:chExt cx="3904586" cy="297447"/>
          </a:xfrm>
        </p:grpSpPr>
        <p:sp>
          <p:nvSpPr>
            <p:cNvPr id="600" name="Google Shape;600;g39afd2df374_4_545"/>
            <p:cNvSpPr/>
            <p:nvPr/>
          </p:nvSpPr>
          <p:spPr>
            <a:xfrm>
              <a:off x="0" y="0"/>
              <a:ext cx="3904586" cy="259347"/>
            </a:xfrm>
            <a:custGeom>
              <a:rect b="b" l="l" r="r" t="t"/>
              <a:pathLst>
                <a:path extrusionOk="0" h="259347" w="3904586">
                  <a:moveTo>
                    <a:pt x="0" y="0"/>
                  </a:moveTo>
                  <a:lnTo>
                    <a:pt x="3904586" y="0"/>
                  </a:lnTo>
                  <a:lnTo>
                    <a:pt x="3904586" y="259347"/>
                  </a:lnTo>
                  <a:lnTo>
                    <a:pt x="0" y="259347"/>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1" name="Google Shape;601;g39afd2df374_4_545"/>
            <p:cNvSpPr txBox="1"/>
            <p:nvPr/>
          </p:nvSpPr>
          <p:spPr>
            <a:xfrm>
              <a:off x="0" y="-38100"/>
              <a:ext cx="3904500" cy="297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602" name="Google Shape;602;g39afd2df374_4_545"/>
          <p:cNvPicPr preferRelativeResize="0"/>
          <p:nvPr/>
        </p:nvPicPr>
        <p:blipFill rotWithShape="1">
          <a:blip r:embed="rId3">
            <a:alphaModFix/>
          </a:blip>
          <a:srcRect b="0" l="0" r="0" t="0"/>
          <a:stretch/>
        </p:blipFill>
        <p:spPr>
          <a:xfrm>
            <a:off x="5891775" y="9696640"/>
            <a:ext cx="7332975" cy="452200"/>
          </a:xfrm>
          <a:prstGeom prst="rect">
            <a:avLst/>
          </a:prstGeom>
          <a:noFill/>
          <a:ln>
            <a:noFill/>
          </a:ln>
        </p:spPr>
      </p:pic>
      <p:pic>
        <p:nvPicPr>
          <p:cNvPr id="603" name="Google Shape;603;g39afd2df374_4_545"/>
          <p:cNvPicPr preferRelativeResize="0"/>
          <p:nvPr/>
        </p:nvPicPr>
        <p:blipFill rotWithShape="1">
          <a:blip r:embed="rId4">
            <a:alphaModFix/>
          </a:blip>
          <a:srcRect b="0" l="0" r="0" t="0"/>
          <a:stretch/>
        </p:blipFill>
        <p:spPr>
          <a:xfrm>
            <a:off x="-200150" y="9225993"/>
            <a:ext cx="1028675" cy="1077350"/>
          </a:xfrm>
          <a:prstGeom prst="rect">
            <a:avLst/>
          </a:prstGeom>
          <a:noFill/>
          <a:ln>
            <a:noFill/>
          </a:ln>
        </p:spPr>
      </p:pic>
      <p:sp>
        <p:nvSpPr>
          <p:cNvPr id="604" name="Google Shape;604;g39afd2df374_4_545"/>
          <p:cNvSpPr txBox="1"/>
          <p:nvPr/>
        </p:nvSpPr>
        <p:spPr>
          <a:xfrm>
            <a:off x="3592700" y="532600"/>
            <a:ext cx="130647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dk2"/>
                </a:solidFill>
                <a:latin typeface="Montserrat"/>
                <a:ea typeface="Montserrat"/>
                <a:cs typeface="Montserrat"/>
                <a:sym typeface="Montserrat"/>
              </a:rPr>
              <a:t>Vai trò của phân cấp chiều</a:t>
            </a:r>
            <a:endParaRPr/>
          </a:p>
        </p:txBody>
      </p:sp>
      <p:grpSp>
        <p:nvGrpSpPr>
          <p:cNvPr id="605" name="Google Shape;605;g39afd2df374_4_545"/>
          <p:cNvGrpSpPr/>
          <p:nvPr/>
        </p:nvGrpSpPr>
        <p:grpSpPr>
          <a:xfrm>
            <a:off x="433712" y="2695182"/>
            <a:ext cx="17420575" cy="5534183"/>
            <a:chOff x="5436" y="3101360"/>
            <a:chExt cx="17420575" cy="5534183"/>
          </a:xfrm>
        </p:grpSpPr>
        <p:sp>
          <p:nvSpPr>
            <p:cNvPr id="606" name="Google Shape;606;g39afd2df374_4_545"/>
            <p:cNvSpPr/>
            <p:nvPr/>
          </p:nvSpPr>
          <p:spPr>
            <a:xfrm>
              <a:off x="5447" y="3101360"/>
              <a:ext cx="5311200" cy="1872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g39afd2df374_4_545"/>
            <p:cNvSpPr txBox="1"/>
            <p:nvPr/>
          </p:nvSpPr>
          <p:spPr>
            <a:xfrm>
              <a:off x="5447" y="3101360"/>
              <a:ext cx="5311200" cy="1872000"/>
            </a:xfrm>
            <a:prstGeom prst="rect">
              <a:avLst/>
            </a:prstGeom>
            <a:noFill/>
            <a:ln>
              <a:noFill/>
            </a:ln>
          </p:spPr>
          <p:txBody>
            <a:bodyPr anchorCtr="0" anchor="ctr" bIns="146300" lIns="256025" spcFirstLastPara="1" rIns="256025" wrap="square" tIns="146300">
              <a:noAutofit/>
            </a:bodyPr>
            <a:lstStyle/>
            <a:p>
              <a:pPr indent="0" lvl="0" marL="0" marR="0" rtl="0" algn="ctr">
                <a:lnSpc>
                  <a:spcPct val="90000"/>
                </a:lnSpc>
                <a:spcBef>
                  <a:spcPts val="0"/>
                </a:spcBef>
                <a:spcAft>
                  <a:spcPts val="0"/>
                </a:spcAft>
                <a:buClr>
                  <a:srgbClr val="000000"/>
                </a:buClr>
                <a:buSzPts val="3600"/>
                <a:buFont typeface="Arial"/>
                <a:buNone/>
              </a:pPr>
              <a:r>
                <a:rPr b="1" lang="en-US" sz="3600">
                  <a:solidFill>
                    <a:schemeClr val="lt1"/>
                  </a:solidFill>
                  <a:latin typeface="Montserrat"/>
                  <a:ea typeface="Montserrat"/>
                  <a:cs typeface="Montserrat"/>
                  <a:sym typeface="Montserrat"/>
                </a:rPr>
                <a:t>Tạo drill-down</a:t>
              </a:r>
              <a:endParaRPr b="1" i="0" sz="3600" u="none" cap="none" strike="noStrike">
                <a:solidFill>
                  <a:schemeClr val="lt1"/>
                </a:solidFill>
                <a:latin typeface="Montserrat"/>
                <a:ea typeface="Montserrat"/>
                <a:cs typeface="Montserrat"/>
                <a:sym typeface="Montserrat"/>
              </a:endParaRPr>
            </a:p>
          </p:txBody>
        </p:sp>
        <p:sp>
          <p:nvSpPr>
            <p:cNvPr id="608" name="Google Shape;608;g39afd2df374_4_545"/>
            <p:cNvSpPr/>
            <p:nvPr/>
          </p:nvSpPr>
          <p:spPr>
            <a:xfrm>
              <a:off x="5447" y="4954832"/>
              <a:ext cx="5311200" cy="2854800"/>
            </a:xfrm>
            <a:prstGeom prst="rect">
              <a:avLst/>
            </a:prstGeom>
            <a:solidFill>
              <a:srgbClr val="FBD0CE">
                <a:alpha val="8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g39afd2df374_4_545"/>
            <p:cNvSpPr txBox="1"/>
            <p:nvPr/>
          </p:nvSpPr>
          <p:spPr>
            <a:xfrm>
              <a:off x="5436" y="4954843"/>
              <a:ext cx="5311200" cy="3680700"/>
            </a:xfrm>
            <a:prstGeom prst="rect">
              <a:avLst/>
            </a:prstGeom>
            <a:solidFill>
              <a:srgbClr val="FCD0CE"/>
            </a:solidFill>
            <a:ln>
              <a:noFill/>
            </a:ln>
          </p:spPr>
          <p:txBody>
            <a:bodyPr anchorCtr="0" anchor="t" bIns="192000" lIns="128000" spcFirstLastPara="1" rIns="170675" wrap="square" tIns="128000">
              <a:noAutofit/>
            </a:bodyPr>
            <a:lstStyle/>
            <a:p>
              <a:pPr indent="457200" lvl="1" marL="0" marR="0" rtl="0" algn="just">
                <a:lnSpc>
                  <a:spcPct val="100000"/>
                </a:lnSpc>
                <a:spcBef>
                  <a:spcPts val="0"/>
                </a:spcBef>
                <a:spcAft>
                  <a:spcPts val="0"/>
                </a:spcAft>
                <a:buClr>
                  <a:srgbClr val="000000"/>
                </a:buClr>
                <a:buSzPts val="2400"/>
                <a:buFont typeface="Arial"/>
                <a:buNone/>
              </a:pPr>
              <a:r>
                <a:rPr lang="en-US" sz="2900">
                  <a:latin typeface="Montserrat"/>
                  <a:ea typeface="Montserrat"/>
                  <a:cs typeface="Montserrat"/>
                  <a:sym typeface="Montserrat"/>
                </a:rPr>
                <a:t>Cho phép người dùng dễ dàng đi sâu vào dữ liệu từ mức độ cao xuống mức độ chi tiết hơn chỉ bằng một cú nhấp chuột</a:t>
              </a:r>
              <a:endParaRPr b="0" i="0" sz="2900" u="none" cap="none" strike="noStrike">
                <a:solidFill>
                  <a:srgbClr val="000000"/>
                </a:solidFill>
                <a:latin typeface="Montserrat"/>
                <a:ea typeface="Montserrat"/>
                <a:cs typeface="Montserrat"/>
                <a:sym typeface="Montserrat"/>
              </a:endParaRPr>
            </a:p>
          </p:txBody>
        </p:sp>
        <p:sp>
          <p:nvSpPr>
            <p:cNvPr id="610" name="Google Shape;610;g39afd2df374_4_545"/>
            <p:cNvSpPr/>
            <p:nvPr/>
          </p:nvSpPr>
          <p:spPr>
            <a:xfrm>
              <a:off x="6060127" y="3101360"/>
              <a:ext cx="5311200" cy="1872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g39afd2df374_4_545"/>
            <p:cNvSpPr txBox="1"/>
            <p:nvPr/>
          </p:nvSpPr>
          <p:spPr>
            <a:xfrm>
              <a:off x="6060127" y="3101360"/>
              <a:ext cx="5311200" cy="1872000"/>
            </a:xfrm>
            <a:prstGeom prst="rect">
              <a:avLst/>
            </a:prstGeom>
            <a:noFill/>
            <a:ln>
              <a:noFill/>
            </a:ln>
          </p:spPr>
          <p:txBody>
            <a:bodyPr anchorCtr="0" anchor="ctr" bIns="146300" lIns="256025" spcFirstLastPara="1" rIns="256025" wrap="square" tIns="146300">
              <a:noAutofit/>
            </a:bodyPr>
            <a:lstStyle/>
            <a:p>
              <a:pPr indent="0" lvl="0" marL="0" marR="0" rtl="0" algn="ctr">
                <a:lnSpc>
                  <a:spcPct val="90000"/>
                </a:lnSpc>
                <a:spcBef>
                  <a:spcPts val="0"/>
                </a:spcBef>
                <a:spcAft>
                  <a:spcPts val="0"/>
                </a:spcAft>
                <a:buClr>
                  <a:srgbClr val="000000"/>
                </a:buClr>
                <a:buSzPts val="3600"/>
                <a:buFont typeface="Arial"/>
                <a:buNone/>
              </a:pPr>
              <a:r>
                <a:rPr b="1" lang="en-US" sz="3600">
                  <a:solidFill>
                    <a:schemeClr val="lt1"/>
                  </a:solidFill>
                  <a:latin typeface="Montserrat"/>
                  <a:ea typeface="Montserrat"/>
                  <a:cs typeface="Montserrat"/>
                  <a:sym typeface="Montserrat"/>
                </a:rPr>
                <a:t>Cải thiện trải nghiệm người dùng (UX)</a:t>
              </a:r>
              <a:endParaRPr b="1" i="0" sz="3600" u="none" cap="none" strike="noStrike">
                <a:solidFill>
                  <a:schemeClr val="lt1"/>
                </a:solidFill>
                <a:latin typeface="Montserrat"/>
                <a:ea typeface="Montserrat"/>
                <a:cs typeface="Montserrat"/>
                <a:sym typeface="Montserrat"/>
              </a:endParaRPr>
            </a:p>
          </p:txBody>
        </p:sp>
        <p:sp>
          <p:nvSpPr>
            <p:cNvPr id="612" name="Google Shape;612;g39afd2df374_4_545"/>
            <p:cNvSpPr/>
            <p:nvPr/>
          </p:nvSpPr>
          <p:spPr>
            <a:xfrm>
              <a:off x="6060127" y="4954832"/>
              <a:ext cx="5311200" cy="2854800"/>
            </a:xfrm>
            <a:prstGeom prst="rect">
              <a:avLst/>
            </a:prstGeom>
            <a:solidFill>
              <a:srgbClr val="D6DDF0">
                <a:alpha val="8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g39afd2df374_4_545"/>
            <p:cNvSpPr txBox="1"/>
            <p:nvPr/>
          </p:nvSpPr>
          <p:spPr>
            <a:xfrm>
              <a:off x="6060136" y="4954842"/>
              <a:ext cx="5311200" cy="3680700"/>
            </a:xfrm>
            <a:prstGeom prst="rect">
              <a:avLst/>
            </a:prstGeom>
            <a:solidFill>
              <a:srgbClr val="D6DDF0"/>
            </a:solidFill>
            <a:ln>
              <a:noFill/>
            </a:ln>
          </p:spPr>
          <p:txBody>
            <a:bodyPr anchorCtr="0" anchor="t" bIns="192000" lIns="128000" spcFirstLastPara="1" rIns="170675" wrap="square" tIns="128000">
              <a:noAutofit/>
            </a:bodyPr>
            <a:lstStyle/>
            <a:p>
              <a:pPr indent="457200" lvl="1" marL="0" marR="0" rtl="0" algn="just">
                <a:lnSpc>
                  <a:spcPct val="100000"/>
                </a:lnSpc>
                <a:spcBef>
                  <a:spcPts val="0"/>
                </a:spcBef>
                <a:spcAft>
                  <a:spcPts val="0"/>
                </a:spcAft>
                <a:buClr>
                  <a:srgbClr val="000000"/>
                </a:buClr>
                <a:buSzPts val="2400"/>
                <a:buFont typeface="Arial"/>
                <a:buNone/>
              </a:pPr>
              <a:r>
                <a:rPr lang="en-US" sz="3000">
                  <a:latin typeface="Montserrat"/>
                  <a:ea typeface="Montserrat"/>
                  <a:cs typeface="Montserrat"/>
                  <a:sym typeface="Montserrat"/>
                </a:rPr>
                <a:t>Sắp xếp dữ liệu phức tạp thành cấu trúc logic, dễ hiểu.</a:t>
              </a:r>
              <a:endParaRPr sz="3000">
                <a:latin typeface="Montserrat"/>
                <a:ea typeface="Montserrat"/>
                <a:cs typeface="Montserrat"/>
                <a:sym typeface="Montserrat"/>
              </a:endParaRPr>
            </a:p>
            <a:p>
              <a:pPr indent="0" lvl="1" marL="0" marR="0" rtl="0" algn="l">
                <a:lnSpc>
                  <a:spcPct val="100000"/>
                </a:lnSpc>
                <a:spcBef>
                  <a:spcPts val="0"/>
                </a:spcBef>
                <a:spcAft>
                  <a:spcPts val="0"/>
                </a:spcAft>
                <a:buClr>
                  <a:srgbClr val="000000"/>
                </a:buClr>
                <a:buSzPts val="2400"/>
                <a:buFont typeface="Arial"/>
                <a:buNone/>
              </a:pPr>
              <a:r>
                <a:t/>
              </a:r>
              <a:endParaRPr sz="2400">
                <a:latin typeface="Montserrat"/>
                <a:ea typeface="Montserrat"/>
                <a:cs typeface="Montserrat"/>
                <a:sym typeface="Montserrat"/>
              </a:endParaRPr>
            </a:p>
          </p:txBody>
        </p:sp>
        <p:sp>
          <p:nvSpPr>
            <p:cNvPr id="614" name="Google Shape;614;g39afd2df374_4_545"/>
            <p:cNvSpPr/>
            <p:nvPr/>
          </p:nvSpPr>
          <p:spPr>
            <a:xfrm>
              <a:off x="12114808" y="3101360"/>
              <a:ext cx="5311200" cy="1872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g39afd2df374_4_545"/>
            <p:cNvSpPr txBox="1"/>
            <p:nvPr/>
          </p:nvSpPr>
          <p:spPr>
            <a:xfrm>
              <a:off x="12114808" y="3101360"/>
              <a:ext cx="5311200" cy="1872000"/>
            </a:xfrm>
            <a:prstGeom prst="rect">
              <a:avLst/>
            </a:prstGeom>
            <a:noFill/>
            <a:ln>
              <a:noFill/>
            </a:ln>
          </p:spPr>
          <p:txBody>
            <a:bodyPr anchorCtr="0" anchor="ctr" bIns="146300" lIns="256025" spcFirstLastPara="1" rIns="256025" wrap="square" tIns="146300">
              <a:noAutofit/>
            </a:bodyPr>
            <a:lstStyle/>
            <a:p>
              <a:pPr indent="0" lvl="0" marL="0" marR="0" rtl="0" algn="ctr">
                <a:lnSpc>
                  <a:spcPct val="90000"/>
                </a:lnSpc>
                <a:spcBef>
                  <a:spcPts val="0"/>
                </a:spcBef>
                <a:spcAft>
                  <a:spcPts val="0"/>
                </a:spcAft>
                <a:buClr>
                  <a:srgbClr val="000000"/>
                </a:buClr>
                <a:buSzPts val="3600"/>
                <a:buFont typeface="Arial"/>
                <a:buNone/>
              </a:pPr>
              <a:r>
                <a:rPr b="1" lang="en-US" sz="3600">
                  <a:solidFill>
                    <a:schemeClr val="lt1"/>
                  </a:solidFill>
                  <a:latin typeface="Montserrat"/>
                  <a:ea typeface="Montserrat"/>
                  <a:cs typeface="Montserrat"/>
                  <a:sym typeface="Montserrat"/>
                </a:rPr>
                <a:t>Tối ưu hóa Visual</a:t>
              </a:r>
              <a:endParaRPr b="1" i="0" sz="3600" u="none" cap="none" strike="noStrike">
                <a:solidFill>
                  <a:schemeClr val="lt1"/>
                </a:solidFill>
                <a:latin typeface="Montserrat"/>
                <a:ea typeface="Montserrat"/>
                <a:cs typeface="Montserrat"/>
                <a:sym typeface="Montserrat"/>
              </a:endParaRPr>
            </a:p>
          </p:txBody>
        </p:sp>
        <p:sp>
          <p:nvSpPr>
            <p:cNvPr id="616" name="Google Shape;616;g39afd2df374_4_545"/>
            <p:cNvSpPr/>
            <p:nvPr/>
          </p:nvSpPr>
          <p:spPr>
            <a:xfrm>
              <a:off x="12114808" y="4954832"/>
              <a:ext cx="5311200" cy="2854800"/>
            </a:xfrm>
            <a:prstGeom prst="rect">
              <a:avLst/>
            </a:prstGeom>
            <a:solidFill>
              <a:srgbClr val="FBD0CE">
                <a:alpha val="8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g39afd2df374_4_545"/>
            <p:cNvSpPr txBox="1"/>
            <p:nvPr/>
          </p:nvSpPr>
          <p:spPr>
            <a:xfrm>
              <a:off x="12114811" y="4954840"/>
              <a:ext cx="5311200" cy="3492600"/>
            </a:xfrm>
            <a:prstGeom prst="rect">
              <a:avLst/>
            </a:prstGeom>
            <a:solidFill>
              <a:srgbClr val="FBD0CE">
                <a:alpha val="89800"/>
              </a:srgbClr>
            </a:solidFill>
            <a:ln>
              <a:noFill/>
            </a:ln>
          </p:spPr>
          <p:txBody>
            <a:bodyPr anchorCtr="0" anchor="t" bIns="192000" lIns="128000" spcFirstLastPara="1" rIns="170675" wrap="square" tIns="128000">
              <a:noAutofit/>
            </a:bodyPr>
            <a:lstStyle/>
            <a:p>
              <a:pPr indent="457200" lvl="1" marL="0" marR="0" rtl="0" algn="just">
                <a:lnSpc>
                  <a:spcPct val="100000"/>
                </a:lnSpc>
                <a:spcBef>
                  <a:spcPts val="0"/>
                </a:spcBef>
                <a:spcAft>
                  <a:spcPts val="0"/>
                </a:spcAft>
                <a:buClr>
                  <a:srgbClr val="000000"/>
                </a:buClr>
                <a:buSzPts val="2400"/>
                <a:buFont typeface="Arial"/>
                <a:buNone/>
              </a:pPr>
              <a:r>
                <a:rPr lang="en-US" sz="3000">
                  <a:latin typeface="Montserrat"/>
                  <a:ea typeface="Montserrat"/>
                  <a:cs typeface="Montserrat"/>
                  <a:sym typeface="Montserrat"/>
                </a:rPr>
                <a:t>Nhiều visual (như biểu đồ cột, ma trận) tự động sử dụng phân cấp để hiển thị dữ liệu theo cấp độ.</a:t>
              </a:r>
              <a:endParaRPr b="0" i="0" sz="3000" u="none" cap="none" strike="noStrike">
                <a:solidFill>
                  <a:srgbClr val="000000"/>
                </a:solidFill>
                <a:latin typeface="Montserrat"/>
                <a:ea typeface="Montserrat"/>
                <a:cs typeface="Montserrat"/>
                <a:sym typeface="Montserrat"/>
              </a:endParaRPr>
            </a:p>
            <a:p>
              <a:pPr indent="-228600" lvl="1" marL="228600" marR="0" rtl="0" algn="l">
                <a:lnSpc>
                  <a:spcPct val="9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04"/>
                                        </p:tgtEl>
                                        <p:attrNameLst>
                                          <p:attrName>style.visibility</p:attrName>
                                        </p:attrNameLst>
                                      </p:cBhvr>
                                      <p:to>
                                        <p:strVal val="visible"/>
                                      </p:to>
                                    </p:set>
                                    <p:anim calcmode="lin" valueType="num">
                                      <p:cBhvr additive="base">
                                        <p:cTn dur="500"/>
                                        <p:tgtEl>
                                          <p:spTgt spid="604"/>
                                        </p:tgtEl>
                                        <p:attrNameLst>
                                          <p:attrName>ppt_w</p:attrName>
                                        </p:attrNameLst>
                                      </p:cBhvr>
                                      <p:tavLst>
                                        <p:tav fmla="" tm="0">
                                          <p:val>
                                            <p:strVal val="0"/>
                                          </p:val>
                                        </p:tav>
                                        <p:tav fmla="" tm="100000">
                                          <p:val>
                                            <p:strVal val="#ppt_w"/>
                                          </p:val>
                                        </p:tav>
                                      </p:tavLst>
                                    </p:anim>
                                    <p:anim calcmode="lin" valueType="num">
                                      <p:cBhvr additive="base">
                                        <p:cTn dur="500"/>
                                        <p:tgtEl>
                                          <p:spTgt spid="60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a9b23b7472_2_0"/>
          <p:cNvSpPr txBox="1"/>
          <p:nvPr/>
        </p:nvSpPr>
        <p:spPr>
          <a:xfrm>
            <a:off x="2386850" y="1085970"/>
            <a:ext cx="13677900" cy="1077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000">
                <a:solidFill>
                  <a:schemeClr val="accent2"/>
                </a:solidFill>
                <a:latin typeface="Montserrat"/>
                <a:ea typeface="Montserrat"/>
                <a:cs typeface="Montserrat"/>
                <a:sym typeface="Montserrat"/>
              </a:rPr>
              <a:t>Các bước tạo phân cấp chiều</a:t>
            </a:r>
            <a:endParaRPr b="1" i="0" sz="7000" u="none" cap="none" strike="noStrike">
              <a:solidFill>
                <a:schemeClr val="accent2"/>
              </a:solidFill>
              <a:latin typeface="Montserrat"/>
              <a:ea typeface="Montserrat"/>
              <a:cs typeface="Montserrat"/>
              <a:sym typeface="Montserrat"/>
            </a:endParaRPr>
          </a:p>
        </p:txBody>
      </p:sp>
      <p:grpSp>
        <p:nvGrpSpPr>
          <p:cNvPr id="623" name="Google Shape;623;g3a9b23b7472_2_0"/>
          <p:cNvGrpSpPr/>
          <p:nvPr/>
        </p:nvGrpSpPr>
        <p:grpSpPr>
          <a:xfrm>
            <a:off x="0" y="9426322"/>
            <a:ext cx="18287843" cy="860673"/>
            <a:chOff x="0" y="-38100"/>
            <a:chExt cx="6128839" cy="288439"/>
          </a:xfrm>
        </p:grpSpPr>
        <p:sp>
          <p:nvSpPr>
            <p:cNvPr id="624" name="Google Shape;624;g3a9b23b7472_2_0"/>
            <p:cNvSpPr/>
            <p:nvPr/>
          </p:nvSpPr>
          <p:spPr>
            <a:xfrm>
              <a:off x="0" y="0"/>
              <a:ext cx="6128839" cy="250339"/>
            </a:xfrm>
            <a:custGeom>
              <a:rect b="b" l="l" r="r" t="t"/>
              <a:pathLst>
                <a:path extrusionOk="0" h="250339" w="6128839">
                  <a:moveTo>
                    <a:pt x="0" y="0"/>
                  </a:moveTo>
                  <a:lnTo>
                    <a:pt x="6128839" y="0"/>
                  </a:lnTo>
                  <a:lnTo>
                    <a:pt x="6128839" y="250339"/>
                  </a:lnTo>
                  <a:lnTo>
                    <a:pt x="0" y="250339"/>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5" name="Google Shape;625;g3a9b23b7472_2_0"/>
            <p:cNvSpPr txBox="1"/>
            <p:nvPr/>
          </p:nvSpPr>
          <p:spPr>
            <a:xfrm>
              <a:off x="0" y="-38100"/>
              <a:ext cx="6128700" cy="288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626" name="Google Shape;626;g3a9b23b7472_2_0"/>
          <p:cNvPicPr preferRelativeResize="0"/>
          <p:nvPr/>
        </p:nvPicPr>
        <p:blipFill rotWithShape="1">
          <a:blip r:embed="rId3">
            <a:alphaModFix/>
          </a:blip>
          <a:srcRect b="0" l="0" r="0" t="0"/>
          <a:stretch/>
        </p:blipFill>
        <p:spPr>
          <a:xfrm>
            <a:off x="675625" y="-1"/>
            <a:ext cx="353625" cy="2459996"/>
          </a:xfrm>
          <a:prstGeom prst="rect">
            <a:avLst/>
          </a:prstGeom>
          <a:noFill/>
          <a:ln>
            <a:noFill/>
          </a:ln>
        </p:spPr>
      </p:pic>
      <p:pic>
        <p:nvPicPr>
          <p:cNvPr id="627" name="Google Shape;627;g3a9b23b7472_2_0"/>
          <p:cNvPicPr preferRelativeResize="0"/>
          <p:nvPr/>
        </p:nvPicPr>
        <p:blipFill rotWithShape="1">
          <a:blip r:embed="rId4">
            <a:alphaModFix/>
          </a:blip>
          <a:srcRect b="0" l="0" r="0" t="0"/>
          <a:stretch/>
        </p:blipFill>
        <p:spPr>
          <a:xfrm>
            <a:off x="-1513655" y="9273925"/>
            <a:ext cx="7332975" cy="452200"/>
          </a:xfrm>
          <a:prstGeom prst="rect">
            <a:avLst/>
          </a:prstGeom>
          <a:noFill/>
          <a:ln>
            <a:noFill/>
          </a:ln>
        </p:spPr>
      </p:pic>
      <p:pic>
        <p:nvPicPr>
          <p:cNvPr id="628" name="Google Shape;628;g3a9b23b7472_2_0"/>
          <p:cNvPicPr preferRelativeResize="0"/>
          <p:nvPr/>
        </p:nvPicPr>
        <p:blipFill rotWithShape="1">
          <a:blip r:embed="rId5">
            <a:alphaModFix/>
          </a:blip>
          <a:srcRect b="0" l="0" r="0" t="0"/>
          <a:stretch/>
        </p:blipFill>
        <p:spPr>
          <a:xfrm>
            <a:off x="16913724" y="1188458"/>
            <a:ext cx="940575" cy="872625"/>
          </a:xfrm>
          <a:prstGeom prst="rect">
            <a:avLst/>
          </a:prstGeom>
          <a:noFill/>
          <a:ln>
            <a:noFill/>
          </a:ln>
        </p:spPr>
      </p:pic>
      <p:grpSp>
        <p:nvGrpSpPr>
          <p:cNvPr id="629" name="Google Shape;629;g3a9b23b7472_2_0"/>
          <p:cNvGrpSpPr/>
          <p:nvPr/>
        </p:nvGrpSpPr>
        <p:grpSpPr>
          <a:xfrm>
            <a:off x="1935948" y="2537249"/>
            <a:ext cx="13381074" cy="6515393"/>
            <a:chOff x="5436" y="3101360"/>
            <a:chExt cx="11365900" cy="5534183"/>
          </a:xfrm>
        </p:grpSpPr>
        <p:sp>
          <p:nvSpPr>
            <p:cNvPr id="630" name="Google Shape;630;g3a9b23b7472_2_0"/>
            <p:cNvSpPr/>
            <p:nvPr/>
          </p:nvSpPr>
          <p:spPr>
            <a:xfrm>
              <a:off x="5447" y="3101360"/>
              <a:ext cx="5311200" cy="1872000"/>
            </a:xfrm>
            <a:prstGeom prst="rect">
              <a:avLst/>
            </a:prstGeom>
            <a:solidFill>
              <a:schemeClr val="accent2"/>
            </a:solidFill>
            <a:ln>
              <a:noFill/>
            </a:ln>
          </p:spPr>
          <p:txBody>
            <a:bodyPr anchorCtr="0" anchor="ctr" bIns="107625" lIns="107625" spcFirstLastPara="1" rIns="107625" wrap="square" tIns="107625">
              <a:noAutofit/>
            </a:bodyPr>
            <a:lstStyle/>
            <a:p>
              <a:pPr indent="0" lvl="0" marL="0" rtl="0" algn="l">
                <a:spcBef>
                  <a:spcPts val="0"/>
                </a:spcBef>
                <a:spcAft>
                  <a:spcPts val="0"/>
                </a:spcAft>
                <a:buNone/>
              </a:pPr>
              <a:r>
                <a:t/>
              </a:r>
              <a:endParaRPr/>
            </a:p>
          </p:txBody>
        </p:sp>
        <p:sp>
          <p:nvSpPr>
            <p:cNvPr id="631" name="Google Shape;631;g3a9b23b7472_2_0"/>
            <p:cNvSpPr txBox="1"/>
            <p:nvPr/>
          </p:nvSpPr>
          <p:spPr>
            <a:xfrm>
              <a:off x="5447" y="3101360"/>
              <a:ext cx="5311200" cy="1872000"/>
            </a:xfrm>
            <a:prstGeom prst="rect">
              <a:avLst/>
            </a:prstGeom>
            <a:noFill/>
            <a:ln>
              <a:noFill/>
            </a:ln>
          </p:spPr>
          <p:txBody>
            <a:bodyPr anchorCtr="0" anchor="ctr" bIns="172225" lIns="301400" spcFirstLastPara="1" rIns="301400" wrap="square" tIns="172225">
              <a:noAutofit/>
            </a:bodyPr>
            <a:lstStyle/>
            <a:p>
              <a:pPr indent="0" lvl="0" marL="0" marR="0" rtl="0" algn="ctr">
                <a:lnSpc>
                  <a:spcPct val="90000"/>
                </a:lnSpc>
                <a:spcBef>
                  <a:spcPts val="0"/>
                </a:spcBef>
                <a:spcAft>
                  <a:spcPts val="0"/>
                </a:spcAft>
                <a:buClr>
                  <a:srgbClr val="000000"/>
                </a:buClr>
                <a:buSzPts val="4238"/>
                <a:buFont typeface="Arial"/>
                <a:buNone/>
              </a:pPr>
              <a:r>
                <a:rPr b="1" lang="en-US" sz="4238">
                  <a:solidFill>
                    <a:schemeClr val="lt1"/>
                  </a:solidFill>
                  <a:latin typeface="Montserrat"/>
                  <a:ea typeface="Montserrat"/>
                  <a:cs typeface="Montserrat"/>
                  <a:sym typeface="Montserrat"/>
                </a:rPr>
                <a:t>Phương pháp kéo thả</a:t>
              </a:r>
              <a:endParaRPr b="1" i="0" sz="4238" u="none" cap="none" strike="noStrike">
                <a:solidFill>
                  <a:schemeClr val="lt1"/>
                </a:solidFill>
                <a:latin typeface="Montserrat"/>
                <a:ea typeface="Montserrat"/>
                <a:cs typeface="Montserrat"/>
                <a:sym typeface="Montserrat"/>
              </a:endParaRPr>
            </a:p>
          </p:txBody>
        </p:sp>
        <p:sp>
          <p:nvSpPr>
            <p:cNvPr id="632" name="Google Shape;632;g3a9b23b7472_2_0"/>
            <p:cNvSpPr/>
            <p:nvPr/>
          </p:nvSpPr>
          <p:spPr>
            <a:xfrm>
              <a:off x="5447" y="4954832"/>
              <a:ext cx="5311200" cy="2854800"/>
            </a:xfrm>
            <a:prstGeom prst="rect">
              <a:avLst/>
            </a:prstGeom>
            <a:solidFill>
              <a:srgbClr val="FBD0CE">
                <a:alpha val="89800"/>
              </a:srgbClr>
            </a:solidFill>
            <a:ln>
              <a:noFill/>
            </a:ln>
          </p:spPr>
          <p:txBody>
            <a:bodyPr anchorCtr="0" anchor="ctr" bIns="107625" lIns="107625" spcFirstLastPara="1" rIns="107625" wrap="square" tIns="107625">
              <a:noAutofit/>
            </a:bodyPr>
            <a:lstStyle/>
            <a:p>
              <a:pPr indent="0" lvl="0" marL="0" rtl="0" algn="l">
                <a:spcBef>
                  <a:spcPts val="0"/>
                </a:spcBef>
                <a:spcAft>
                  <a:spcPts val="0"/>
                </a:spcAft>
                <a:buNone/>
              </a:pPr>
              <a:r>
                <a:t/>
              </a:r>
              <a:endParaRPr/>
            </a:p>
          </p:txBody>
        </p:sp>
        <p:sp>
          <p:nvSpPr>
            <p:cNvPr id="633" name="Google Shape;633;g3a9b23b7472_2_0"/>
            <p:cNvSpPr txBox="1"/>
            <p:nvPr/>
          </p:nvSpPr>
          <p:spPr>
            <a:xfrm>
              <a:off x="5436" y="4954843"/>
              <a:ext cx="5311200" cy="3680700"/>
            </a:xfrm>
            <a:prstGeom prst="rect">
              <a:avLst/>
            </a:prstGeom>
            <a:solidFill>
              <a:srgbClr val="FCD0CE"/>
            </a:solidFill>
            <a:ln>
              <a:noFill/>
            </a:ln>
          </p:spPr>
          <p:txBody>
            <a:bodyPr anchorCtr="0" anchor="t" bIns="226025" lIns="150700" spcFirstLastPara="1" rIns="200925" wrap="square" tIns="150700">
              <a:noAutofit/>
            </a:bodyPr>
            <a:lstStyle/>
            <a:p>
              <a:pPr indent="-445392" lvl="0" marL="914400" marR="0" rtl="0" algn="just">
                <a:lnSpc>
                  <a:spcPct val="150000"/>
                </a:lnSpc>
                <a:spcBef>
                  <a:spcPts val="0"/>
                </a:spcBef>
                <a:spcAft>
                  <a:spcPts val="0"/>
                </a:spcAft>
                <a:buClr>
                  <a:srgbClr val="000000"/>
                </a:buClr>
                <a:buSzPts val="3414"/>
                <a:buFont typeface="Montserrat"/>
                <a:buAutoNum type="arabicPeriod"/>
              </a:pPr>
              <a:r>
                <a:rPr lang="en-US" sz="3414">
                  <a:latin typeface="Montserrat"/>
                  <a:ea typeface="Montserrat"/>
                  <a:cs typeface="Montserrat"/>
                  <a:sym typeface="Montserrat"/>
                </a:rPr>
                <a:t>Mở khung dữ liệu</a:t>
              </a:r>
              <a:endParaRPr sz="3414">
                <a:latin typeface="Montserrat"/>
                <a:ea typeface="Montserrat"/>
                <a:cs typeface="Montserrat"/>
                <a:sym typeface="Montserrat"/>
              </a:endParaRPr>
            </a:p>
            <a:p>
              <a:pPr indent="-445392" lvl="0" marL="914400" marR="0" rtl="0" algn="just">
                <a:lnSpc>
                  <a:spcPct val="150000"/>
                </a:lnSpc>
                <a:spcBef>
                  <a:spcPts val="0"/>
                </a:spcBef>
                <a:spcAft>
                  <a:spcPts val="0"/>
                </a:spcAft>
                <a:buSzPts val="3414"/>
                <a:buFont typeface="Montserrat"/>
                <a:buAutoNum type="arabicPeriod"/>
              </a:pPr>
              <a:r>
                <a:rPr lang="en-US" sz="3414">
                  <a:latin typeface="Montserrat"/>
                  <a:ea typeface="Montserrat"/>
                  <a:cs typeface="Montserrat"/>
                  <a:sym typeface="Montserrat"/>
                </a:rPr>
                <a:t>Xác định cấp cha</a:t>
              </a:r>
              <a:endParaRPr sz="3414">
                <a:latin typeface="Montserrat"/>
                <a:ea typeface="Montserrat"/>
                <a:cs typeface="Montserrat"/>
                <a:sym typeface="Montserrat"/>
              </a:endParaRPr>
            </a:p>
            <a:p>
              <a:pPr indent="-445392" lvl="0" marL="914400" marR="0" rtl="0" algn="just">
                <a:lnSpc>
                  <a:spcPct val="150000"/>
                </a:lnSpc>
                <a:spcBef>
                  <a:spcPts val="0"/>
                </a:spcBef>
                <a:spcAft>
                  <a:spcPts val="0"/>
                </a:spcAft>
                <a:buSzPts val="3414"/>
                <a:buFont typeface="Montserrat"/>
                <a:buAutoNum type="arabicPeriod"/>
              </a:pPr>
              <a:r>
                <a:rPr lang="en-US" sz="3414">
                  <a:latin typeface="Montserrat"/>
                  <a:ea typeface="Montserrat"/>
                  <a:cs typeface="Montserrat"/>
                  <a:sym typeface="Montserrat"/>
                </a:rPr>
                <a:t>Kéo thả</a:t>
              </a:r>
              <a:endParaRPr sz="3414">
                <a:latin typeface="Montserrat"/>
                <a:ea typeface="Montserrat"/>
                <a:cs typeface="Montserrat"/>
                <a:sym typeface="Montserrat"/>
              </a:endParaRPr>
            </a:p>
            <a:p>
              <a:pPr indent="-445392" lvl="0" marL="914400" marR="0" rtl="0" algn="just">
                <a:lnSpc>
                  <a:spcPct val="150000"/>
                </a:lnSpc>
                <a:spcBef>
                  <a:spcPts val="0"/>
                </a:spcBef>
                <a:spcAft>
                  <a:spcPts val="0"/>
                </a:spcAft>
                <a:buSzPts val="3414"/>
                <a:buFont typeface="Montserrat"/>
                <a:buAutoNum type="arabicPeriod"/>
              </a:pPr>
              <a:r>
                <a:rPr lang="en-US" sz="3414">
                  <a:latin typeface="Montserrat"/>
                  <a:ea typeface="Montserrat"/>
                  <a:cs typeface="Montserrat"/>
                  <a:sym typeface="Montserrat"/>
                </a:rPr>
                <a:t>Đổi tên</a:t>
              </a:r>
              <a:endParaRPr sz="3414">
                <a:latin typeface="Montserrat"/>
                <a:ea typeface="Montserrat"/>
                <a:cs typeface="Montserrat"/>
                <a:sym typeface="Montserrat"/>
              </a:endParaRPr>
            </a:p>
            <a:p>
              <a:pPr indent="-445392" lvl="0" marL="914400" marR="0" rtl="0" algn="just">
                <a:lnSpc>
                  <a:spcPct val="150000"/>
                </a:lnSpc>
                <a:spcBef>
                  <a:spcPts val="0"/>
                </a:spcBef>
                <a:spcAft>
                  <a:spcPts val="0"/>
                </a:spcAft>
                <a:buSzPts val="3414"/>
                <a:buFont typeface="Montserrat"/>
                <a:buAutoNum type="arabicPeriod"/>
              </a:pPr>
              <a:r>
                <a:rPr lang="en-US" sz="3414">
                  <a:latin typeface="Montserrat"/>
                  <a:ea typeface="Montserrat"/>
                  <a:cs typeface="Montserrat"/>
                  <a:sym typeface="Montserrat"/>
                </a:rPr>
                <a:t>Thêm các cấp kế</a:t>
              </a:r>
              <a:endParaRPr sz="3414">
                <a:latin typeface="Montserrat"/>
                <a:ea typeface="Montserrat"/>
                <a:cs typeface="Montserrat"/>
                <a:sym typeface="Montserrat"/>
              </a:endParaRPr>
            </a:p>
          </p:txBody>
        </p:sp>
        <p:sp>
          <p:nvSpPr>
            <p:cNvPr id="634" name="Google Shape;634;g3a9b23b7472_2_0"/>
            <p:cNvSpPr/>
            <p:nvPr/>
          </p:nvSpPr>
          <p:spPr>
            <a:xfrm>
              <a:off x="6060127" y="3101360"/>
              <a:ext cx="5311200" cy="1872000"/>
            </a:xfrm>
            <a:prstGeom prst="rect">
              <a:avLst/>
            </a:prstGeom>
            <a:solidFill>
              <a:schemeClr val="dk2"/>
            </a:solidFill>
            <a:ln>
              <a:noFill/>
            </a:ln>
          </p:spPr>
          <p:txBody>
            <a:bodyPr anchorCtr="0" anchor="ctr" bIns="107625" lIns="107625" spcFirstLastPara="1" rIns="107625" wrap="square" tIns="107625">
              <a:noAutofit/>
            </a:bodyPr>
            <a:lstStyle/>
            <a:p>
              <a:pPr indent="0" lvl="0" marL="0" rtl="0" algn="l">
                <a:spcBef>
                  <a:spcPts val="0"/>
                </a:spcBef>
                <a:spcAft>
                  <a:spcPts val="0"/>
                </a:spcAft>
                <a:buNone/>
              </a:pPr>
              <a:r>
                <a:t/>
              </a:r>
              <a:endParaRPr sz="1648"/>
            </a:p>
          </p:txBody>
        </p:sp>
        <p:sp>
          <p:nvSpPr>
            <p:cNvPr id="635" name="Google Shape;635;g3a9b23b7472_2_0"/>
            <p:cNvSpPr txBox="1"/>
            <p:nvPr/>
          </p:nvSpPr>
          <p:spPr>
            <a:xfrm>
              <a:off x="6060127" y="3101360"/>
              <a:ext cx="5311200" cy="1872000"/>
            </a:xfrm>
            <a:prstGeom prst="rect">
              <a:avLst/>
            </a:prstGeom>
            <a:noFill/>
            <a:ln>
              <a:noFill/>
            </a:ln>
          </p:spPr>
          <p:txBody>
            <a:bodyPr anchorCtr="0" anchor="ctr" bIns="172225" lIns="301400" spcFirstLastPara="1" rIns="301400" wrap="square" tIns="172225">
              <a:noAutofit/>
            </a:bodyPr>
            <a:lstStyle/>
            <a:p>
              <a:pPr indent="0" lvl="0" marL="0" marR="0" rtl="0" algn="ctr">
                <a:lnSpc>
                  <a:spcPct val="90000"/>
                </a:lnSpc>
                <a:spcBef>
                  <a:spcPts val="0"/>
                </a:spcBef>
                <a:spcAft>
                  <a:spcPts val="0"/>
                </a:spcAft>
                <a:buClr>
                  <a:srgbClr val="000000"/>
                </a:buClr>
                <a:buSzPts val="4238"/>
                <a:buFont typeface="Arial"/>
                <a:buNone/>
              </a:pPr>
              <a:r>
                <a:rPr b="1" lang="en-US" sz="4238">
                  <a:solidFill>
                    <a:schemeClr val="lt1"/>
                  </a:solidFill>
                  <a:latin typeface="Montserrat"/>
                  <a:ea typeface="Montserrat"/>
                  <a:cs typeface="Montserrat"/>
                  <a:sym typeface="Montserrat"/>
                </a:rPr>
                <a:t>Dùng Menu Context</a:t>
              </a:r>
              <a:endParaRPr b="1" i="0" sz="4238" u="none" cap="none" strike="noStrike">
                <a:solidFill>
                  <a:schemeClr val="lt1"/>
                </a:solidFill>
                <a:latin typeface="Montserrat"/>
                <a:ea typeface="Montserrat"/>
                <a:cs typeface="Montserrat"/>
                <a:sym typeface="Montserrat"/>
              </a:endParaRPr>
            </a:p>
          </p:txBody>
        </p:sp>
        <p:sp>
          <p:nvSpPr>
            <p:cNvPr id="636" name="Google Shape;636;g3a9b23b7472_2_0"/>
            <p:cNvSpPr/>
            <p:nvPr/>
          </p:nvSpPr>
          <p:spPr>
            <a:xfrm>
              <a:off x="6060127" y="4954832"/>
              <a:ext cx="5311200" cy="2854800"/>
            </a:xfrm>
            <a:prstGeom prst="rect">
              <a:avLst/>
            </a:prstGeom>
            <a:solidFill>
              <a:srgbClr val="D6DDF0">
                <a:alpha val="89800"/>
              </a:srgbClr>
            </a:solidFill>
            <a:ln>
              <a:noFill/>
            </a:ln>
          </p:spPr>
          <p:txBody>
            <a:bodyPr anchorCtr="0" anchor="ctr" bIns="107625" lIns="107625" spcFirstLastPara="1" rIns="107625" wrap="square" tIns="107625">
              <a:noAutofit/>
            </a:bodyPr>
            <a:lstStyle/>
            <a:p>
              <a:pPr indent="0" lvl="0" marL="0" rtl="0" algn="l">
                <a:spcBef>
                  <a:spcPts val="0"/>
                </a:spcBef>
                <a:spcAft>
                  <a:spcPts val="0"/>
                </a:spcAft>
                <a:buNone/>
              </a:pPr>
              <a:r>
                <a:t/>
              </a:r>
              <a:endParaRPr/>
            </a:p>
          </p:txBody>
        </p:sp>
        <p:sp>
          <p:nvSpPr>
            <p:cNvPr id="637" name="Google Shape;637;g3a9b23b7472_2_0"/>
            <p:cNvSpPr txBox="1"/>
            <p:nvPr/>
          </p:nvSpPr>
          <p:spPr>
            <a:xfrm>
              <a:off x="6060136" y="4954842"/>
              <a:ext cx="5311200" cy="3680700"/>
            </a:xfrm>
            <a:prstGeom prst="rect">
              <a:avLst/>
            </a:prstGeom>
            <a:solidFill>
              <a:srgbClr val="D6DDF0"/>
            </a:solidFill>
            <a:ln>
              <a:noFill/>
            </a:ln>
          </p:spPr>
          <p:txBody>
            <a:bodyPr anchorCtr="0" anchor="t" bIns="226025" lIns="150700" spcFirstLastPara="1" rIns="200925" wrap="square" tIns="150700">
              <a:noAutofit/>
            </a:bodyPr>
            <a:lstStyle/>
            <a:p>
              <a:pPr indent="-452867" lvl="0" marL="914400" marR="0" rtl="0" algn="l">
                <a:lnSpc>
                  <a:spcPct val="150000"/>
                </a:lnSpc>
                <a:spcBef>
                  <a:spcPts val="0"/>
                </a:spcBef>
                <a:spcAft>
                  <a:spcPts val="0"/>
                </a:spcAft>
                <a:buSzPts val="3532"/>
                <a:buFont typeface="Montserrat"/>
                <a:buAutoNum type="arabicPeriod"/>
              </a:pPr>
              <a:r>
                <a:rPr lang="en-US" sz="3531">
                  <a:latin typeface="Montserrat"/>
                  <a:ea typeface="Montserrat"/>
                  <a:cs typeface="Montserrat"/>
                  <a:sym typeface="Montserrat"/>
                </a:rPr>
                <a:t>Tạo phân cấp gốc</a:t>
              </a:r>
              <a:endParaRPr sz="3531">
                <a:latin typeface="Montserrat"/>
                <a:ea typeface="Montserrat"/>
                <a:cs typeface="Montserrat"/>
                <a:sym typeface="Montserrat"/>
              </a:endParaRPr>
            </a:p>
            <a:p>
              <a:pPr indent="-452867" lvl="0" marL="914400" marR="0" rtl="0" algn="l">
                <a:lnSpc>
                  <a:spcPct val="150000"/>
                </a:lnSpc>
                <a:spcBef>
                  <a:spcPts val="0"/>
                </a:spcBef>
                <a:spcAft>
                  <a:spcPts val="0"/>
                </a:spcAft>
                <a:buSzPts val="3532"/>
                <a:buFont typeface="Montserrat"/>
                <a:buAutoNum type="arabicPeriod"/>
              </a:pPr>
              <a:r>
                <a:rPr lang="en-US" sz="3531">
                  <a:latin typeface="Montserrat"/>
                  <a:ea typeface="Montserrat"/>
                  <a:cs typeface="Montserrat"/>
                  <a:sym typeface="Montserrat"/>
                </a:rPr>
                <a:t>Thêm cấp con</a:t>
              </a:r>
              <a:endParaRPr sz="3531">
                <a:latin typeface="Montserrat"/>
                <a:ea typeface="Montserrat"/>
                <a:cs typeface="Montserrat"/>
                <a:sym typeface="Montserrat"/>
              </a:endParaRPr>
            </a:p>
            <a:p>
              <a:pPr indent="-452867" lvl="0" marL="914400" marR="0" rtl="0" algn="l">
                <a:lnSpc>
                  <a:spcPct val="150000"/>
                </a:lnSpc>
                <a:spcBef>
                  <a:spcPts val="0"/>
                </a:spcBef>
                <a:spcAft>
                  <a:spcPts val="0"/>
                </a:spcAft>
                <a:buSzPts val="3532"/>
                <a:buFont typeface="Montserrat"/>
                <a:buAutoNum type="arabicPeriod"/>
              </a:pPr>
              <a:r>
                <a:rPr lang="en-US" sz="3531">
                  <a:latin typeface="Montserrat"/>
                  <a:ea typeface="Montserrat"/>
                  <a:cs typeface="Montserrat"/>
                  <a:sym typeface="Montserrat"/>
                </a:rPr>
                <a:t>Sắp xếp</a:t>
              </a:r>
              <a:endParaRPr sz="3531">
                <a:latin typeface="Montserrat"/>
                <a:ea typeface="Montserrat"/>
                <a:cs typeface="Montserrat"/>
                <a:sym typeface="Montserra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22"/>
                                        </p:tgtEl>
                                        <p:attrNameLst>
                                          <p:attrName>style.visibility</p:attrName>
                                        </p:attrNameLst>
                                      </p:cBhvr>
                                      <p:to>
                                        <p:strVal val="visible"/>
                                      </p:to>
                                    </p:set>
                                    <p:anim calcmode="lin" valueType="num">
                                      <p:cBhvr additive="base">
                                        <p:cTn dur="500"/>
                                        <p:tgtEl>
                                          <p:spTgt spid="622"/>
                                        </p:tgtEl>
                                        <p:attrNameLst>
                                          <p:attrName>ppt_w</p:attrName>
                                        </p:attrNameLst>
                                      </p:cBhvr>
                                      <p:tavLst>
                                        <p:tav fmla="" tm="0">
                                          <p:val>
                                            <p:strVal val="0"/>
                                          </p:val>
                                        </p:tav>
                                        <p:tav fmla="" tm="100000">
                                          <p:val>
                                            <p:strVal val="#ppt_w"/>
                                          </p:val>
                                        </p:tav>
                                      </p:tavLst>
                                    </p:anim>
                                    <p:anim calcmode="lin" valueType="num">
                                      <p:cBhvr additive="base">
                                        <p:cTn dur="500"/>
                                        <p:tgtEl>
                                          <p:spTgt spid="62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grpSp>
        <p:nvGrpSpPr>
          <p:cNvPr id="642" name="Google Shape;642;g3a97f3d028b_0_5"/>
          <p:cNvGrpSpPr/>
          <p:nvPr/>
        </p:nvGrpSpPr>
        <p:grpSpPr>
          <a:xfrm>
            <a:off x="8696112" y="8188625"/>
            <a:ext cx="9591806" cy="2098356"/>
            <a:chOff x="0" y="-38100"/>
            <a:chExt cx="3214520" cy="703226"/>
          </a:xfrm>
        </p:grpSpPr>
        <p:sp>
          <p:nvSpPr>
            <p:cNvPr id="643" name="Google Shape;643;g3a97f3d028b_0_5"/>
            <p:cNvSpPr/>
            <p:nvPr/>
          </p:nvSpPr>
          <p:spPr>
            <a:xfrm>
              <a:off x="0" y="0"/>
              <a:ext cx="3214520" cy="665126"/>
            </a:xfrm>
            <a:custGeom>
              <a:rect b="b" l="l" r="r" t="t"/>
              <a:pathLst>
                <a:path extrusionOk="0" h="665126" w="3214520">
                  <a:moveTo>
                    <a:pt x="0" y="0"/>
                  </a:moveTo>
                  <a:lnTo>
                    <a:pt x="3214520" y="0"/>
                  </a:lnTo>
                  <a:lnTo>
                    <a:pt x="3214520" y="665126"/>
                  </a:lnTo>
                  <a:lnTo>
                    <a:pt x="0" y="665126"/>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g3a97f3d028b_0_5"/>
            <p:cNvSpPr txBox="1"/>
            <p:nvPr/>
          </p:nvSpPr>
          <p:spPr>
            <a:xfrm>
              <a:off x="0" y="-38100"/>
              <a:ext cx="3214500" cy="7032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645" name="Google Shape;645;g3a97f3d028b_0_5"/>
          <p:cNvPicPr preferRelativeResize="0"/>
          <p:nvPr/>
        </p:nvPicPr>
        <p:blipFill rotWithShape="1">
          <a:blip r:embed="rId3">
            <a:alphaModFix/>
          </a:blip>
          <a:srcRect b="0" l="0" r="0" t="0"/>
          <a:stretch/>
        </p:blipFill>
        <p:spPr>
          <a:xfrm>
            <a:off x="5908247" y="9331625"/>
            <a:ext cx="7333203" cy="452225"/>
          </a:xfrm>
          <a:prstGeom prst="rect">
            <a:avLst/>
          </a:prstGeom>
          <a:noFill/>
          <a:ln>
            <a:noFill/>
          </a:ln>
        </p:spPr>
      </p:pic>
      <p:grpSp>
        <p:nvGrpSpPr>
          <p:cNvPr id="646" name="Google Shape;646;g3a97f3d028b_0_5"/>
          <p:cNvGrpSpPr/>
          <p:nvPr/>
        </p:nvGrpSpPr>
        <p:grpSpPr>
          <a:xfrm>
            <a:off x="0" y="-113687"/>
            <a:ext cx="4724973" cy="1142377"/>
            <a:chOff x="0" y="-38100"/>
            <a:chExt cx="1583489" cy="382847"/>
          </a:xfrm>
        </p:grpSpPr>
        <p:sp>
          <p:nvSpPr>
            <p:cNvPr id="647" name="Google Shape;647;g3a97f3d028b_0_5"/>
            <p:cNvSpPr/>
            <p:nvPr/>
          </p:nvSpPr>
          <p:spPr>
            <a:xfrm>
              <a:off x="0" y="0"/>
              <a:ext cx="1583489" cy="344747"/>
            </a:xfrm>
            <a:custGeom>
              <a:rect b="b" l="l" r="r" t="t"/>
              <a:pathLst>
                <a:path extrusionOk="0" h="344747" w="1583489">
                  <a:moveTo>
                    <a:pt x="0" y="0"/>
                  </a:moveTo>
                  <a:lnTo>
                    <a:pt x="1583489" y="0"/>
                  </a:lnTo>
                  <a:lnTo>
                    <a:pt x="1583489" y="344747"/>
                  </a:lnTo>
                  <a:lnTo>
                    <a:pt x="0" y="344747"/>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g3a97f3d028b_0_5"/>
            <p:cNvSpPr txBox="1"/>
            <p:nvPr/>
          </p:nvSpPr>
          <p:spPr>
            <a:xfrm>
              <a:off x="0" y="-38100"/>
              <a:ext cx="1583400" cy="3828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49" name="Google Shape;649;g3a97f3d028b_0_5"/>
          <p:cNvGrpSpPr/>
          <p:nvPr/>
        </p:nvGrpSpPr>
        <p:grpSpPr>
          <a:xfrm>
            <a:off x="-249595" y="400663"/>
            <a:ext cx="5607345" cy="1108319"/>
            <a:chOff x="0" y="-38100"/>
            <a:chExt cx="1879200" cy="371433"/>
          </a:xfrm>
        </p:grpSpPr>
        <p:sp>
          <p:nvSpPr>
            <p:cNvPr id="650" name="Google Shape;650;g3a97f3d028b_0_5"/>
            <p:cNvSpPr/>
            <p:nvPr/>
          </p:nvSpPr>
          <p:spPr>
            <a:xfrm>
              <a:off x="0" y="0"/>
              <a:ext cx="1879128" cy="333333"/>
            </a:xfrm>
            <a:custGeom>
              <a:rect b="b" l="l" r="r" t="t"/>
              <a:pathLst>
                <a:path extrusionOk="0" h="333333" w="1879128">
                  <a:moveTo>
                    <a:pt x="0" y="0"/>
                  </a:moveTo>
                  <a:lnTo>
                    <a:pt x="1879128" y="0"/>
                  </a:lnTo>
                  <a:lnTo>
                    <a:pt x="1879128" y="333333"/>
                  </a:lnTo>
                  <a:lnTo>
                    <a:pt x="0" y="333333"/>
                  </a:lnTo>
                  <a:close/>
                </a:path>
              </a:pathLst>
            </a:custGeom>
            <a:solidFill>
              <a:srgbClr val="000000">
                <a:alpha val="0"/>
              </a:srgbClr>
            </a:solidFill>
            <a:ln cap="sq" cmpd="sng" w="38100">
              <a:solidFill>
                <a:srgbClr val="3E5BB2"/>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g3a97f3d028b_0_5"/>
            <p:cNvSpPr txBox="1"/>
            <p:nvPr/>
          </p:nvSpPr>
          <p:spPr>
            <a:xfrm>
              <a:off x="0" y="-38100"/>
              <a:ext cx="1879200" cy="371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652" name="Google Shape;652;g3a97f3d028b_0_5"/>
          <p:cNvSpPr txBox="1"/>
          <p:nvPr/>
        </p:nvSpPr>
        <p:spPr>
          <a:xfrm>
            <a:off x="6884052" y="4175900"/>
            <a:ext cx="11403900" cy="332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800"/>
              <a:buFont typeface="Arial"/>
              <a:buNone/>
            </a:pPr>
            <a:r>
              <a:rPr b="1" lang="en-US" sz="7200">
                <a:solidFill>
                  <a:schemeClr val="accent5"/>
                </a:solidFill>
                <a:latin typeface="Montserrat"/>
                <a:ea typeface="Montserrat"/>
                <a:cs typeface="Montserrat"/>
                <a:sym typeface="Montserrat"/>
              </a:rPr>
              <a:t>Xây dựng dashboard PBI và phân tích bài toán</a:t>
            </a:r>
            <a:endParaRPr b="0" i="0" sz="7200" u="none" cap="none" strike="noStrike">
              <a:solidFill>
                <a:schemeClr val="accent5"/>
              </a:solidFill>
              <a:latin typeface="Arial"/>
              <a:ea typeface="Arial"/>
              <a:cs typeface="Arial"/>
              <a:sym typeface="Arial"/>
            </a:endParaRPr>
          </a:p>
        </p:txBody>
      </p:sp>
      <p:sp>
        <p:nvSpPr>
          <p:cNvPr id="653" name="Google Shape;653;g3a97f3d028b_0_5"/>
          <p:cNvSpPr txBox="1"/>
          <p:nvPr/>
        </p:nvSpPr>
        <p:spPr>
          <a:xfrm>
            <a:off x="883875" y="1622675"/>
            <a:ext cx="5607300" cy="4617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30000"/>
              <a:buFont typeface="Arial"/>
              <a:buNone/>
            </a:pPr>
            <a:r>
              <a:rPr b="1" lang="en-US" sz="30000">
                <a:solidFill>
                  <a:schemeClr val="accent5"/>
                </a:solidFill>
                <a:latin typeface="Montserrat"/>
                <a:ea typeface="Montserrat"/>
                <a:cs typeface="Montserrat"/>
                <a:sym typeface="Montserrat"/>
              </a:rPr>
              <a:t>04</a:t>
            </a:r>
            <a:endParaRPr b="0" i="0" sz="3200" u="none" cap="none" strike="noStrike">
              <a:solidFill>
                <a:schemeClr val="accent5"/>
              </a:solidFill>
              <a:latin typeface="Arial"/>
              <a:ea typeface="Arial"/>
              <a:cs typeface="Arial"/>
              <a:sym typeface="Arial"/>
            </a:endParaRPr>
          </a:p>
        </p:txBody>
      </p:sp>
      <p:pic>
        <p:nvPicPr>
          <p:cNvPr id="654" name="Google Shape;654;g3a97f3d028b_0_5"/>
          <p:cNvPicPr preferRelativeResize="0"/>
          <p:nvPr/>
        </p:nvPicPr>
        <p:blipFill rotWithShape="1">
          <a:blip r:embed="rId4">
            <a:alphaModFix/>
          </a:blip>
          <a:srcRect b="0" l="0" r="0" t="0"/>
          <a:stretch/>
        </p:blipFill>
        <p:spPr>
          <a:xfrm>
            <a:off x="16087004" y="1028708"/>
            <a:ext cx="761350" cy="700442"/>
          </a:xfrm>
          <a:prstGeom prst="rect">
            <a:avLst/>
          </a:prstGeom>
          <a:noFill/>
          <a:ln>
            <a:noFill/>
          </a:ln>
        </p:spPr>
      </p:pic>
      <p:pic>
        <p:nvPicPr>
          <p:cNvPr id="655" name="Google Shape;655;g3a97f3d028b_0_5"/>
          <p:cNvPicPr preferRelativeResize="0"/>
          <p:nvPr/>
        </p:nvPicPr>
        <p:blipFill rotWithShape="1">
          <a:blip r:embed="rId5">
            <a:alphaModFix/>
          </a:blip>
          <a:srcRect b="0" l="0" r="0" t="0"/>
          <a:stretch/>
        </p:blipFill>
        <p:spPr>
          <a:xfrm flipH="1">
            <a:off x="819150" y="524365"/>
            <a:ext cx="423675" cy="2905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g3a97f3d028b_0_0"/>
          <p:cNvSpPr txBox="1"/>
          <p:nvPr>
            <p:ph type="title"/>
          </p:nvPr>
        </p:nvSpPr>
        <p:spPr>
          <a:xfrm>
            <a:off x="1523700" y="1133525"/>
            <a:ext cx="15240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sz="7000">
                <a:solidFill>
                  <a:schemeClr val="dk2"/>
                </a:solidFill>
              </a:rPr>
              <a:t>Kịch bản 1: PHÂN BỔ DOANH THU THEO DANH MỤC</a:t>
            </a:r>
            <a:r>
              <a:rPr lang="en-US" sz="7000">
                <a:solidFill>
                  <a:schemeClr val="dk2"/>
                </a:solidFill>
              </a:rPr>
              <a:t> </a:t>
            </a:r>
            <a:endParaRPr sz="7000">
              <a:solidFill>
                <a:schemeClr val="dk2"/>
              </a:solidFill>
            </a:endParaRPr>
          </a:p>
        </p:txBody>
      </p:sp>
      <p:pic>
        <p:nvPicPr>
          <p:cNvPr id="661" name="Google Shape;661;g3a97f3d028b_0_0"/>
          <p:cNvPicPr preferRelativeResize="0"/>
          <p:nvPr/>
        </p:nvPicPr>
        <p:blipFill>
          <a:blip r:embed="rId3">
            <a:alphaModFix/>
          </a:blip>
          <a:stretch>
            <a:fillRect/>
          </a:stretch>
        </p:blipFill>
        <p:spPr>
          <a:xfrm>
            <a:off x="3674125" y="2937375"/>
            <a:ext cx="11169226" cy="59426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a97f3d028b_0_25"/>
          <p:cNvSpPr txBox="1"/>
          <p:nvPr>
            <p:ph idx="1" type="body"/>
          </p:nvPr>
        </p:nvSpPr>
        <p:spPr>
          <a:xfrm>
            <a:off x="1310038" y="3002538"/>
            <a:ext cx="5486400" cy="804900"/>
          </a:xfrm>
          <a:prstGeom prst="rect">
            <a:avLst/>
          </a:prstGeom>
        </p:spPr>
        <p:txBody>
          <a:bodyPr anchorCtr="0" anchor="t" bIns="45700" lIns="91425" spcFirstLastPara="1" rIns="91425" wrap="square" tIns="45700">
            <a:noAutofit/>
          </a:bodyPr>
          <a:lstStyle/>
          <a:p>
            <a:pPr indent="0" lvl="0" marL="0" rtl="0" algn="l">
              <a:spcBef>
                <a:spcPts val="280"/>
              </a:spcBef>
              <a:spcAft>
                <a:spcPts val="0"/>
              </a:spcAft>
              <a:buNone/>
            </a:pPr>
            <a:r>
              <a:rPr b="1" lang="en-US" sz="3000">
                <a:latin typeface="Arial"/>
                <a:ea typeface="Arial"/>
                <a:cs typeface="Arial"/>
                <a:sym typeface="Arial"/>
              </a:rPr>
              <a:t>Loại biểu đồ:</a:t>
            </a:r>
            <a:r>
              <a:rPr lang="en-US" sz="3000">
                <a:latin typeface="Arial"/>
                <a:ea typeface="Arial"/>
                <a:cs typeface="Arial"/>
                <a:sym typeface="Arial"/>
              </a:rPr>
              <a:t> Donut Chart</a:t>
            </a:r>
            <a:endParaRPr sz="3000">
              <a:latin typeface="Arial"/>
              <a:ea typeface="Arial"/>
              <a:cs typeface="Arial"/>
              <a:sym typeface="Arial"/>
            </a:endParaRPr>
          </a:p>
          <a:p>
            <a:pPr indent="0" lvl="0" marL="0" rtl="0" algn="l">
              <a:spcBef>
                <a:spcPts val="280"/>
              </a:spcBef>
              <a:spcAft>
                <a:spcPts val="0"/>
              </a:spcAft>
              <a:buClr>
                <a:schemeClr val="dk1"/>
              </a:buClr>
              <a:buSzPts val="1100"/>
              <a:buFont typeface="Arial"/>
              <a:buNone/>
            </a:pPr>
            <a:r>
              <a:rPr b="1" lang="en-US" sz="3000">
                <a:latin typeface="Arial"/>
                <a:ea typeface="Arial"/>
                <a:cs typeface="Arial"/>
                <a:sym typeface="Arial"/>
              </a:rPr>
              <a:t>Nguồn dữ liệu (Data Source):</a:t>
            </a:r>
            <a:endParaRPr b="1" sz="3000">
              <a:latin typeface="Arial"/>
              <a:ea typeface="Arial"/>
              <a:cs typeface="Arial"/>
              <a:sym typeface="Arial"/>
            </a:endParaRPr>
          </a:p>
          <a:p>
            <a:pPr indent="-419100" lvl="0" marL="457200" rtl="0" algn="l">
              <a:lnSpc>
                <a:spcPct val="115000"/>
              </a:lnSpc>
              <a:spcBef>
                <a:spcPts val="1200"/>
              </a:spcBef>
              <a:spcAft>
                <a:spcPts val="0"/>
              </a:spcAft>
              <a:buSzPts val="3000"/>
              <a:buFont typeface="Arial"/>
              <a:buChar char="●"/>
            </a:pPr>
            <a:r>
              <a:rPr b="1" lang="en-US" sz="3000">
                <a:latin typeface="Arial"/>
                <a:ea typeface="Arial"/>
                <a:cs typeface="Arial"/>
                <a:sym typeface="Arial"/>
              </a:rPr>
              <a:t>Legend (Chú giải):</a:t>
            </a:r>
            <a:r>
              <a:rPr lang="en-US" sz="3000">
                <a:latin typeface="Arial"/>
                <a:ea typeface="Arial"/>
                <a:cs typeface="Arial"/>
                <a:sym typeface="Arial"/>
              </a:rPr>
              <a:t> Trường </a:t>
            </a:r>
            <a:r>
              <a:rPr lang="en-US" sz="3000">
                <a:solidFill>
                  <a:srgbClr val="188038"/>
                </a:solidFill>
                <a:latin typeface="Roboto Mono"/>
                <a:ea typeface="Roboto Mono"/>
                <a:cs typeface="Roboto Mono"/>
                <a:sym typeface="Roboto Mono"/>
              </a:rPr>
              <a:t>Category</a:t>
            </a:r>
            <a:r>
              <a:rPr lang="en-US" sz="3000">
                <a:latin typeface="Arial"/>
                <a:ea typeface="Arial"/>
                <a:cs typeface="Arial"/>
                <a:sym typeface="Arial"/>
              </a:rPr>
              <a:t> </a:t>
            </a:r>
            <a:endParaRPr sz="3000">
              <a:latin typeface="Arial"/>
              <a:ea typeface="Arial"/>
              <a:cs typeface="Arial"/>
              <a:sym typeface="Arial"/>
            </a:endParaRPr>
          </a:p>
          <a:p>
            <a:pPr indent="-419100" lvl="0" marL="457200" rtl="0" algn="l">
              <a:lnSpc>
                <a:spcPct val="115000"/>
              </a:lnSpc>
              <a:spcBef>
                <a:spcPts val="0"/>
              </a:spcBef>
              <a:spcAft>
                <a:spcPts val="0"/>
              </a:spcAft>
              <a:buSzPts val="3000"/>
              <a:buFont typeface="Arial"/>
              <a:buChar char="●"/>
            </a:pPr>
            <a:r>
              <a:rPr b="1" lang="en-US" sz="3000">
                <a:latin typeface="Arial"/>
                <a:ea typeface="Arial"/>
                <a:cs typeface="Arial"/>
                <a:sym typeface="Arial"/>
              </a:rPr>
              <a:t>Values (Giá trị):</a:t>
            </a:r>
            <a:r>
              <a:rPr lang="en-US" sz="3000">
                <a:latin typeface="Arial"/>
                <a:ea typeface="Arial"/>
                <a:cs typeface="Arial"/>
                <a:sym typeface="Arial"/>
              </a:rPr>
              <a:t> Trường </a:t>
            </a:r>
            <a:r>
              <a:rPr lang="en-US" sz="3000">
                <a:solidFill>
                  <a:srgbClr val="188038"/>
                </a:solidFill>
                <a:latin typeface="Roboto Mono"/>
                <a:ea typeface="Roboto Mono"/>
                <a:cs typeface="Roboto Mono"/>
                <a:sym typeface="Roboto Mono"/>
              </a:rPr>
              <a:t>Sum of Sales</a:t>
            </a:r>
            <a:r>
              <a:rPr lang="en-US" sz="3000">
                <a:latin typeface="Arial"/>
                <a:ea typeface="Arial"/>
                <a:cs typeface="Arial"/>
                <a:sym typeface="Arial"/>
              </a:rPr>
              <a:t> </a:t>
            </a:r>
            <a:endParaRPr sz="3000">
              <a:latin typeface="Arial"/>
              <a:ea typeface="Arial"/>
              <a:cs typeface="Arial"/>
              <a:sym typeface="Arial"/>
            </a:endParaRPr>
          </a:p>
          <a:p>
            <a:pPr indent="0" lvl="0" marL="0" rtl="0" algn="l">
              <a:lnSpc>
                <a:spcPct val="115000"/>
              </a:lnSpc>
              <a:spcBef>
                <a:spcPts val="1200"/>
              </a:spcBef>
              <a:spcAft>
                <a:spcPts val="0"/>
              </a:spcAft>
              <a:buNone/>
            </a:pPr>
            <a:r>
              <a:rPr b="1" lang="en-US" sz="3000">
                <a:latin typeface="Arial"/>
                <a:ea typeface="Arial"/>
                <a:cs typeface="Arial"/>
                <a:sym typeface="Arial"/>
              </a:rPr>
              <a:t>KPI: </a:t>
            </a:r>
            <a:r>
              <a:rPr lang="en-US" sz="3000">
                <a:latin typeface="Arial"/>
                <a:ea typeface="Arial"/>
                <a:cs typeface="Arial"/>
                <a:sym typeface="Arial"/>
              </a:rPr>
              <a:t>Tỷ trọng phần trăm (%) doanh thu của từng nhóm hàng.</a:t>
            </a:r>
            <a:endParaRPr sz="3000">
              <a:latin typeface="Arial"/>
              <a:ea typeface="Arial"/>
              <a:cs typeface="Arial"/>
              <a:sym typeface="Arial"/>
            </a:endParaRPr>
          </a:p>
          <a:p>
            <a:pPr indent="0" lvl="0" marL="0" rtl="0" algn="l">
              <a:spcBef>
                <a:spcPts val="1200"/>
              </a:spcBef>
              <a:spcAft>
                <a:spcPts val="0"/>
              </a:spcAft>
              <a:buNone/>
            </a:pPr>
            <a:r>
              <a:t/>
            </a:r>
            <a:endParaRPr b="1" sz="3000">
              <a:latin typeface="Arial"/>
              <a:ea typeface="Arial"/>
              <a:cs typeface="Arial"/>
              <a:sym typeface="Arial"/>
            </a:endParaRPr>
          </a:p>
        </p:txBody>
      </p:sp>
      <p:sp>
        <p:nvSpPr>
          <p:cNvPr id="667" name="Google Shape;667;g3a97f3d028b_0_25"/>
          <p:cNvSpPr txBox="1"/>
          <p:nvPr>
            <p:ph type="title"/>
          </p:nvPr>
        </p:nvSpPr>
        <p:spPr>
          <a:xfrm>
            <a:off x="1523700" y="1133525"/>
            <a:ext cx="15240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US">
                <a:solidFill>
                  <a:schemeClr val="dk2"/>
                </a:solidFill>
              </a:rPr>
              <a:t>Cấu hình kỹ thuật</a:t>
            </a:r>
            <a:endParaRPr b="1">
              <a:solidFill>
                <a:schemeClr val="dk2"/>
              </a:solidFill>
            </a:endParaRPr>
          </a:p>
        </p:txBody>
      </p:sp>
      <p:pic>
        <p:nvPicPr>
          <p:cNvPr id="668" name="Google Shape;668;g3a97f3d028b_0_25"/>
          <p:cNvPicPr preferRelativeResize="0"/>
          <p:nvPr/>
        </p:nvPicPr>
        <p:blipFill>
          <a:blip r:embed="rId3">
            <a:alphaModFix/>
          </a:blip>
          <a:stretch>
            <a:fillRect/>
          </a:stretch>
        </p:blipFill>
        <p:spPr>
          <a:xfrm>
            <a:off x="8112675" y="3002550"/>
            <a:ext cx="9968550" cy="53037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a97f3d028b_0_41"/>
          <p:cNvSpPr txBox="1"/>
          <p:nvPr>
            <p:ph idx="1" type="body"/>
          </p:nvPr>
        </p:nvSpPr>
        <p:spPr>
          <a:xfrm>
            <a:off x="404803" y="3002550"/>
            <a:ext cx="6749400" cy="804900"/>
          </a:xfrm>
          <a:prstGeom prst="rect">
            <a:avLst/>
          </a:prstGeom>
        </p:spPr>
        <p:txBody>
          <a:bodyPr anchorCtr="0" anchor="t" bIns="45700" lIns="91425" spcFirstLastPara="1" rIns="91425" wrap="square" tIns="45700">
            <a:noAutofit/>
          </a:bodyPr>
          <a:lstStyle/>
          <a:p>
            <a:pPr indent="0" lvl="0" marL="0" rtl="0" algn="l">
              <a:spcBef>
                <a:spcPts val="280"/>
              </a:spcBef>
              <a:spcAft>
                <a:spcPts val="0"/>
              </a:spcAft>
              <a:buNone/>
            </a:pPr>
            <a:r>
              <a:rPr b="1" lang="en-US" sz="3000">
                <a:solidFill>
                  <a:srgbClr val="4A86E8"/>
                </a:solidFill>
                <a:latin typeface="Arial"/>
                <a:ea typeface="Arial"/>
                <a:cs typeface="Arial"/>
                <a:sym typeface="Arial"/>
              </a:rPr>
              <a:t>Xác định nhóm chủ lực (Cash Cow):</a:t>
            </a:r>
            <a:r>
              <a:rPr lang="en-US" sz="3000">
                <a:latin typeface="Arial"/>
                <a:ea typeface="Arial"/>
                <a:cs typeface="Arial"/>
                <a:sym typeface="Arial"/>
              </a:rPr>
              <a:t> Nhóm Furniture chiếm tỷ trọng lớn nhất là </a:t>
            </a:r>
            <a:r>
              <a:rPr b="1" lang="en-US" sz="3000">
                <a:latin typeface="Arial"/>
                <a:ea typeface="Arial"/>
                <a:cs typeface="Arial"/>
                <a:sym typeface="Arial"/>
              </a:rPr>
              <a:t>39.19%</a:t>
            </a:r>
            <a:r>
              <a:rPr lang="en-US" sz="3000">
                <a:latin typeface="Arial"/>
                <a:ea typeface="Arial"/>
                <a:cs typeface="Arial"/>
                <a:sym typeface="Arial"/>
              </a:rPr>
              <a:t>.</a:t>
            </a:r>
            <a:endParaRPr sz="3000">
              <a:latin typeface="Arial"/>
              <a:ea typeface="Arial"/>
              <a:cs typeface="Arial"/>
              <a:sym typeface="Arial"/>
            </a:endParaRPr>
          </a:p>
          <a:p>
            <a:pPr indent="0" lvl="0" marL="0" rtl="0" algn="l">
              <a:spcBef>
                <a:spcPts val="280"/>
              </a:spcBef>
              <a:spcAft>
                <a:spcPts val="0"/>
              </a:spcAft>
              <a:buNone/>
            </a:pPr>
            <a:r>
              <a:rPr b="1" lang="en-US" sz="3000">
                <a:solidFill>
                  <a:schemeClr val="accent2"/>
                </a:solidFill>
                <a:latin typeface="Arial"/>
                <a:ea typeface="Arial"/>
                <a:cs typeface="Arial"/>
                <a:sym typeface="Arial"/>
              </a:rPr>
              <a:t>Sự cân bằng của các danh mục:</a:t>
            </a:r>
            <a:r>
              <a:rPr b="1" lang="en-US" sz="3000">
                <a:latin typeface="Arial"/>
                <a:ea typeface="Arial"/>
                <a:cs typeface="Arial"/>
                <a:sym typeface="Arial"/>
              </a:rPr>
              <a:t> </a:t>
            </a:r>
            <a:r>
              <a:rPr lang="en-US" sz="3000">
                <a:latin typeface="Arial"/>
                <a:ea typeface="Arial"/>
                <a:cs typeface="Arial"/>
                <a:sym typeface="Arial"/>
              </a:rPr>
              <a:t> Không có nhóm nào quá thấp dưới 10%, </a:t>
            </a:r>
            <a:endParaRPr sz="3000">
              <a:latin typeface="Arial"/>
              <a:ea typeface="Arial"/>
              <a:cs typeface="Arial"/>
              <a:sym typeface="Arial"/>
            </a:endParaRPr>
          </a:p>
          <a:p>
            <a:pPr indent="0" lvl="0" marL="0" rtl="0" algn="l">
              <a:spcBef>
                <a:spcPts val="280"/>
              </a:spcBef>
              <a:spcAft>
                <a:spcPts val="0"/>
              </a:spcAft>
              <a:buNone/>
            </a:pPr>
            <a:r>
              <a:rPr b="1" lang="en-US" sz="3000">
                <a:solidFill>
                  <a:srgbClr val="38761D"/>
                </a:solidFill>
                <a:latin typeface="Arial"/>
                <a:ea typeface="Arial"/>
                <a:cs typeface="Arial"/>
                <a:sym typeface="Arial"/>
              </a:rPr>
              <a:t>Hành động:</a:t>
            </a:r>
            <a:endParaRPr b="1" sz="3000">
              <a:solidFill>
                <a:srgbClr val="38761D"/>
              </a:solidFill>
              <a:latin typeface="Arial"/>
              <a:ea typeface="Arial"/>
              <a:cs typeface="Arial"/>
              <a:sym typeface="Arial"/>
            </a:endParaRPr>
          </a:p>
          <a:p>
            <a:pPr indent="-419100" lvl="0" marL="457200" rtl="0" algn="l">
              <a:lnSpc>
                <a:spcPct val="115000"/>
              </a:lnSpc>
              <a:spcBef>
                <a:spcPts val="1200"/>
              </a:spcBef>
              <a:spcAft>
                <a:spcPts val="0"/>
              </a:spcAft>
              <a:buSzPts val="3000"/>
              <a:buFont typeface="Arial"/>
              <a:buChar char="●"/>
            </a:pPr>
            <a:r>
              <a:rPr lang="en-US" sz="3000">
                <a:latin typeface="Arial"/>
                <a:ea typeface="Arial"/>
                <a:cs typeface="Arial"/>
                <a:sym typeface="Arial"/>
              </a:rPr>
              <a:t>Ưu tiên ngân sách cho nhóm </a:t>
            </a:r>
            <a:r>
              <a:rPr b="1" lang="en-US" sz="3000">
                <a:latin typeface="Arial"/>
                <a:ea typeface="Arial"/>
                <a:cs typeface="Arial"/>
                <a:sym typeface="Arial"/>
              </a:rPr>
              <a:t>Furniture</a:t>
            </a:r>
            <a:r>
              <a:rPr lang="en-US" sz="3000">
                <a:latin typeface="Arial"/>
                <a:ea typeface="Arial"/>
                <a:cs typeface="Arial"/>
                <a:sym typeface="Arial"/>
              </a:rPr>
              <a:t>.</a:t>
            </a:r>
            <a:endParaRPr sz="3000">
              <a:latin typeface="Arial"/>
              <a:ea typeface="Arial"/>
              <a:cs typeface="Arial"/>
              <a:sym typeface="Arial"/>
            </a:endParaRPr>
          </a:p>
          <a:p>
            <a:pPr indent="-419100" lvl="0" marL="457200" rtl="0" algn="l">
              <a:lnSpc>
                <a:spcPct val="115000"/>
              </a:lnSpc>
              <a:spcBef>
                <a:spcPts val="0"/>
              </a:spcBef>
              <a:spcAft>
                <a:spcPts val="0"/>
              </a:spcAft>
              <a:buSzPts val="3000"/>
              <a:buFont typeface="Arial"/>
              <a:buChar char="●"/>
            </a:pPr>
            <a:r>
              <a:rPr lang="en-US" sz="3000">
                <a:latin typeface="Arial"/>
                <a:ea typeface="Arial"/>
                <a:cs typeface="Arial"/>
                <a:sym typeface="Arial"/>
              </a:rPr>
              <a:t>Xem xét các chương trình khuyến mãi ghép nhóm.</a:t>
            </a:r>
            <a:endParaRPr b="1" sz="3000">
              <a:latin typeface="Arial"/>
              <a:ea typeface="Arial"/>
              <a:cs typeface="Arial"/>
              <a:sym typeface="Arial"/>
            </a:endParaRPr>
          </a:p>
        </p:txBody>
      </p:sp>
      <p:sp>
        <p:nvSpPr>
          <p:cNvPr id="674" name="Google Shape;674;g3a97f3d028b_0_41"/>
          <p:cNvSpPr txBox="1"/>
          <p:nvPr>
            <p:ph type="title"/>
          </p:nvPr>
        </p:nvSpPr>
        <p:spPr>
          <a:xfrm>
            <a:off x="1523700" y="1133525"/>
            <a:ext cx="15240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US">
                <a:solidFill>
                  <a:schemeClr val="dk2"/>
                </a:solidFill>
              </a:rPr>
              <a:t>Phân tích Insights</a:t>
            </a:r>
            <a:endParaRPr b="1">
              <a:solidFill>
                <a:schemeClr val="dk2"/>
              </a:solidFill>
            </a:endParaRPr>
          </a:p>
        </p:txBody>
      </p:sp>
      <p:pic>
        <p:nvPicPr>
          <p:cNvPr id="675" name="Google Shape;675;g3a97f3d028b_0_41"/>
          <p:cNvPicPr preferRelativeResize="0"/>
          <p:nvPr/>
        </p:nvPicPr>
        <p:blipFill>
          <a:blip r:embed="rId3">
            <a:alphaModFix/>
          </a:blip>
          <a:stretch>
            <a:fillRect/>
          </a:stretch>
        </p:blipFill>
        <p:spPr>
          <a:xfrm>
            <a:off x="8112675" y="3002550"/>
            <a:ext cx="9968550" cy="53037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g3a97f3d028b_0_48"/>
          <p:cNvSpPr txBox="1"/>
          <p:nvPr>
            <p:ph type="title"/>
          </p:nvPr>
        </p:nvSpPr>
        <p:spPr>
          <a:xfrm>
            <a:off x="1523700" y="1133525"/>
            <a:ext cx="15240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sz="7000">
                <a:solidFill>
                  <a:schemeClr val="dk2"/>
                </a:solidFill>
              </a:rPr>
              <a:t>Kịch bản 2: </a:t>
            </a:r>
            <a:r>
              <a:rPr b="1" lang="en-US" sz="7000">
                <a:solidFill>
                  <a:schemeClr val="dk2"/>
                </a:solidFill>
              </a:rPr>
              <a:t>XU HƯỚNG DOANH THU THEO THỜI GIAN</a:t>
            </a:r>
            <a:r>
              <a:rPr b="1" lang="en-US" sz="7000">
                <a:solidFill>
                  <a:schemeClr val="dk2"/>
                </a:solidFill>
              </a:rPr>
              <a:t> </a:t>
            </a:r>
            <a:endParaRPr b="1" sz="7000">
              <a:solidFill>
                <a:schemeClr val="dk2"/>
              </a:solidFill>
            </a:endParaRPr>
          </a:p>
        </p:txBody>
      </p:sp>
      <p:pic>
        <p:nvPicPr>
          <p:cNvPr id="681" name="Google Shape;681;g3a97f3d028b_0_48"/>
          <p:cNvPicPr preferRelativeResize="0"/>
          <p:nvPr/>
        </p:nvPicPr>
        <p:blipFill>
          <a:blip r:embed="rId3">
            <a:alphaModFix/>
          </a:blip>
          <a:stretch>
            <a:fillRect/>
          </a:stretch>
        </p:blipFill>
        <p:spPr>
          <a:xfrm>
            <a:off x="3287695" y="2726764"/>
            <a:ext cx="11926249" cy="656807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g3a97f3d028b_0_62"/>
          <p:cNvSpPr txBox="1"/>
          <p:nvPr>
            <p:ph idx="1" type="body"/>
          </p:nvPr>
        </p:nvSpPr>
        <p:spPr>
          <a:xfrm>
            <a:off x="754113" y="3157213"/>
            <a:ext cx="5486400" cy="804900"/>
          </a:xfrm>
          <a:prstGeom prst="rect">
            <a:avLst/>
          </a:prstGeom>
        </p:spPr>
        <p:txBody>
          <a:bodyPr anchorCtr="0" anchor="t" bIns="45700" lIns="91425" spcFirstLastPara="1" rIns="91425" wrap="square" tIns="45700">
            <a:noAutofit/>
          </a:bodyPr>
          <a:lstStyle/>
          <a:p>
            <a:pPr indent="0" lvl="0" marL="0" rtl="0" algn="l">
              <a:spcBef>
                <a:spcPts val="280"/>
              </a:spcBef>
              <a:spcAft>
                <a:spcPts val="0"/>
              </a:spcAft>
              <a:buClr>
                <a:schemeClr val="dk1"/>
              </a:buClr>
              <a:buSzPts val="1100"/>
              <a:buFont typeface="Arial"/>
              <a:buNone/>
            </a:pPr>
            <a:r>
              <a:rPr b="1" lang="en-US" sz="3000">
                <a:latin typeface="Arial"/>
                <a:ea typeface="Arial"/>
                <a:cs typeface="Arial"/>
                <a:sym typeface="Arial"/>
              </a:rPr>
              <a:t>Loại biểu đồ:</a:t>
            </a:r>
            <a:r>
              <a:rPr lang="en-US" sz="3000">
                <a:latin typeface="Arial"/>
                <a:ea typeface="Arial"/>
                <a:cs typeface="Arial"/>
                <a:sym typeface="Arial"/>
              </a:rPr>
              <a:t> Line chart</a:t>
            </a:r>
            <a:endParaRPr sz="3000">
              <a:latin typeface="Arial"/>
              <a:ea typeface="Arial"/>
              <a:cs typeface="Arial"/>
              <a:sym typeface="Arial"/>
            </a:endParaRPr>
          </a:p>
          <a:p>
            <a:pPr indent="0" lvl="0" marL="0" rtl="0" algn="l">
              <a:spcBef>
                <a:spcPts val="280"/>
              </a:spcBef>
              <a:spcAft>
                <a:spcPts val="0"/>
              </a:spcAft>
              <a:buClr>
                <a:schemeClr val="dk1"/>
              </a:buClr>
              <a:buSzPts val="1100"/>
              <a:buFont typeface="Arial"/>
              <a:buNone/>
            </a:pPr>
            <a:r>
              <a:rPr b="1" lang="en-US" sz="3000">
                <a:latin typeface="Arial"/>
                <a:ea typeface="Arial"/>
                <a:cs typeface="Arial"/>
                <a:sym typeface="Arial"/>
              </a:rPr>
              <a:t>Nguồn dữ liệu (Data Source):</a:t>
            </a:r>
            <a:endParaRPr b="1" sz="3000">
              <a:latin typeface="Arial"/>
              <a:ea typeface="Arial"/>
              <a:cs typeface="Arial"/>
              <a:sym typeface="Arial"/>
            </a:endParaRPr>
          </a:p>
          <a:p>
            <a:pPr indent="-419100" lvl="0" marL="457200" rtl="0" algn="l">
              <a:lnSpc>
                <a:spcPct val="115000"/>
              </a:lnSpc>
              <a:spcBef>
                <a:spcPts val="1200"/>
              </a:spcBef>
              <a:spcAft>
                <a:spcPts val="0"/>
              </a:spcAft>
              <a:buSzPts val="3000"/>
              <a:buFont typeface="Arial"/>
              <a:buChar char="●"/>
            </a:pPr>
            <a:r>
              <a:rPr b="1" lang="en-US" sz="3000">
                <a:latin typeface="Arial"/>
                <a:ea typeface="Arial"/>
                <a:cs typeface="Arial"/>
                <a:sym typeface="Arial"/>
              </a:rPr>
              <a:t>X-Axis: </a:t>
            </a:r>
            <a:r>
              <a:rPr lang="en-US" sz="3000">
                <a:solidFill>
                  <a:srgbClr val="188038"/>
                </a:solidFill>
                <a:latin typeface="Roboto Mono"/>
                <a:ea typeface="Roboto Mono"/>
                <a:cs typeface="Roboto Mono"/>
                <a:sym typeface="Roboto Mono"/>
              </a:rPr>
              <a:t>MonthNumber</a:t>
            </a:r>
            <a:r>
              <a:rPr lang="en-US" sz="3000">
                <a:latin typeface="Arial"/>
                <a:ea typeface="Arial"/>
                <a:cs typeface="Arial"/>
                <a:sym typeface="Arial"/>
              </a:rPr>
              <a:t> </a:t>
            </a:r>
            <a:r>
              <a:rPr b="1" lang="en-US" sz="3000">
                <a:latin typeface="Arial"/>
                <a:ea typeface="Arial"/>
                <a:cs typeface="Arial"/>
                <a:sym typeface="Arial"/>
              </a:rPr>
              <a:t>Y-Axis: </a:t>
            </a:r>
            <a:r>
              <a:rPr lang="en-US" sz="3000">
                <a:latin typeface="Arial"/>
                <a:ea typeface="Arial"/>
                <a:cs typeface="Arial"/>
                <a:sym typeface="Arial"/>
              </a:rPr>
              <a:t>Trường </a:t>
            </a:r>
            <a:r>
              <a:rPr lang="en-US" sz="3000">
                <a:solidFill>
                  <a:srgbClr val="188038"/>
                </a:solidFill>
                <a:latin typeface="Roboto Mono"/>
                <a:ea typeface="Roboto Mono"/>
                <a:cs typeface="Roboto Mono"/>
                <a:sym typeface="Roboto Mono"/>
              </a:rPr>
              <a:t>Total Sales</a:t>
            </a:r>
            <a:r>
              <a:rPr lang="en-US" sz="3000">
                <a:latin typeface="Arial"/>
                <a:ea typeface="Arial"/>
                <a:cs typeface="Arial"/>
                <a:sym typeface="Arial"/>
              </a:rPr>
              <a:t> </a:t>
            </a:r>
            <a:endParaRPr sz="3000">
              <a:latin typeface="Arial"/>
              <a:ea typeface="Arial"/>
              <a:cs typeface="Arial"/>
              <a:sym typeface="Arial"/>
            </a:endParaRPr>
          </a:p>
          <a:p>
            <a:pPr indent="0" lvl="0" marL="0" rtl="0" algn="l">
              <a:spcBef>
                <a:spcPts val="1200"/>
              </a:spcBef>
              <a:spcAft>
                <a:spcPts val="0"/>
              </a:spcAft>
              <a:buNone/>
            </a:pPr>
            <a:r>
              <a:rPr b="1" lang="en-US" sz="3000">
                <a:latin typeface="Arial"/>
                <a:ea typeface="Arial"/>
                <a:cs typeface="Arial"/>
                <a:sym typeface="Arial"/>
              </a:rPr>
              <a:t>KPI: </a:t>
            </a:r>
            <a:r>
              <a:rPr lang="en-US" sz="3000">
                <a:latin typeface="Arial"/>
                <a:ea typeface="Arial"/>
                <a:cs typeface="Arial"/>
                <a:sym typeface="Arial"/>
              </a:rPr>
              <a:t>Tổng doanh thu theo thời gian thực (Time Series).</a:t>
            </a:r>
            <a:endParaRPr sz="3000">
              <a:latin typeface="Arial"/>
              <a:ea typeface="Arial"/>
              <a:cs typeface="Arial"/>
              <a:sym typeface="Arial"/>
            </a:endParaRPr>
          </a:p>
          <a:p>
            <a:pPr indent="0" lvl="0" marL="0" rtl="0" algn="l">
              <a:spcBef>
                <a:spcPts val="280"/>
              </a:spcBef>
              <a:spcAft>
                <a:spcPts val="0"/>
              </a:spcAft>
              <a:buNone/>
            </a:pPr>
            <a:r>
              <a:t/>
            </a:r>
            <a:endParaRPr b="1" sz="3000">
              <a:latin typeface="Arial"/>
              <a:ea typeface="Arial"/>
              <a:cs typeface="Arial"/>
              <a:sym typeface="Arial"/>
            </a:endParaRPr>
          </a:p>
        </p:txBody>
      </p:sp>
      <p:sp>
        <p:nvSpPr>
          <p:cNvPr id="687" name="Google Shape;687;g3a97f3d028b_0_62"/>
          <p:cNvSpPr txBox="1"/>
          <p:nvPr>
            <p:ph type="title"/>
          </p:nvPr>
        </p:nvSpPr>
        <p:spPr>
          <a:xfrm>
            <a:off x="1523700" y="1133525"/>
            <a:ext cx="15240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US">
                <a:solidFill>
                  <a:schemeClr val="dk2"/>
                </a:solidFill>
              </a:rPr>
              <a:t>Cấu hình kỹ thuật</a:t>
            </a:r>
            <a:endParaRPr b="1">
              <a:solidFill>
                <a:schemeClr val="dk2"/>
              </a:solidFill>
            </a:endParaRPr>
          </a:p>
        </p:txBody>
      </p:sp>
      <p:pic>
        <p:nvPicPr>
          <p:cNvPr id="688" name="Google Shape;688;g3a97f3d028b_0_62"/>
          <p:cNvPicPr preferRelativeResize="0"/>
          <p:nvPr/>
        </p:nvPicPr>
        <p:blipFill>
          <a:blip r:embed="rId3">
            <a:alphaModFix/>
          </a:blip>
          <a:stretch>
            <a:fillRect/>
          </a:stretch>
        </p:blipFill>
        <p:spPr>
          <a:xfrm>
            <a:off x="6392925" y="2428925"/>
            <a:ext cx="11711274" cy="64477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a97f3d028b_0_71"/>
          <p:cNvSpPr txBox="1"/>
          <p:nvPr>
            <p:ph idx="1" type="body"/>
          </p:nvPr>
        </p:nvSpPr>
        <p:spPr>
          <a:xfrm>
            <a:off x="219328" y="2679700"/>
            <a:ext cx="6771000" cy="804900"/>
          </a:xfrm>
          <a:prstGeom prst="rect">
            <a:avLst/>
          </a:prstGeom>
        </p:spPr>
        <p:txBody>
          <a:bodyPr anchorCtr="0" anchor="t" bIns="45700" lIns="91425" spcFirstLastPara="1" rIns="91425" wrap="square" tIns="45700">
            <a:noAutofit/>
          </a:bodyPr>
          <a:lstStyle/>
          <a:p>
            <a:pPr indent="0" lvl="0" marL="0" rtl="0" algn="l">
              <a:spcBef>
                <a:spcPts val="280"/>
              </a:spcBef>
              <a:spcAft>
                <a:spcPts val="0"/>
              </a:spcAft>
              <a:buNone/>
            </a:pPr>
            <a:r>
              <a:rPr b="1" lang="en-US" sz="3000">
                <a:solidFill>
                  <a:srgbClr val="4A86E8"/>
                </a:solidFill>
                <a:latin typeface="Arial"/>
                <a:ea typeface="Arial"/>
                <a:cs typeface="Arial"/>
                <a:sym typeface="Arial"/>
              </a:rPr>
              <a:t>Tính biến động (Volatility):</a:t>
            </a:r>
            <a:r>
              <a:rPr lang="en-US" sz="3000">
                <a:latin typeface="Arial"/>
                <a:ea typeface="Arial"/>
                <a:cs typeface="Arial"/>
                <a:sym typeface="Arial"/>
              </a:rPr>
              <a:t> Doanh thu không ổn định.</a:t>
            </a:r>
            <a:endParaRPr sz="3000">
              <a:latin typeface="Arial"/>
              <a:ea typeface="Arial"/>
              <a:cs typeface="Arial"/>
              <a:sym typeface="Arial"/>
            </a:endParaRPr>
          </a:p>
          <a:p>
            <a:pPr indent="0" lvl="0" marL="0" rtl="0" algn="l">
              <a:spcBef>
                <a:spcPts val="280"/>
              </a:spcBef>
              <a:spcAft>
                <a:spcPts val="0"/>
              </a:spcAft>
              <a:buNone/>
            </a:pPr>
            <a:r>
              <a:t/>
            </a:r>
            <a:endParaRPr sz="3000">
              <a:latin typeface="Arial"/>
              <a:ea typeface="Arial"/>
              <a:cs typeface="Arial"/>
              <a:sym typeface="Arial"/>
            </a:endParaRPr>
          </a:p>
          <a:p>
            <a:pPr indent="0" lvl="0" marL="0" rtl="0" algn="l">
              <a:spcBef>
                <a:spcPts val="280"/>
              </a:spcBef>
              <a:spcAft>
                <a:spcPts val="0"/>
              </a:spcAft>
              <a:buNone/>
            </a:pPr>
            <a:r>
              <a:rPr b="1" lang="en-US" sz="3000">
                <a:solidFill>
                  <a:srgbClr val="F7574B"/>
                </a:solidFill>
                <a:latin typeface="Arial"/>
                <a:ea typeface="Arial"/>
                <a:cs typeface="Arial"/>
                <a:sym typeface="Arial"/>
              </a:rPr>
              <a:t>Hiệu ứng cuối năm (End-of-Year Rally):</a:t>
            </a:r>
            <a:r>
              <a:rPr lang="en-US" sz="3000">
                <a:latin typeface="Arial"/>
                <a:ea typeface="Arial"/>
                <a:cs typeface="Arial"/>
                <a:sym typeface="Arial"/>
              </a:rPr>
              <a:t> T</a:t>
            </a:r>
            <a:r>
              <a:rPr lang="en-US" sz="3000">
                <a:latin typeface="Arial"/>
                <a:ea typeface="Arial"/>
                <a:cs typeface="Arial"/>
                <a:sym typeface="Arial"/>
              </a:rPr>
              <a:t>ăng trưởng đột biến vào </a:t>
            </a:r>
            <a:r>
              <a:rPr b="1" lang="en-US" sz="3000">
                <a:latin typeface="Arial"/>
                <a:ea typeface="Arial"/>
                <a:cs typeface="Arial"/>
                <a:sym typeface="Arial"/>
              </a:rPr>
              <a:t>Tháng 12</a:t>
            </a:r>
            <a:r>
              <a:rPr lang="en-US" sz="3000">
                <a:latin typeface="Arial"/>
                <a:ea typeface="Arial"/>
                <a:cs typeface="Arial"/>
                <a:sym typeface="Arial"/>
              </a:rPr>
              <a:t>.</a:t>
            </a:r>
            <a:endParaRPr sz="3000">
              <a:latin typeface="Arial"/>
              <a:ea typeface="Arial"/>
              <a:cs typeface="Arial"/>
              <a:sym typeface="Arial"/>
            </a:endParaRPr>
          </a:p>
          <a:p>
            <a:pPr indent="0" lvl="0" marL="0" rtl="0" algn="l">
              <a:spcBef>
                <a:spcPts val="280"/>
              </a:spcBef>
              <a:spcAft>
                <a:spcPts val="0"/>
              </a:spcAft>
              <a:buNone/>
            </a:pPr>
            <a:r>
              <a:t/>
            </a:r>
            <a:endParaRPr sz="3000">
              <a:latin typeface="Arial"/>
              <a:ea typeface="Arial"/>
              <a:cs typeface="Arial"/>
              <a:sym typeface="Arial"/>
            </a:endParaRPr>
          </a:p>
          <a:p>
            <a:pPr indent="0" lvl="0" marL="0" rtl="0" algn="l">
              <a:spcBef>
                <a:spcPts val="280"/>
              </a:spcBef>
              <a:spcAft>
                <a:spcPts val="0"/>
              </a:spcAft>
              <a:buNone/>
            </a:pPr>
            <a:r>
              <a:rPr b="1" lang="en-US" sz="3000">
                <a:solidFill>
                  <a:srgbClr val="9900FF"/>
                </a:solidFill>
                <a:latin typeface="Arial"/>
                <a:ea typeface="Arial"/>
                <a:cs typeface="Arial"/>
                <a:sym typeface="Arial"/>
              </a:rPr>
              <a:t>Các đỉnh phụ:</a:t>
            </a:r>
            <a:r>
              <a:rPr lang="en-US" sz="3000">
                <a:latin typeface="Arial"/>
                <a:ea typeface="Arial"/>
                <a:cs typeface="Arial"/>
                <a:sym typeface="Arial"/>
              </a:rPr>
              <a:t> Tháng 4 và Tháng 9</a:t>
            </a:r>
            <a:endParaRPr sz="3000">
              <a:latin typeface="Arial"/>
              <a:ea typeface="Arial"/>
              <a:cs typeface="Arial"/>
              <a:sym typeface="Arial"/>
            </a:endParaRPr>
          </a:p>
          <a:p>
            <a:pPr indent="0" lvl="0" marL="0" rtl="0" algn="l">
              <a:spcBef>
                <a:spcPts val="280"/>
              </a:spcBef>
              <a:spcAft>
                <a:spcPts val="0"/>
              </a:spcAft>
              <a:buNone/>
            </a:pPr>
            <a:r>
              <a:t/>
            </a:r>
            <a:endParaRPr sz="3000">
              <a:latin typeface="Arial"/>
              <a:ea typeface="Arial"/>
              <a:cs typeface="Arial"/>
              <a:sym typeface="Arial"/>
            </a:endParaRPr>
          </a:p>
          <a:p>
            <a:pPr indent="0" lvl="0" marL="0" rtl="0" algn="l">
              <a:spcBef>
                <a:spcPts val="280"/>
              </a:spcBef>
              <a:spcAft>
                <a:spcPts val="0"/>
              </a:spcAft>
              <a:buClr>
                <a:schemeClr val="dk1"/>
              </a:buClr>
              <a:buSzPts val="1100"/>
              <a:buFont typeface="Arial"/>
              <a:buNone/>
            </a:pPr>
            <a:r>
              <a:rPr b="1" lang="en-US" sz="3000">
                <a:solidFill>
                  <a:srgbClr val="38761D"/>
                </a:solidFill>
                <a:latin typeface="Arial"/>
                <a:ea typeface="Arial"/>
                <a:cs typeface="Arial"/>
                <a:sym typeface="Arial"/>
              </a:rPr>
              <a:t>Hành động:</a:t>
            </a:r>
            <a:endParaRPr b="1" sz="3000">
              <a:solidFill>
                <a:srgbClr val="38761D"/>
              </a:solidFill>
              <a:latin typeface="Arial"/>
              <a:ea typeface="Arial"/>
              <a:cs typeface="Arial"/>
              <a:sym typeface="Arial"/>
            </a:endParaRPr>
          </a:p>
          <a:p>
            <a:pPr indent="-419100" lvl="0" marL="457200" rtl="0" algn="l">
              <a:lnSpc>
                <a:spcPct val="115000"/>
              </a:lnSpc>
              <a:spcBef>
                <a:spcPts val="1200"/>
              </a:spcBef>
              <a:spcAft>
                <a:spcPts val="0"/>
              </a:spcAft>
              <a:buSzPts val="3000"/>
              <a:buFont typeface="Arial"/>
              <a:buChar char="●"/>
            </a:pPr>
            <a:r>
              <a:rPr lang="en-US" sz="3000">
                <a:latin typeface="Arial"/>
                <a:ea typeface="Arial"/>
                <a:cs typeface="Arial"/>
                <a:sym typeface="Arial"/>
              </a:rPr>
              <a:t>Tập trung nguồn lực cho tháng 12. </a:t>
            </a:r>
            <a:endParaRPr sz="3000">
              <a:latin typeface="Arial"/>
              <a:ea typeface="Arial"/>
              <a:cs typeface="Arial"/>
              <a:sym typeface="Arial"/>
            </a:endParaRPr>
          </a:p>
          <a:p>
            <a:pPr indent="-419100" lvl="0" marL="457200" rtl="0" algn="l">
              <a:lnSpc>
                <a:spcPct val="115000"/>
              </a:lnSpc>
              <a:spcBef>
                <a:spcPts val="0"/>
              </a:spcBef>
              <a:spcAft>
                <a:spcPts val="0"/>
              </a:spcAft>
              <a:buSzPts val="3000"/>
              <a:buFont typeface="Arial"/>
              <a:buChar char="●"/>
            </a:pPr>
            <a:r>
              <a:rPr lang="en-US" sz="3000">
                <a:latin typeface="Arial"/>
                <a:ea typeface="Arial"/>
                <a:cs typeface="Arial"/>
                <a:sym typeface="Arial"/>
              </a:rPr>
              <a:t>N</a:t>
            </a:r>
            <a:r>
              <a:rPr lang="en-US" sz="3000">
                <a:latin typeface="Arial"/>
                <a:ea typeface="Arial"/>
                <a:cs typeface="Arial"/>
                <a:sym typeface="Arial"/>
              </a:rPr>
              <a:t>guyên nhân</a:t>
            </a:r>
            <a:r>
              <a:rPr lang="en-US" sz="3000">
                <a:latin typeface="Arial"/>
                <a:ea typeface="Arial"/>
                <a:cs typeface="Arial"/>
                <a:sym typeface="Arial"/>
              </a:rPr>
              <a:t> </a:t>
            </a:r>
            <a:r>
              <a:rPr lang="en-US" sz="3000">
                <a:latin typeface="Arial"/>
                <a:ea typeface="Arial"/>
                <a:cs typeface="Arial"/>
                <a:sym typeface="Arial"/>
              </a:rPr>
              <a:t>doanh thu thấp </a:t>
            </a:r>
            <a:r>
              <a:rPr lang="en-US" sz="3000">
                <a:latin typeface="Arial"/>
                <a:ea typeface="Arial"/>
                <a:cs typeface="Arial"/>
                <a:sym typeface="Arial"/>
              </a:rPr>
              <a:t>ở tháng 2 và tháng 6. </a:t>
            </a:r>
            <a:endParaRPr b="1" sz="3000">
              <a:latin typeface="Arial"/>
              <a:ea typeface="Arial"/>
              <a:cs typeface="Arial"/>
              <a:sym typeface="Arial"/>
            </a:endParaRPr>
          </a:p>
        </p:txBody>
      </p:sp>
      <p:sp>
        <p:nvSpPr>
          <p:cNvPr id="694" name="Google Shape;694;g3a97f3d028b_0_71"/>
          <p:cNvSpPr txBox="1"/>
          <p:nvPr>
            <p:ph type="title"/>
          </p:nvPr>
        </p:nvSpPr>
        <p:spPr>
          <a:xfrm>
            <a:off x="1523700" y="1133525"/>
            <a:ext cx="15240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ts val="990"/>
              <a:buFont typeface="Arial"/>
              <a:buNone/>
            </a:pPr>
            <a:r>
              <a:rPr b="1" lang="en-US">
                <a:solidFill>
                  <a:schemeClr val="dk2"/>
                </a:solidFill>
              </a:rPr>
              <a:t>Phân tích Insights</a:t>
            </a:r>
            <a:endParaRPr b="1">
              <a:solidFill>
                <a:schemeClr val="dk2"/>
              </a:solidFill>
            </a:endParaRPr>
          </a:p>
          <a:p>
            <a:pPr indent="0" lvl="0" marL="0" rtl="0" algn="ctr">
              <a:spcBef>
                <a:spcPts val="0"/>
              </a:spcBef>
              <a:spcAft>
                <a:spcPts val="0"/>
              </a:spcAft>
              <a:buNone/>
            </a:pPr>
            <a:r>
              <a:t/>
            </a:r>
            <a:endParaRPr b="1"/>
          </a:p>
        </p:txBody>
      </p:sp>
      <p:pic>
        <p:nvPicPr>
          <p:cNvPr id="695" name="Google Shape;695;g3a97f3d028b_0_71"/>
          <p:cNvPicPr preferRelativeResize="0"/>
          <p:nvPr/>
        </p:nvPicPr>
        <p:blipFill>
          <a:blip r:embed="rId3">
            <a:alphaModFix/>
          </a:blip>
          <a:stretch>
            <a:fillRect/>
          </a:stretch>
        </p:blipFill>
        <p:spPr>
          <a:xfrm>
            <a:off x="6819475" y="2679700"/>
            <a:ext cx="11801764" cy="64976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grpSp>
        <p:nvGrpSpPr>
          <p:cNvPr id="700" name="Google Shape;700;g3a9801c9462_1_0"/>
          <p:cNvGrpSpPr/>
          <p:nvPr/>
        </p:nvGrpSpPr>
        <p:grpSpPr>
          <a:xfrm>
            <a:off x="6637004" y="9802720"/>
            <a:ext cx="11650894" cy="887552"/>
            <a:chOff x="0" y="-38100"/>
            <a:chExt cx="3904586" cy="297447"/>
          </a:xfrm>
        </p:grpSpPr>
        <p:sp>
          <p:nvSpPr>
            <p:cNvPr id="701" name="Google Shape;701;g3a9801c9462_1_0"/>
            <p:cNvSpPr/>
            <p:nvPr/>
          </p:nvSpPr>
          <p:spPr>
            <a:xfrm>
              <a:off x="0" y="0"/>
              <a:ext cx="3904586" cy="259347"/>
            </a:xfrm>
            <a:custGeom>
              <a:rect b="b" l="l" r="r" t="t"/>
              <a:pathLst>
                <a:path extrusionOk="0" h="259347" w="3904586">
                  <a:moveTo>
                    <a:pt x="0" y="0"/>
                  </a:moveTo>
                  <a:lnTo>
                    <a:pt x="3904586" y="0"/>
                  </a:lnTo>
                  <a:lnTo>
                    <a:pt x="3904586" y="259347"/>
                  </a:lnTo>
                  <a:lnTo>
                    <a:pt x="0" y="259347"/>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2" name="Google Shape;702;g3a9801c9462_1_0"/>
            <p:cNvSpPr txBox="1"/>
            <p:nvPr/>
          </p:nvSpPr>
          <p:spPr>
            <a:xfrm>
              <a:off x="0" y="-38100"/>
              <a:ext cx="3904500" cy="297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703" name="Google Shape;703;g3a9801c9462_1_0"/>
          <p:cNvPicPr preferRelativeResize="0"/>
          <p:nvPr/>
        </p:nvPicPr>
        <p:blipFill rotWithShape="1">
          <a:blip r:embed="rId3">
            <a:alphaModFix/>
          </a:blip>
          <a:srcRect b="0" l="0" r="0" t="0"/>
          <a:stretch/>
        </p:blipFill>
        <p:spPr>
          <a:xfrm>
            <a:off x="5891775" y="9696640"/>
            <a:ext cx="7332975" cy="452200"/>
          </a:xfrm>
          <a:prstGeom prst="rect">
            <a:avLst/>
          </a:prstGeom>
          <a:noFill/>
          <a:ln>
            <a:noFill/>
          </a:ln>
        </p:spPr>
      </p:pic>
      <p:pic>
        <p:nvPicPr>
          <p:cNvPr id="704" name="Google Shape;704;g3a9801c9462_1_0"/>
          <p:cNvPicPr preferRelativeResize="0"/>
          <p:nvPr/>
        </p:nvPicPr>
        <p:blipFill rotWithShape="1">
          <a:blip r:embed="rId4">
            <a:alphaModFix/>
          </a:blip>
          <a:srcRect b="0" l="0" r="0" t="0"/>
          <a:stretch/>
        </p:blipFill>
        <p:spPr>
          <a:xfrm>
            <a:off x="-200150" y="9225993"/>
            <a:ext cx="1028675" cy="1077350"/>
          </a:xfrm>
          <a:prstGeom prst="rect">
            <a:avLst/>
          </a:prstGeom>
          <a:noFill/>
          <a:ln>
            <a:noFill/>
          </a:ln>
        </p:spPr>
      </p:pic>
      <p:sp>
        <p:nvSpPr>
          <p:cNvPr id="705" name="Google Shape;705;g3a9801c9462_1_0"/>
          <p:cNvSpPr txBox="1"/>
          <p:nvPr/>
        </p:nvSpPr>
        <p:spPr>
          <a:xfrm>
            <a:off x="3025913" y="711000"/>
            <a:ext cx="13064700" cy="1286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3800">
                <a:solidFill>
                  <a:schemeClr val="dk2"/>
                </a:solidFill>
                <a:latin typeface="Montserrat"/>
                <a:ea typeface="Montserrat"/>
                <a:cs typeface="Montserrat"/>
                <a:sym typeface="Montserrat"/>
              </a:rPr>
              <a:t>Kịch bản 3: So sánh cùng kỳ năm trước (Year-Over-Year / YoY)</a:t>
            </a:r>
            <a:endParaRPr sz="3800"/>
          </a:p>
        </p:txBody>
      </p:sp>
      <p:pic>
        <p:nvPicPr>
          <p:cNvPr id="706" name="Google Shape;706;g3a9801c9462_1_0"/>
          <p:cNvPicPr preferRelativeResize="0"/>
          <p:nvPr/>
        </p:nvPicPr>
        <p:blipFill>
          <a:blip r:embed="rId5">
            <a:alphaModFix/>
          </a:blip>
          <a:stretch>
            <a:fillRect/>
          </a:stretch>
        </p:blipFill>
        <p:spPr>
          <a:xfrm>
            <a:off x="1257288" y="2370200"/>
            <a:ext cx="15773400" cy="6953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05"/>
                                        </p:tgtEl>
                                        <p:attrNameLst>
                                          <p:attrName>style.visibility</p:attrName>
                                        </p:attrNameLst>
                                      </p:cBhvr>
                                      <p:to>
                                        <p:strVal val="visible"/>
                                      </p:to>
                                    </p:set>
                                    <p:anim calcmode="lin" valueType="num">
                                      <p:cBhvr additive="base">
                                        <p:cTn dur="500"/>
                                        <p:tgtEl>
                                          <p:spTgt spid="705"/>
                                        </p:tgtEl>
                                        <p:attrNameLst>
                                          <p:attrName>ppt_w</p:attrName>
                                        </p:attrNameLst>
                                      </p:cBhvr>
                                      <p:tavLst>
                                        <p:tav fmla="" tm="0">
                                          <p:val>
                                            <p:strVal val="0"/>
                                          </p:val>
                                        </p:tav>
                                        <p:tav fmla="" tm="100000">
                                          <p:val>
                                            <p:strVal val="#ppt_w"/>
                                          </p:val>
                                        </p:tav>
                                      </p:tavLst>
                                    </p:anim>
                                    <p:anim calcmode="lin" valueType="num">
                                      <p:cBhvr additive="base">
                                        <p:cTn dur="500"/>
                                        <p:tgtEl>
                                          <p:spTgt spid="70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a9801c9462_1_26"/>
          <p:cNvSpPr txBox="1"/>
          <p:nvPr/>
        </p:nvSpPr>
        <p:spPr>
          <a:xfrm>
            <a:off x="4715999" y="474878"/>
            <a:ext cx="99498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dk2"/>
                </a:solidFill>
                <a:latin typeface="Montserrat"/>
                <a:ea typeface="Montserrat"/>
                <a:cs typeface="Montserrat"/>
                <a:sym typeface="Montserrat"/>
              </a:rPr>
              <a:t>Cấu hình kỹ thuật</a:t>
            </a:r>
            <a:endParaRPr b="1" i="0" sz="7200" u="none" cap="none" strike="noStrike">
              <a:solidFill>
                <a:schemeClr val="dk2"/>
              </a:solidFill>
              <a:latin typeface="Montserrat"/>
              <a:ea typeface="Montserrat"/>
              <a:cs typeface="Montserrat"/>
              <a:sym typeface="Montserrat"/>
            </a:endParaRPr>
          </a:p>
        </p:txBody>
      </p:sp>
      <p:sp>
        <p:nvSpPr>
          <p:cNvPr id="712" name="Google Shape;712;g3a9801c9462_1_26"/>
          <p:cNvSpPr txBox="1"/>
          <p:nvPr/>
        </p:nvSpPr>
        <p:spPr>
          <a:xfrm>
            <a:off x="1821300" y="2005775"/>
            <a:ext cx="14645400" cy="6561600"/>
          </a:xfrm>
          <a:prstGeom prst="rect">
            <a:avLst/>
          </a:prstGeom>
          <a:noFill/>
          <a:ln>
            <a:noFill/>
          </a:ln>
        </p:spPr>
        <p:txBody>
          <a:bodyPr anchorCtr="0" anchor="t" bIns="91425" lIns="91425" spcFirstLastPara="1" rIns="91425" wrap="square" tIns="91425">
            <a:noAutofit/>
          </a:bodyPr>
          <a:lstStyle/>
          <a:p>
            <a:pPr indent="0" lvl="0" marL="0" rtl="0" algn="just">
              <a:lnSpc>
                <a:spcPct val="200000"/>
              </a:lnSpc>
              <a:spcBef>
                <a:spcPts val="0"/>
              </a:spcBef>
              <a:spcAft>
                <a:spcPts val="0"/>
              </a:spcAft>
              <a:buNone/>
            </a:pPr>
            <a:r>
              <a:rPr b="1" lang="en-US" sz="3000">
                <a:solidFill>
                  <a:schemeClr val="dk2"/>
                </a:solidFill>
                <a:latin typeface="Montserrat"/>
                <a:ea typeface="Montserrat"/>
                <a:cs typeface="Montserrat"/>
                <a:sym typeface="Montserrat"/>
              </a:rPr>
              <a:t>Loại biểu đồ</a:t>
            </a:r>
            <a:r>
              <a:rPr lang="en-US" sz="3000">
                <a:solidFill>
                  <a:schemeClr val="dk1"/>
                </a:solidFill>
                <a:latin typeface="Montserrat"/>
                <a:ea typeface="Montserrat"/>
                <a:cs typeface="Montserrat"/>
                <a:sym typeface="Montserrat"/>
              </a:rPr>
              <a:t>:</a:t>
            </a:r>
            <a:r>
              <a:rPr b="1" lang="en-US" sz="3000">
                <a:solidFill>
                  <a:schemeClr val="dk1"/>
                </a:solidFill>
                <a:latin typeface="Montserrat"/>
                <a:ea typeface="Montserrat"/>
                <a:cs typeface="Montserrat"/>
                <a:sym typeface="Montserrat"/>
              </a:rPr>
              <a:t> </a:t>
            </a:r>
            <a:r>
              <a:rPr lang="en-US" sz="3000">
                <a:solidFill>
                  <a:schemeClr val="dk1"/>
                </a:solidFill>
                <a:latin typeface="Montserrat"/>
                <a:ea typeface="Montserrat"/>
                <a:cs typeface="Montserrat"/>
                <a:sym typeface="Montserrat"/>
              </a:rPr>
              <a:t>Clustered Column Chart (Biểu đồ cột ghép).</a:t>
            </a:r>
            <a:endParaRPr sz="3000">
              <a:solidFill>
                <a:schemeClr val="dk1"/>
              </a:solidFill>
              <a:latin typeface="Montserrat"/>
              <a:ea typeface="Montserrat"/>
              <a:cs typeface="Montserrat"/>
              <a:sym typeface="Montserrat"/>
            </a:endParaRPr>
          </a:p>
          <a:p>
            <a:pPr indent="0" lvl="0" marL="0" rtl="0" algn="just">
              <a:lnSpc>
                <a:spcPct val="200000"/>
              </a:lnSpc>
              <a:spcBef>
                <a:spcPts val="0"/>
              </a:spcBef>
              <a:spcAft>
                <a:spcPts val="0"/>
              </a:spcAft>
              <a:buNone/>
            </a:pPr>
            <a:r>
              <a:rPr b="1" lang="en-US" sz="3000">
                <a:solidFill>
                  <a:schemeClr val="dk2"/>
                </a:solidFill>
                <a:latin typeface="Montserrat"/>
                <a:ea typeface="Montserrat"/>
                <a:cs typeface="Montserrat"/>
                <a:sym typeface="Montserrat"/>
              </a:rPr>
              <a:t>Dữ liệu nguồn</a:t>
            </a:r>
            <a:r>
              <a:rPr lang="en-US" sz="3000">
                <a:solidFill>
                  <a:schemeClr val="dk1"/>
                </a:solidFill>
                <a:latin typeface="Montserrat"/>
                <a:ea typeface="Montserrat"/>
                <a:cs typeface="Montserrat"/>
                <a:sym typeface="Montserrat"/>
              </a:rPr>
              <a:t>:</a:t>
            </a:r>
            <a:endParaRPr sz="3000">
              <a:solidFill>
                <a:schemeClr val="dk1"/>
              </a:solidFill>
              <a:latin typeface="Montserrat"/>
              <a:ea typeface="Montserrat"/>
              <a:cs typeface="Montserrat"/>
              <a:sym typeface="Montserrat"/>
            </a:endParaRPr>
          </a:p>
          <a:p>
            <a:pPr indent="-419100" lvl="0" marL="914400" rtl="0" algn="just">
              <a:lnSpc>
                <a:spcPct val="200000"/>
              </a:lnSpc>
              <a:spcBef>
                <a:spcPts val="0"/>
              </a:spcBef>
              <a:spcAft>
                <a:spcPts val="0"/>
              </a:spcAft>
              <a:buClr>
                <a:schemeClr val="dk1"/>
              </a:buClr>
              <a:buSzPts val="3000"/>
              <a:buFont typeface="Montserrat"/>
              <a:buChar char="●"/>
            </a:pPr>
            <a:r>
              <a:rPr b="1" lang="en-US" sz="3000">
                <a:solidFill>
                  <a:schemeClr val="dk2"/>
                </a:solidFill>
                <a:latin typeface="Montserrat"/>
                <a:ea typeface="Montserrat"/>
                <a:cs typeface="Montserrat"/>
                <a:sym typeface="Montserrat"/>
              </a:rPr>
              <a:t>Trục X</a:t>
            </a:r>
            <a:r>
              <a:rPr lang="en-US" sz="3000">
                <a:solidFill>
                  <a:schemeClr val="dk1"/>
                </a:solidFill>
                <a:latin typeface="Montserrat"/>
                <a:ea typeface="Montserrat"/>
                <a:cs typeface="Montserrat"/>
                <a:sym typeface="Montserrat"/>
              </a:rPr>
              <a:t>:</a:t>
            </a:r>
            <a:r>
              <a:rPr b="1" lang="en-US" sz="3000">
                <a:solidFill>
                  <a:schemeClr val="dk1"/>
                </a:solidFill>
                <a:latin typeface="Montserrat"/>
                <a:ea typeface="Montserrat"/>
                <a:cs typeface="Montserrat"/>
                <a:sym typeface="Montserrat"/>
              </a:rPr>
              <a:t> </a:t>
            </a:r>
            <a:r>
              <a:rPr lang="en-US" sz="3000">
                <a:solidFill>
                  <a:schemeClr val="dk1"/>
                </a:solidFill>
                <a:latin typeface="Montserrat"/>
                <a:ea typeface="Montserrat"/>
                <a:cs typeface="Montserrat"/>
                <a:sym typeface="Montserrat"/>
              </a:rPr>
              <a:t>DimDate.MonthName.</a:t>
            </a:r>
            <a:endParaRPr sz="3000">
              <a:solidFill>
                <a:schemeClr val="dk1"/>
              </a:solidFill>
              <a:latin typeface="Montserrat"/>
              <a:ea typeface="Montserrat"/>
              <a:cs typeface="Montserrat"/>
              <a:sym typeface="Montserrat"/>
            </a:endParaRPr>
          </a:p>
          <a:p>
            <a:pPr indent="-419100" lvl="0" marL="914400" rtl="0" algn="just">
              <a:lnSpc>
                <a:spcPct val="200000"/>
              </a:lnSpc>
              <a:spcBef>
                <a:spcPts val="0"/>
              </a:spcBef>
              <a:spcAft>
                <a:spcPts val="0"/>
              </a:spcAft>
              <a:buClr>
                <a:schemeClr val="dk1"/>
              </a:buClr>
              <a:buSzPts val="3000"/>
              <a:buFont typeface="Montserrat"/>
              <a:buChar char="●"/>
            </a:pPr>
            <a:r>
              <a:rPr b="1" lang="en-US" sz="3000">
                <a:solidFill>
                  <a:schemeClr val="dk2"/>
                </a:solidFill>
                <a:latin typeface="Montserrat"/>
                <a:ea typeface="Montserrat"/>
                <a:cs typeface="Montserrat"/>
                <a:sym typeface="Montserrat"/>
              </a:rPr>
              <a:t>Trục Y</a:t>
            </a:r>
            <a:r>
              <a:rPr lang="en-US" sz="3000">
                <a:solidFill>
                  <a:schemeClr val="dk1"/>
                </a:solidFill>
                <a:latin typeface="Montserrat"/>
                <a:ea typeface="Montserrat"/>
                <a:cs typeface="Montserrat"/>
                <a:sym typeface="Montserrat"/>
              </a:rPr>
              <a:t>:</a:t>
            </a:r>
            <a:r>
              <a:rPr b="1" lang="en-US" sz="3000">
                <a:solidFill>
                  <a:schemeClr val="dk1"/>
                </a:solidFill>
                <a:latin typeface="Montserrat"/>
                <a:ea typeface="Montserrat"/>
                <a:cs typeface="Montserrat"/>
                <a:sym typeface="Montserrat"/>
              </a:rPr>
              <a:t> </a:t>
            </a:r>
            <a:r>
              <a:rPr lang="en-US" sz="3000">
                <a:solidFill>
                  <a:schemeClr val="dk1"/>
                </a:solidFill>
                <a:latin typeface="Montserrat"/>
                <a:ea typeface="Montserrat"/>
                <a:cs typeface="Montserrat"/>
                <a:sym typeface="Montserrat"/>
              </a:rPr>
              <a:t>FactSales.Sales.</a:t>
            </a:r>
            <a:endParaRPr sz="3000">
              <a:solidFill>
                <a:schemeClr val="dk1"/>
              </a:solidFill>
              <a:latin typeface="Montserrat"/>
              <a:ea typeface="Montserrat"/>
              <a:cs typeface="Montserrat"/>
              <a:sym typeface="Montserrat"/>
            </a:endParaRPr>
          </a:p>
          <a:p>
            <a:pPr indent="0" lvl="0" marL="0" rtl="0" algn="just">
              <a:lnSpc>
                <a:spcPct val="200000"/>
              </a:lnSpc>
              <a:spcBef>
                <a:spcPts val="0"/>
              </a:spcBef>
              <a:spcAft>
                <a:spcPts val="0"/>
              </a:spcAft>
              <a:buNone/>
            </a:pPr>
            <a:r>
              <a:rPr b="1" lang="en-US" sz="3000">
                <a:solidFill>
                  <a:schemeClr val="dk2"/>
                </a:solidFill>
                <a:latin typeface="Montserrat"/>
                <a:ea typeface="Montserrat"/>
                <a:cs typeface="Montserrat"/>
                <a:sym typeface="Montserrat"/>
              </a:rPr>
              <a:t>Legend (Chú giải)</a:t>
            </a:r>
            <a:r>
              <a:rPr lang="en-US" sz="3000">
                <a:solidFill>
                  <a:schemeClr val="dk1"/>
                </a:solidFill>
                <a:latin typeface="Montserrat"/>
                <a:ea typeface="Montserrat"/>
                <a:cs typeface="Montserrat"/>
                <a:sym typeface="Montserrat"/>
              </a:rPr>
              <a:t>:</a:t>
            </a:r>
            <a:r>
              <a:rPr b="1" lang="en-US" sz="3000">
                <a:solidFill>
                  <a:schemeClr val="dk1"/>
                </a:solidFill>
                <a:latin typeface="Montserrat"/>
                <a:ea typeface="Montserrat"/>
                <a:cs typeface="Montserrat"/>
                <a:sym typeface="Montserrat"/>
              </a:rPr>
              <a:t> </a:t>
            </a:r>
            <a:r>
              <a:rPr lang="en-US" sz="3000">
                <a:solidFill>
                  <a:schemeClr val="dk1"/>
                </a:solidFill>
                <a:latin typeface="Montserrat"/>
                <a:ea typeface="Montserrat"/>
                <a:cs typeface="Montserrat"/>
                <a:sym typeface="Montserrat"/>
              </a:rPr>
              <a:t>DimDate.YearNumber.</a:t>
            </a:r>
            <a:endParaRPr sz="3000">
              <a:solidFill>
                <a:schemeClr val="dk1"/>
              </a:solidFill>
              <a:latin typeface="Montserrat"/>
              <a:ea typeface="Montserrat"/>
              <a:cs typeface="Montserrat"/>
              <a:sym typeface="Montserrat"/>
            </a:endParaRPr>
          </a:p>
          <a:p>
            <a:pPr indent="0" lvl="0" marL="0" rtl="0" algn="just">
              <a:lnSpc>
                <a:spcPct val="200000"/>
              </a:lnSpc>
              <a:spcBef>
                <a:spcPts val="0"/>
              </a:spcBef>
              <a:spcAft>
                <a:spcPts val="0"/>
              </a:spcAft>
              <a:buNone/>
            </a:pPr>
            <a:r>
              <a:rPr b="1" lang="en-US" sz="3000">
                <a:solidFill>
                  <a:schemeClr val="dk2"/>
                </a:solidFill>
                <a:latin typeface="Montserrat"/>
                <a:ea typeface="Montserrat"/>
                <a:cs typeface="Montserrat"/>
                <a:sym typeface="Montserrat"/>
              </a:rPr>
              <a:t>KPI chính</a:t>
            </a:r>
            <a:r>
              <a:rPr lang="en-US" sz="3000">
                <a:solidFill>
                  <a:schemeClr val="dk1"/>
                </a:solidFill>
                <a:latin typeface="Montserrat"/>
                <a:ea typeface="Montserrat"/>
                <a:cs typeface="Montserrat"/>
                <a:sym typeface="Montserrat"/>
              </a:rPr>
              <a:t>:</a:t>
            </a:r>
            <a:r>
              <a:rPr b="1" lang="en-US" sz="3000">
                <a:solidFill>
                  <a:schemeClr val="dk1"/>
                </a:solidFill>
                <a:latin typeface="Montserrat"/>
                <a:ea typeface="Montserrat"/>
                <a:cs typeface="Montserrat"/>
                <a:sym typeface="Montserrat"/>
              </a:rPr>
              <a:t> </a:t>
            </a:r>
            <a:r>
              <a:rPr lang="en-US" sz="3000">
                <a:solidFill>
                  <a:schemeClr val="dk1"/>
                </a:solidFill>
                <a:latin typeface="Montserrat"/>
                <a:ea typeface="Montserrat"/>
                <a:cs typeface="Montserrat"/>
                <a:sym typeface="Montserrat"/>
              </a:rPr>
              <a:t>Tốc độ tăng trưởng so với quá khứ.</a:t>
            </a:r>
            <a:endParaRPr sz="30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11"/>
                                        </p:tgtEl>
                                        <p:attrNameLst>
                                          <p:attrName>style.visibility</p:attrName>
                                        </p:attrNameLst>
                                      </p:cBhvr>
                                      <p:to>
                                        <p:strVal val="visible"/>
                                      </p:to>
                                    </p:set>
                                    <p:anim calcmode="lin" valueType="num">
                                      <p:cBhvr additive="base">
                                        <p:cTn dur="500"/>
                                        <p:tgtEl>
                                          <p:spTgt spid="711"/>
                                        </p:tgtEl>
                                        <p:attrNameLst>
                                          <p:attrName>ppt_w</p:attrName>
                                        </p:attrNameLst>
                                      </p:cBhvr>
                                      <p:tavLst>
                                        <p:tav fmla="" tm="0">
                                          <p:val>
                                            <p:strVal val="0"/>
                                          </p:val>
                                        </p:tav>
                                        <p:tav fmla="" tm="100000">
                                          <p:val>
                                            <p:strVal val="#ppt_w"/>
                                          </p:val>
                                        </p:tav>
                                      </p:tavLst>
                                    </p:anim>
                                    <p:anim calcmode="lin" valueType="num">
                                      <p:cBhvr additive="base">
                                        <p:cTn dur="500"/>
                                        <p:tgtEl>
                                          <p:spTgt spid="71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9801c9462_1_33"/>
          <p:cNvSpPr txBox="1"/>
          <p:nvPr/>
        </p:nvSpPr>
        <p:spPr>
          <a:xfrm>
            <a:off x="5235553" y="590360"/>
            <a:ext cx="7816800" cy="985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6400">
                <a:solidFill>
                  <a:schemeClr val="dk2"/>
                </a:solidFill>
                <a:latin typeface="Montserrat"/>
                <a:ea typeface="Montserrat"/>
                <a:cs typeface="Montserrat"/>
                <a:sym typeface="Montserrat"/>
              </a:rPr>
              <a:t>Phân tích Insights</a:t>
            </a:r>
            <a:endParaRPr b="1" i="0" sz="6400" u="none" cap="none" strike="noStrike">
              <a:solidFill>
                <a:schemeClr val="dk2"/>
              </a:solidFill>
              <a:latin typeface="Montserrat"/>
              <a:ea typeface="Montserrat"/>
              <a:cs typeface="Montserrat"/>
              <a:sym typeface="Montserrat"/>
            </a:endParaRPr>
          </a:p>
        </p:txBody>
      </p:sp>
      <p:sp>
        <p:nvSpPr>
          <p:cNvPr id="718" name="Google Shape;718;g3a9801c9462_1_33"/>
          <p:cNvSpPr txBox="1"/>
          <p:nvPr/>
        </p:nvSpPr>
        <p:spPr>
          <a:xfrm>
            <a:off x="9038750" y="2642300"/>
            <a:ext cx="8763600" cy="775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2700">
                <a:solidFill>
                  <a:schemeClr val="dk2"/>
                </a:solidFill>
                <a:latin typeface="Montserrat"/>
                <a:ea typeface="Montserrat"/>
                <a:cs typeface="Montserrat"/>
                <a:sym typeface="Montserrat"/>
              </a:rPr>
              <a:t>Tính ổn định (Volatility Analysis):</a:t>
            </a:r>
            <a:endParaRPr sz="2700">
              <a:solidFill>
                <a:schemeClr val="dk1"/>
              </a:solidFill>
              <a:latin typeface="Montserrat"/>
              <a:ea typeface="Montserrat"/>
              <a:cs typeface="Montserrat"/>
              <a:sym typeface="Montserrat"/>
            </a:endParaRPr>
          </a:p>
          <a:p>
            <a:pPr indent="-400050" lvl="0" marL="457200" rtl="0" algn="l">
              <a:lnSpc>
                <a:spcPct val="150000"/>
              </a:lnSpc>
              <a:spcBef>
                <a:spcPts val="0"/>
              </a:spcBef>
              <a:spcAft>
                <a:spcPts val="0"/>
              </a:spcAft>
              <a:buClr>
                <a:schemeClr val="dk1"/>
              </a:buClr>
              <a:buSzPts val="2700"/>
              <a:buFont typeface="Montserrat"/>
              <a:buChar char="●"/>
            </a:pPr>
            <a:r>
              <a:rPr lang="en-US" sz="2700">
                <a:solidFill>
                  <a:schemeClr val="dk1"/>
                </a:solidFill>
                <a:latin typeface="Montserrat"/>
                <a:ea typeface="Montserrat"/>
                <a:cs typeface="Montserrat"/>
                <a:sym typeface="Montserrat"/>
              </a:rPr>
              <a:t>Biểu đồ năm 2017 thể hiện trạng thái tăng trưởng không ổn định</a:t>
            </a:r>
            <a:endParaRPr sz="2700">
              <a:solidFill>
                <a:schemeClr val="dk1"/>
              </a:solidFill>
              <a:latin typeface="Montserrat"/>
              <a:ea typeface="Montserrat"/>
              <a:cs typeface="Montserrat"/>
              <a:sym typeface="Montserrat"/>
            </a:endParaRPr>
          </a:p>
          <a:p>
            <a:pPr indent="-400050" lvl="0" marL="457200" rtl="0" algn="l">
              <a:lnSpc>
                <a:spcPct val="150000"/>
              </a:lnSpc>
              <a:spcBef>
                <a:spcPts val="0"/>
              </a:spcBef>
              <a:spcAft>
                <a:spcPts val="0"/>
              </a:spcAft>
              <a:buClr>
                <a:schemeClr val="dk1"/>
              </a:buClr>
              <a:buSzPts val="2700"/>
              <a:buFont typeface="Montserrat"/>
              <a:buChar char="●"/>
            </a:pPr>
            <a:r>
              <a:rPr lang="en-US" sz="2700">
                <a:solidFill>
                  <a:schemeClr val="dk1"/>
                </a:solidFill>
                <a:latin typeface="Montserrat"/>
                <a:ea typeface="Montserrat"/>
                <a:cs typeface="Montserrat"/>
                <a:sym typeface="Montserrat"/>
              </a:rPr>
              <a:t>Tháng 4 cực đỉnh -&gt; Tháng 5 chạm đáy -&gt; Tháng 6 thấp -&gt; Tháng 10 vọt lên.</a:t>
            </a:r>
            <a:endParaRPr sz="2700">
              <a:solidFill>
                <a:schemeClr val="dk1"/>
              </a:solidFill>
              <a:latin typeface="Montserrat"/>
              <a:ea typeface="Montserrat"/>
              <a:cs typeface="Montserrat"/>
              <a:sym typeface="Montserrat"/>
            </a:endParaRPr>
          </a:p>
          <a:p>
            <a:pPr indent="0" lvl="0" marL="0" rtl="0" algn="l">
              <a:lnSpc>
                <a:spcPct val="150000"/>
              </a:lnSpc>
              <a:spcBef>
                <a:spcPts val="0"/>
              </a:spcBef>
              <a:spcAft>
                <a:spcPts val="0"/>
              </a:spcAft>
              <a:buNone/>
            </a:pPr>
            <a:r>
              <a:rPr b="1" lang="en-US" sz="2700">
                <a:solidFill>
                  <a:schemeClr val="accent2"/>
                </a:solidFill>
                <a:latin typeface="Montserrat"/>
                <a:ea typeface="Montserrat"/>
                <a:cs typeface="Montserrat"/>
                <a:sym typeface="Montserrat"/>
              </a:rPr>
              <a:t>Nghịch lý tăng trưởng (The Growth Paradox):</a:t>
            </a:r>
            <a:endParaRPr sz="2700">
              <a:solidFill>
                <a:schemeClr val="dk1"/>
              </a:solidFill>
              <a:latin typeface="Montserrat"/>
              <a:ea typeface="Montserrat"/>
              <a:cs typeface="Montserrat"/>
              <a:sym typeface="Montserrat"/>
            </a:endParaRPr>
          </a:p>
          <a:p>
            <a:pPr indent="-400050" lvl="0" marL="457200" rtl="0" algn="l">
              <a:lnSpc>
                <a:spcPct val="150000"/>
              </a:lnSpc>
              <a:spcBef>
                <a:spcPts val="0"/>
              </a:spcBef>
              <a:spcAft>
                <a:spcPts val="0"/>
              </a:spcAft>
              <a:buClr>
                <a:schemeClr val="dk1"/>
              </a:buClr>
              <a:buSzPts val="2700"/>
              <a:buFont typeface="Montserrat"/>
              <a:buChar char="●"/>
            </a:pPr>
            <a:r>
              <a:rPr lang="en-US" sz="2700">
                <a:solidFill>
                  <a:schemeClr val="dk1"/>
                </a:solidFill>
                <a:latin typeface="Montserrat"/>
                <a:ea typeface="Montserrat"/>
                <a:cs typeface="Montserrat"/>
                <a:sym typeface="Montserrat"/>
              </a:rPr>
              <a:t>Tháng 4/2017 (Màu tím - The Peak)</a:t>
            </a:r>
            <a:endParaRPr sz="2700">
              <a:solidFill>
                <a:schemeClr val="dk1"/>
              </a:solidFill>
              <a:latin typeface="Montserrat"/>
              <a:ea typeface="Montserrat"/>
              <a:cs typeface="Montserrat"/>
              <a:sym typeface="Montserrat"/>
            </a:endParaRPr>
          </a:p>
          <a:p>
            <a:pPr indent="-400050" lvl="0" marL="457200" rtl="0" algn="l">
              <a:lnSpc>
                <a:spcPct val="150000"/>
              </a:lnSpc>
              <a:spcBef>
                <a:spcPts val="0"/>
              </a:spcBef>
              <a:spcAft>
                <a:spcPts val="0"/>
              </a:spcAft>
              <a:buClr>
                <a:schemeClr val="dk1"/>
              </a:buClr>
              <a:buSzPts val="2700"/>
              <a:buFont typeface="Montserrat"/>
              <a:buChar char="●"/>
            </a:pPr>
            <a:r>
              <a:rPr lang="en-US" sz="2700">
                <a:solidFill>
                  <a:schemeClr val="dk1"/>
                </a:solidFill>
                <a:latin typeface="Montserrat"/>
                <a:ea typeface="Montserrat"/>
                <a:cs typeface="Montserrat"/>
                <a:sym typeface="Montserrat"/>
              </a:rPr>
              <a:t>Tháng 5/2017 (Màu tím - The Crash)</a:t>
            </a:r>
            <a:endParaRPr sz="2700">
              <a:solidFill>
                <a:schemeClr val="dk1"/>
              </a:solidFill>
              <a:latin typeface="Montserrat"/>
              <a:ea typeface="Montserrat"/>
              <a:cs typeface="Montserrat"/>
              <a:sym typeface="Montserrat"/>
            </a:endParaRPr>
          </a:p>
          <a:p>
            <a:pPr indent="0" lvl="0" marL="0" rtl="0" algn="l">
              <a:lnSpc>
                <a:spcPct val="150000"/>
              </a:lnSpc>
              <a:spcBef>
                <a:spcPts val="0"/>
              </a:spcBef>
              <a:spcAft>
                <a:spcPts val="0"/>
              </a:spcAft>
              <a:buNone/>
            </a:pPr>
            <a:r>
              <a:rPr b="1" lang="en-US" sz="2700">
                <a:solidFill>
                  <a:srgbClr val="188038"/>
                </a:solidFill>
                <a:latin typeface="Montserrat"/>
                <a:ea typeface="Montserrat"/>
                <a:cs typeface="Montserrat"/>
                <a:sym typeface="Montserrat"/>
              </a:rPr>
              <a:t>Hành động:</a:t>
            </a:r>
            <a:r>
              <a:rPr lang="en-US" sz="2700">
                <a:solidFill>
                  <a:schemeClr val="dk1"/>
                </a:solidFill>
                <a:latin typeface="Montserrat"/>
                <a:ea typeface="Montserrat"/>
                <a:cs typeface="Montserrat"/>
                <a:sym typeface="Montserrat"/>
              </a:rPr>
              <a:t> </a:t>
            </a:r>
            <a:endParaRPr sz="2700">
              <a:solidFill>
                <a:schemeClr val="dk1"/>
              </a:solidFill>
              <a:latin typeface="Montserrat"/>
              <a:ea typeface="Montserrat"/>
              <a:cs typeface="Montserrat"/>
              <a:sym typeface="Montserrat"/>
            </a:endParaRPr>
          </a:p>
          <a:p>
            <a:pPr indent="-400050" lvl="0" marL="457200" rtl="0" algn="l">
              <a:lnSpc>
                <a:spcPct val="150000"/>
              </a:lnSpc>
              <a:spcBef>
                <a:spcPts val="0"/>
              </a:spcBef>
              <a:spcAft>
                <a:spcPts val="0"/>
              </a:spcAft>
              <a:buClr>
                <a:schemeClr val="dk1"/>
              </a:buClr>
              <a:buSzPts val="2700"/>
              <a:buFont typeface="Montserrat"/>
              <a:buChar char="●"/>
            </a:pPr>
            <a:r>
              <a:rPr lang="en-US" sz="2700">
                <a:solidFill>
                  <a:schemeClr val="dk1"/>
                </a:solidFill>
                <a:latin typeface="Montserrat"/>
                <a:ea typeface="Montserrat"/>
                <a:cs typeface="Montserrat"/>
                <a:sym typeface="Montserrat"/>
              </a:rPr>
              <a:t>Audit </a:t>
            </a:r>
            <a:r>
              <a:rPr b="1" lang="en-US" sz="2700">
                <a:solidFill>
                  <a:schemeClr val="dk1"/>
                </a:solidFill>
                <a:latin typeface="Montserrat"/>
                <a:ea typeface="Montserrat"/>
                <a:cs typeface="Montserrat"/>
                <a:sym typeface="Montserrat"/>
              </a:rPr>
              <a:t>Cú sốc </a:t>
            </a:r>
            <a:r>
              <a:rPr lang="en-US" sz="2700">
                <a:solidFill>
                  <a:schemeClr val="dk1"/>
                </a:solidFill>
                <a:latin typeface="Montserrat"/>
                <a:ea typeface="Montserrat"/>
                <a:cs typeface="Montserrat"/>
                <a:sym typeface="Montserrat"/>
              </a:rPr>
              <a:t>tháng 4.</a:t>
            </a:r>
            <a:endParaRPr sz="2200">
              <a:solidFill>
                <a:schemeClr val="dk1"/>
              </a:solidFill>
              <a:latin typeface="Montserrat"/>
              <a:ea typeface="Montserrat"/>
              <a:cs typeface="Montserrat"/>
              <a:sym typeface="Montserrat"/>
            </a:endParaRPr>
          </a:p>
        </p:txBody>
      </p:sp>
      <p:pic>
        <p:nvPicPr>
          <p:cNvPr id="719" name="Google Shape;719;g3a9801c9462_1_33"/>
          <p:cNvPicPr preferRelativeResize="0"/>
          <p:nvPr/>
        </p:nvPicPr>
        <p:blipFill>
          <a:blip r:embed="rId3">
            <a:alphaModFix/>
          </a:blip>
          <a:stretch>
            <a:fillRect/>
          </a:stretch>
        </p:blipFill>
        <p:spPr>
          <a:xfrm>
            <a:off x="0" y="3221198"/>
            <a:ext cx="8547775" cy="3768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17"/>
                                        </p:tgtEl>
                                        <p:attrNameLst>
                                          <p:attrName>style.visibility</p:attrName>
                                        </p:attrNameLst>
                                      </p:cBhvr>
                                      <p:to>
                                        <p:strVal val="visible"/>
                                      </p:to>
                                    </p:set>
                                    <p:anim calcmode="lin" valueType="num">
                                      <p:cBhvr additive="base">
                                        <p:cTn dur="500"/>
                                        <p:tgtEl>
                                          <p:spTgt spid="717"/>
                                        </p:tgtEl>
                                        <p:attrNameLst>
                                          <p:attrName>ppt_w</p:attrName>
                                        </p:attrNameLst>
                                      </p:cBhvr>
                                      <p:tavLst>
                                        <p:tav fmla="" tm="0">
                                          <p:val>
                                            <p:strVal val="0"/>
                                          </p:val>
                                        </p:tav>
                                        <p:tav fmla="" tm="100000">
                                          <p:val>
                                            <p:strVal val="#ppt_w"/>
                                          </p:val>
                                        </p:tav>
                                      </p:tavLst>
                                    </p:anim>
                                    <p:anim calcmode="lin" valueType="num">
                                      <p:cBhvr additive="base">
                                        <p:cTn dur="500"/>
                                        <p:tgtEl>
                                          <p:spTgt spid="71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grpSp>
        <p:nvGrpSpPr>
          <p:cNvPr id="724" name="Google Shape;724;g3a999e66e07_0_0"/>
          <p:cNvGrpSpPr/>
          <p:nvPr/>
        </p:nvGrpSpPr>
        <p:grpSpPr>
          <a:xfrm>
            <a:off x="12" y="8188650"/>
            <a:ext cx="9591806" cy="2098356"/>
            <a:chOff x="0" y="-38100"/>
            <a:chExt cx="3214520" cy="703226"/>
          </a:xfrm>
        </p:grpSpPr>
        <p:sp>
          <p:nvSpPr>
            <p:cNvPr id="725" name="Google Shape;725;g3a999e66e07_0_0"/>
            <p:cNvSpPr/>
            <p:nvPr/>
          </p:nvSpPr>
          <p:spPr>
            <a:xfrm>
              <a:off x="0" y="0"/>
              <a:ext cx="3214520" cy="665126"/>
            </a:xfrm>
            <a:custGeom>
              <a:rect b="b" l="l" r="r" t="t"/>
              <a:pathLst>
                <a:path extrusionOk="0" h="665126" w="3214520">
                  <a:moveTo>
                    <a:pt x="0" y="0"/>
                  </a:moveTo>
                  <a:lnTo>
                    <a:pt x="3214520" y="0"/>
                  </a:lnTo>
                  <a:lnTo>
                    <a:pt x="3214520" y="665126"/>
                  </a:lnTo>
                  <a:lnTo>
                    <a:pt x="0" y="665126"/>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g3a999e66e07_0_0"/>
            <p:cNvSpPr txBox="1"/>
            <p:nvPr/>
          </p:nvSpPr>
          <p:spPr>
            <a:xfrm>
              <a:off x="0" y="-38100"/>
              <a:ext cx="3214500" cy="7032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727" name="Google Shape;727;g3a999e66e07_0_0"/>
          <p:cNvPicPr preferRelativeResize="0"/>
          <p:nvPr/>
        </p:nvPicPr>
        <p:blipFill rotWithShape="1">
          <a:blip r:embed="rId3">
            <a:alphaModFix/>
          </a:blip>
          <a:srcRect b="0" l="0" r="0" t="0"/>
          <a:stretch/>
        </p:blipFill>
        <p:spPr>
          <a:xfrm>
            <a:off x="8406722" y="9532150"/>
            <a:ext cx="7333203" cy="452225"/>
          </a:xfrm>
          <a:prstGeom prst="rect">
            <a:avLst/>
          </a:prstGeom>
          <a:noFill/>
          <a:ln>
            <a:noFill/>
          </a:ln>
        </p:spPr>
      </p:pic>
      <p:grpSp>
        <p:nvGrpSpPr>
          <p:cNvPr id="728" name="Google Shape;728;g3a999e66e07_0_0"/>
          <p:cNvGrpSpPr/>
          <p:nvPr/>
        </p:nvGrpSpPr>
        <p:grpSpPr>
          <a:xfrm>
            <a:off x="0" y="-113687"/>
            <a:ext cx="4724973" cy="1142377"/>
            <a:chOff x="0" y="-38100"/>
            <a:chExt cx="1583489" cy="382847"/>
          </a:xfrm>
        </p:grpSpPr>
        <p:sp>
          <p:nvSpPr>
            <p:cNvPr id="729" name="Google Shape;729;g3a999e66e07_0_0"/>
            <p:cNvSpPr/>
            <p:nvPr/>
          </p:nvSpPr>
          <p:spPr>
            <a:xfrm>
              <a:off x="0" y="0"/>
              <a:ext cx="1583489" cy="344747"/>
            </a:xfrm>
            <a:custGeom>
              <a:rect b="b" l="l" r="r" t="t"/>
              <a:pathLst>
                <a:path extrusionOk="0" h="344747" w="1583489">
                  <a:moveTo>
                    <a:pt x="0" y="0"/>
                  </a:moveTo>
                  <a:lnTo>
                    <a:pt x="1583489" y="0"/>
                  </a:lnTo>
                  <a:lnTo>
                    <a:pt x="1583489" y="344747"/>
                  </a:lnTo>
                  <a:lnTo>
                    <a:pt x="0" y="344747"/>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g3a999e66e07_0_0"/>
            <p:cNvSpPr txBox="1"/>
            <p:nvPr/>
          </p:nvSpPr>
          <p:spPr>
            <a:xfrm>
              <a:off x="0" y="-38100"/>
              <a:ext cx="1583400" cy="3828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731" name="Google Shape;731;g3a999e66e07_0_0"/>
          <p:cNvSpPr txBox="1"/>
          <p:nvPr/>
        </p:nvSpPr>
        <p:spPr>
          <a:xfrm>
            <a:off x="5123152" y="524375"/>
            <a:ext cx="11403900" cy="113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800"/>
              <a:buFont typeface="Arial"/>
              <a:buNone/>
            </a:pPr>
            <a:r>
              <a:rPr b="1" lang="en-US" sz="7400">
                <a:solidFill>
                  <a:schemeClr val="accent5"/>
                </a:solidFill>
                <a:latin typeface="Montserrat"/>
                <a:ea typeface="Montserrat"/>
                <a:cs typeface="Montserrat"/>
                <a:sym typeface="Montserrat"/>
              </a:rPr>
              <a:t>Ứng dụng AI phân tích</a:t>
            </a:r>
            <a:endParaRPr b="0" i="0" sz="100" u="none" cap="none" strike="noStrike">
              <a:solidFill>
                <a:schemeClr val="accent5"/>
              </a:solidFill>
              <a:latin typeface="Arial"/>
              <a:ea typeface="Arial"/>
              <a:cs typeface="Arial"/>
              <a:sym typeface="Arial"/>
            </a:endParaRPr>
          </a:p>
        </p:txBody>
      </p:sp>
      <p:pic>
        <p:nvPicPr>
          <p:cNvPr id="732" name="Google Shape;732;g3a999e66e07_0_0"/>
          <p:cNvPicPr preferRelativeResize="0"/>
          <p:nvPr/>
        </p:nvPicPr>
        <p:blipFill rotWithShape="1">
          <a:blip r:embed="rId4">
            <a:alphaModFix/>
          </a:blip>
          <a:srcRect b="0" l="0" r="0" t="0"/>
          <a:stretch/>
        </p:blipFill>
        <p:spPr>
          <a:xfrm flipH="1">
            <a:off x="819150" y="524365"/>
            <a:ext cx="423675" cy="2905200"/>
          </a:xfrm>
          <a:prstGeom prst="rect">
            <a:avLst/>
          </a:prstGeom>
          <a:noFill/>
          <a:ln>
            <a:noFill/>
          </a:ln>
        </p:spPr>
      </p:pic>
      <p:pic>
        <p:nvPicPr>
          <p:cNvPr id="733" name="Google Shape;733;g3a999e66e07_0_0"/>
          <p:cNvPicPr preferRelativeResize="0"/>
          <p:nvPr/>
        </p:nvPicPr>
        <p:blipFill>
          <a:blip r:embed="rId5">
            <a:alphaModFix/>
          </a:blip>
          <a:stretch>
            <a:fillRect/>
          </a:stretch>
        </p:blipFill>
        <p:spPr>
          <a:xfrm>
            <a:off x="3527563" y="2487625"/>
            <a:ext cx="11309082" cy="62203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grpSp>
        <p:nvGrpSpPr>
          <p:cNvPr id="738" name="Google Shape;738;g3a9801c9462_1_40"/>
          <p:cNvGrpSpPr/>
          <p:nvPr/>
        </p:nvGrpSpPr>
        <p:grpSpPr>
          <a:xfrm>
            <a:off x="6637004" y="9802720"/>
            <a:ext cx="11650894" cy="887552"/>
            <a:chOff x="0" y="-38100"/>
            <a:chExt cx="3904586" cy="297447"/>
          </a:xfrm>
        </p:grpSpPr>
        <p:sp>
          <p:nvSpPr>
            <p:cNvPr id="739" name="Google Shape;739;g3a9801c9462_1_40"/>
            <p:cNvSpPr/>
            <p:nvPr/>
          </p:nvSpPr>
          <p:spPr>
            <a:xfrm>
              <a:off x="0" y="0"/>
              <a:ext cx="3904586" cy="259347"/>
            </a:xfrm>
            <a:custGeom>
              <a:rect b="b" l="l" r="r" t="t"/>
              <a:pathLst>
                <a:path extrusionOk="0" h="259347" w="3904586">
                  <a:moveTo>
                    <a:pt x="0" y="0"/>
                  </a:moveTo>
                  <a:lnTo>
                    <a:pt x="3904586" y="0"/>
                  </a:lnTo>
                  <a:lnTo>
                    <a:pt x="3904586" y="259347"/>
                  </a:lnTo>
                  <a:lnTo>
                    <a:pt x="0" y="259347"/>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0" name="Google Shape;740;g3a9801c9462_1_40"/>
            <p:cNvSpPr txBox="1"/>
            <p:nvPr/>
          </p:nvSpPr>
          <p:spPr>
            <a:xfrm>
              <a:off x="0" y="-38100"/>
              <a:ext cx="3904500" cy="297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741" name="Google Shape;741;g3a9801c9462_1_40"/>
          <p:cNvPicPr preferRelativeResize="0"/>
          <p:nvPr/>
        </p:nvPicPr>
        <p:blipFill rotWithShape="1">
          <a:blip r:embed="rId3">
            <a:alphaModFix/>
          </a:blip>
          <a:srcRect b="0" l="0" r="0" t="0"/>
          <a:stretch/>
        </p:blipFill>
        <p:spPr>
          <a:xfrm>
            <a:off x="5891775" y="9696640"/>
            <a:ext cx="7332975" cy="452200"/>
          </a:xfrm>
          <a:prstGeom prst="rect">
            <a:avLst/>
          </a:prstGeom>
          <a:noFill/>
          <a:ln>
            <a:noFill/>
          </a:ln>
        </p:spPr>
      </p:pic>
      <p:pic>
        <p:nvPicPr>
          <p:cNvPr id="742" name="Google Shape;742;g3a9801c9462_1_40"/>
          <p:cNvPicPr preferRelativeResize="0"/>
          <p:nvPr/>
        </p:nvPicPr>
        <p:blipFill rotWithShape="1">
          <a:blip r:embed="rId4">
            <a:alphaModFix/>
          </a:blip>
          <a:srcRect b="0" l="0" r="0" t="0"/>
          <a:stretch/>
        </p:blipFill>
        <p:spPr>
          <a:xfrm>
            <a:off x="-200150" y="9225993"/>
            <a:ext cx="1028675" cy="1077350"/>
          </a:xfrm>
          <a:prstGeom prst="rect">
            <a:avLst/>
          </a:prstGeom>
          <a:noFill/>
          <a:ln>
            <a:noFill/>
          </a:ln>
        </p:spPr>
      </p:pic>
      <p:sp>
        <p:nvSpPr>
          <p:cNvPr id="743" name="Google Shape;743;g3a9801c9462_1_40"/>
          <p:cNvSpPr txBox="1"/>
          <p:nvPr/>
        </p:nvSpPr>
        <p:spPr>
          <a:xfrm>
            <a:off x="3025913" y="711000"/>
            <a:ext cx="13064700" cy="1286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3800">
                <a:solidFill>
                  <a:schemeClr val="dk2"/>
                </a:solidFill>
                <a:latin typeface="Montserrat"/>
                <a:ea typeface="Montserrat"/>
                <a:cs typeface="Montserrat"/>
                <a:sym typeface="Montserrat"/>
              </a:rPr>
              <a:t>Kịch bản 4: Doanh thu theo địa lý </a:t>
            </a:r>
            <a:endParaRPr b="1" sz="3800">
              <a:solidFill>
                <a:schemeClr val="dk2"/>
              </a:solidFill>
              <a:latin typeface="Montserrat"/>
              <a:ea typeface="Montserrat"/>
              <a:cs typeface="Montserrat"/>
              <a:sym typeface="Montserrat"/>
            </a:endParaRPr>
          </a:p>
          <a:p>
            <a:pPr indent="0" lvl="0" marL="0" marR="0" rtl="0" algn="ctr">
              <a:lnSpc>
                <a:spcPct val="120000"/>
              </a:lnSpc>
              <a:spcBef>
                <a:spcPts val="0"/>
              </a:spcBef>
              <a:spcAft>
                <a:spcPts val="0"/>
              </a:spcAft>
              <a:buClr>
                <a:srgbClr val="000000"/>
              </a:buClr>
              <a:buSzPts val="7200"/>
              <a:buFont typeface="Arial"/>
              <a:buNone/>
            </a:pPr>
            <a:r>
              <a:rPr b="1" lang="en-US" sz="3800">
                <a:solidFill>
                  <a:schemeClr val="dk2"/>
                </a:solidFill>
                <a:latin typeface="Montserrat"/>
                <a:ea typeface="Montserrat"/>
                <a:cs typeface="Montserrat"/>
                <a:sym typeface="Montserrat"/>
              </a:rPr>
              <a:t>(Sales by Geography)</a:t>
            </a:r>
            <a:endParaRPr sz="3800"/>
          </a:p>
        </p:txBody>
      </p:sp>
      <p:pic>
        <p:nvPicPr>
          <p:cNvPr id="744" name="Google Shape;744;g3a9801c9462_1_40"/>
          <p:cNvPicPr preferRelativeResize="0"/>
          <p:nvPr/>
        </p:nvPicPr>
        <p:blipFill>
          <a:blip r:embed="rId5">
            <a:alphaModFix/>
          </a:blip>
          <a:stretch>
            <a:fillRect/>
          </a:stretch>
        </p:blipFill>
        <p:spPr>
          <a:xfrm>
            <a:off x="2934225" y="2577600"/>
            <a:ext cx="12495742" cy="6648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43"/>
                                        </p:tgtEl>
                                        <p:attrNameLst>
                                          <p:attrName>style.visibility</p:attrName>
                                        </p:attrNameLst>
                                      </p:cBhvr>
                                      <p:to>
                                        <p:strVal val="visible"/>
                                      </p:to>
                                    </p:set>
                                    <p:anim calcmode="lin" valueType="num">
                                      <p:cBhvr additive="base">
                                        <p:cTn dur="500"/>
                                        <p:tgtEl>
                                          <p:spTgt spid="743"/>
                                        </p:tgtEl>
                                        <p:attrNameLst>
                                          <p:attrName>ppt_w</p:attrName>
                                        </p:attrNameLst>
                                      </p:cBhvr>
                                      <p:tavLst>
                                        <p:tav fmla="" tm="0">
                                          <p:val>
                                            <p:strVal val="0"/>
                                          </p:val>
                                        </p:tav>
                                        <p:tav fmla="" tm="100000">
                                          <p:val>
                                            <p:strVal val="#ppt_w"/>
                                          </p:val>
                                        </p:tav>
                                      </p:tavLst>
                                    </p:anim>
                                    <p:anim calcmode="lin" valueType="num">
                                      <p:cBhvr additive="base">
                                        <p:cTn dur="500"/>
                                        <p:tgtEl>
                                          <p:spTgt spid="74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g3a9801c9462_1_50"/>
          <p:cNvSpPr txBox="1"/>
          <p:nvPr/>
        </p:nvSpPr>
        <p:spPr>
          <a:xfrm>
            <a:off x="4715999" y="474878"/>
            <a:ext cx="9949800" cy="11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7200">
                <a:solidFill>
                  <a:schemeClr val="dk2"/>
                </a:solidFill>
                <a:latin typeface="Montserrat"/>
                <a:ea typeface="Montserrat"/>
                <a:cs typeface="Montserrat"/>
                <a:sym typeface="Montserrat"/>
              </a:rPr>
              <a:t>Cấu hình kỹ thuật</a:t>
            </a:r>
            <a:endParaRPr b="1" i="0" sz="7200" u="none" cap="none" strike="noStrike">
              <a:solidFill>
                <a:schemeClr val="dk2"/>
              </a:solidFill>
              <a:latin typeface="Montserrat"/>
              <a:ea typeface="Montserrat"/>
              <a:cs typeface="Montserrat"/>
              <a:sym typeface="Montserrat"/>
            </a:endParaRPr>
          </a:p>
        </p:txBody>
      </p:sp>
      <p:sp>
        <p:nvSpPr>
          <p:cNvPr id="750" name="Google Shape;750;g3a9801c9462_1_50"/>
          <p:cNvSpPr txBox="1"/>
          <p:nvPr/>
        </p:nvSpPr>
        <p:spPr>
          <a:xfrm>
            <a:off x="1821300" y="2005775"/>
            <a:ext cx="14645400" cy="6561600"/>
          </a:xfrm>
          <a:prstGeom prst="rect">
            <a:avLst/>
          </a:prstGeom>
          <a:noFill/>
          <a:ln>
            <a:noFill/>
          </a:ln>
        </p:spPr>
        <p:txBody>
          <a:bodyPr anchorCtr="0" anchor="t" bIns="91425" lIns="91425" spcFirstLastPara="1" rIns="91425" wrap="square" tIns="91425">
            <a:noAutofit/>
          </a:bodyPr>
          <a:lstStyle/>
          <a:p>
            <a:pPr indent="0" lvl="0" marL="0" rtl="0" algn="just">
              <a:lnSpc>
                <a:spcPct val="200000"/>
              </a:lnSpc>
              <a:spcBef>
                <a:spcPts val="0"/>
              </a:spcBef>
              <a:spcAft>
                <a:spcPts val="0"/>
              </a:spcAft>
              <a:buNone/>
            </a:pPr>
            <a:r>
              <a:rPr b="1" lang="en-US" sz="3000">
                <a:solidFill>
                  <a:schemeClr val="dk2"/>
                </a:solidFill>
                <a:latin typeface="Montserrat"/>
                <a:ea typeface="Montserrat"/>
                <a:cs typeface="Montserrat"/>
                <a:sym typeface="Montserrat"/>
              </a:rPr>
              <a:t>Loại biểu đồ: </a:t>
            </a:r>
            <a:r>
              <a:rPr lang="en-US" sz="3000">
                <a:solidFill>
                  <a:schemeClr val="dk1"/>
                </a:solidFill>
                <a:latin typeface="Montserrat"/>
                <a:ea typeface="Montserrat"/>
                <a:cs typeface="Montserrat"/>
                <a:sym typeface="Montserrat"/>
              </a:rPr>
              <a:t>Filled Map (Bản đồ điền đầy) hoặc Map (Bản đồ bong bóng).</a:t>
            </a:r>
            <a:endParaRPr sz="3000">
              <a:solidFill>
                <a:schemeClr val="dk1"/>
              </a:solidFill>
              <a:latin typeface="Montserrat"/>
              <a:ea typeface="Montserrat"/>
              <a:cs typeface="Montserrat"/>
              <a:sym typeface="Montserrat"/>
            </a:endParaRPr>
          </a:p>
          <a:p>
            <a:pPr indent="0" lvl="0" marL="0" rtl="0" algn="just">
              <a:lnSpc>
                <a:spcPct val="200000"/>
              </a:lnSpc>
              <a:spcBef>
                <a:spcPts val="0"/>
              </a:spcBef>
              <a:spcAft>
                <a:spcPts val="0"/>
              </a:spcAft>
              <a:buNone/>
            </a:pPr>
            <a:r>
              <a:rPr b="1" lang="en-US" sz="3000">
                <a:solidFill>
                  <a:schemeClr val="dk2"/>
                </a:solidFill>
                <a:latin typeface="Montserrat"/>
                <a:ea typeface="Montserrat"/>
                <a:cs typeface="Montserrat"/>
                <a:sym typeface="Montserrat"/>
              </a:rPr>
              <a:t>Dữ liệu nguồn:</a:t>
            </a:r>
            <a:endParaRPr b="1" sz="3000">
              <a:solidFill>
                <a:schemeClr val="dk2"/>
              </a:solidFill>
              <a:latin typeface="Montserrat"/>
              <a:ea typeface="Montserrat"/>
              <a:cs typeface="Montserrat"/>
              <a:sym typeface="Montserrat"/>
            </a:endParaRPr>
          </a:p>
          <a:p>
            <a:pPr indent="-419100" lvl="0" marL="914400" rtl="0" algn="just">
              <a:lnSpc>
                <a:spcPct val="200000"/>
              </a:lnSpc>
              <a:spcBef>
                <a:spcPts val="0"/>
              </a:spcBef>
              <a:spcAft>
                <a:spcPts val="0"/>
              </a:spcAft>
              <a:buSzPts val="3000"/>
              <a:buFont typeface="Montserrat"/>
              <a:buChar char="●"/>
            </a:pPr>
            <a:r>
              <a:rPr b="1" lang="en-US" sz="3000">
                <a:solidFill>
                  <a:schemeClr val="dk2"/>
                </a:solidFill>
                <a:latin typeface="Montserrat"/>
                <a:ea typeface="Montserrat"/>
                <a:cs typeface="Montserrat"/>
                <a:sym typeface="Montserrat"/>
              </a:rPr>
              <a:t>Location: </a:t>
            </a:r>
            <a:r>
              <a:rPr lang="en-US" sz="3000">
                <a:solidFill>
                  <a:schemeClr val="dk1"/>
                </a:solidFill>
                <a:latin typeface="Montserrat"/>
                <a:ea typeface="Montserrat"/>
                <a:cs typeface="Montserrat"/>
                <a:sym typeface="Montserrat"/>
              </a:rPr>
              <a:t>DimCustomer.StateProvince hoặc Country.</a:t>
            </a:r>
            <a:endParaRPr sz="3000">
              <a:solidFill>
                <a:schemeClr val="dk1"/>
              </a:solidFill>
              <a:latin typeface="Montserrat"/>
              <a:ea typeface="Montserrat"/>
              <a:cs typeface="Montserrat"/>
              <a:sym typeface="Montserrat"/>
            </a:endParaRPr>
          </a:p>
          <a:p>
            <a:pPr indent="-419100" lvl="0" marL="914400" rtl="0" algn="just">
              <a:lnSpc>
                <a:spcPct val="200000"/>
              </a:lnSpc>
              <a:spcBef>
                <a:spcPts val="0"/>
              </a:spcBef>
              <a:spcAft>
                <a:spcPts val="0"/>
              </a:spcAft>
              <a:buSzPts val="3000"/>
              <a:buFont typeface="Montserrat"/>
              <a:buChar char="●"/>
            </a:pPr>
            <a:r>
              <a:rPr b="1" lang="en-US" sz="3000">
                <a:solidFill>
                  <a:schemeClr val="dk2"/>
                </a:solidFill>
                <a:latin typeface="Montserrat"/>
                <a:ea typeface="Montserrat"/>
                <a:cs typeface="Montserrat"/>
                <a:sym typeface="Montserrat"/>
              </a:rPr>
              <a:t>Bubble Size/Color Saturation: </a:t>
            </a:r>
            <a:r>
              <a:rPr lang="en-US" sz="3000">
                <a:solidFill>
                  <a:schemeClr val="dk1"/>
                </a:solidFill>
                <a:latin typeface="Montserrat"/>
                <a:ea typeface="Montserrat"/>
                <a:cs typeface="Montserrat"/>
                <a:sym typeface="Montserrat"/>
              </a:rPr>
              <a:t>FactSales.Sales.</a:t>
            </a:r>
            <a:endParaRPr sz="3000">
              <a:solidFill>
                <a:schemeClr val="dk1"/>
              </a:solidFill>
              <a:latin typeface="Montserrat"/>
              <a:ea typeface="Montserrat"/>
              <a:cs typeface="Montserrat"/>
              <a:sym typeface="Montserrat"/>
            </a:endParaRPr>
          </a:p>
          <a:p>
            <a:pPr indent="0" lvl="0" marL="0" rtl="0" algn="just">
              <a:lnSpc>
                <a:spcPct val="200000"/>
              </a:lnSpc>
              <a:spcBef>
                <a:spcPts val="0"/>
              </a:spcBef>
              <a:spcAft>
                <a:spcPts val="0"/>
              </a:spcAft>
              <a:buNone/>
            </a:pPr>
            <a:r>
              <a:rPr b="1" lang="en-US" sz="3000">
                <a:solidFill>
                  <a:schemeClr val="dk2"/>
                </a:solidFill>
                <a:latin typeface="Montserrat"/>
                <a:ea typeface="Montserrat"/>
                <a:cs typeface="Montserrat"/>
                <a:sym typeface="Montserrat"/>
              </a:rPr>
              <a:t>KPI chính: </a:t>
            </a:r>
            <a:r>
              <a:rPr lang="en-US" sz="3000">
                <a:solidFill>
                  <a:schemeClr val="dk1"/>
                </a:solidFill>
                <a:latin typeface="Montserrat"/>
                <a:ea typeface="Montserrat"/>
                <a:cs typeface="Montserrat"/>
                <a:sym typeface="Montserrat"/>
              </a:rPr>
              <a:t>Độ phủ thị trường và hiệu suất khu vực.</a:t>
            </a:r>
            <a:endParaRPr sz="30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49"/>
                                        </p:tgtEl>
                                        <p:attrNameLst>
                                          <p:attrName>style.visibility</p:attrName>
                                        </p:attrNameLst>
                                      </p:cBhvr>
                                      <p:to>
                                        <p:strVal val="visible"/>
                                      </p:to>
                                    </p:set>
                                    <p:anim calcmode="lin" valueType="num">
                                      <p:cBhvr additive="base">
                                        <p:cTn dur="500"/>
                                        <p:tgtEl>
                                          <p:spTgt spid="749"/>
                                        </p:tgtEl>
                                        <p:attrNameLst>
                                          <p:attrName>ppt_w</p:attrName>
                                        </p:attrNameLst>
                                      </p:cBhvr>
                                      <p:tavLst>
                                        <p:tav fmla="" tm="0">
                                          <p:val>
                                            <p:strVal val="0"/>
                                          </p:val>
                                        </p:tav>
                                        <p:tav fmla="" tm="100000">
                                          <p:val>
                                            <p:strVal val="#ppt_w"/>
                                          </p:val>
                                        </p:tav>
                                      </p:tavLst>
                                    </p:anim>
                                    <p:anim calcmode="lin" valueType="num">
                                      <p:cBhvr additive="base">
                                        <p:cTn dur="500"/>
                                        <p:tgtEl>
                                          <p:spTgt spid="74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g3a9801c9462_1_55"/>
          <p:cNvSpPr txBox="1"/>
          <p:nvPr/>
        </p:nvSpPr>
        <p:spPr>
          <a:xfrm>
            <a:off x="5235553" y="590360"/>
            <a:ext cx="7816800" cy="985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6400">
                <a:solidFill>
                  <a:schemeClr val="dk2"/>
                </a:solidFill>
                <a:latin typeface="Montserrat"/>
                <a:ea typeface="Montserrat"/>
                <a:cs typeface="Montserrat"/>
                <a:sym typeface="Montserrat"/>
              </a:rPr>
              <a:t>Phân tích Insights</a:t>
            </a:r>
            <a:endParaRPr b="1" i="0" sz="6400" u="none" cap="none" strike="noStrike">
              <a:solidFill>
                <a:schemeClr val="dk2"/>
              </a:solidFill>
              <a:latin typeface="Montserrat"/>
              <a:ea typeface="Montserrat"/>
              <a:cs typeface="Montserrat"/>
              <a:sym typeface="Montserrat"/>
            </a:endParaRPr>
          </a:p>
        </p:txBody>
      </p:sp>
      <p:sp>
        <p:nvSpPr>
          <p:cNvPr id="756" name="Google Shape;756;g3a9801c9462_1_55"/>
          <p:cNvSpPr txBox="1"/>
          <p:nvPr/>
        </p:nvSpPr>
        <p:spPr>
          <a:xfrm>
            <a:off x="688650" y="1810150"/>
            <a:ext cx="8258400" cy="775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000">
                <a:solidFill>
                  <a:schemeClr val="dk2"/>
                </a:solidFill>
                <a:latin typeface="Montserrat"/>
                <a:ea typeface="Montserrat"/>
                <a:cs typeface="Montserrat"/>
                <a:sym typeface="Montserrat"/>
              </a:rPr>
              <a:t>Cân bằng danh mục (Portfolio Balance)</a:t>
            </a:r>
            <a:r>
              <a:rPr b="1" lang="en-US" sz="3000">
                <a:solidFill>
                  <a:schemeClr val="dk2"/>
                </a:solidFill>
                <a:latin typeface="Montserrat"/>
                <a:ea typeface="Montserrat"/>
                <a:cs typeface="Montserrat"/>
                <a:sym typeface="Montserrat"/>
              </a:rPr>
              <a:t>:</a:t>
            </a:r>
            <a:r>
              <a:rPr lang="en-US" sz="3000">
                <a:solidFill>
                  <a:schemeClr val="dk1"/>
                </a:solidFill>
                <a:latin typeface="Montserrat"/>
                <a:ea typeface="Montserrat"/>
                <a:cs typeface="Montserrat"/>
                <a:sym typeface="Montserrat"/>
              </a:rPr>
              <a:t> </a:t>
            </a:r>
            <a:endParaRPr sz="3000">
              <a:solidFill>
                <a:schemeClr val="dk1"/>
              </a:solidFill>
              <a:latin typeface="Montserrat"/>
              <a:ea typeface="Montserrat"/>
              <a:cs typeface="Montserrat"/>
              <a:sym typeface="Montserrat"/>
            </a:endParaRPr>
          </a:p>
          <a:p>
            <a:pPr indent="-419100" lvl="0" marL="457200" rtl="0" algn="l">
              <a:lnSpc>
                <a:spcPct val="150000"/>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Cơ cấu doanh thu cân bằng</a:t>
            </a:r>
            <a:endParaRPr sz="3000">
              <a:solidFill>
                <a:schemeClr val="dk1"/>
              </a:solidFill>
              <a:latin typeface="Montserrat"/>
              <a:ea typeface="Montserrat"/>
              <a:cs typeface="Montserrat"/>
              <a:sym typeface="Montserrat"/>
            </a:endParaRPr>
          </a:p>
          <a:p>
            <a:pPr indent="-419100" lvl="0" marL="457200" rtl="0" algn="l">
              <a:lnSpc>
                <a:spcPct val="150000"/>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Không có danh mục nào qua vượt trội hay lép vế</a:t>
            </a:r>
            <a:endParaRPr sz="3000">
              <a:solidFill>
                <a:schemeClr val="dk1"/>
              </a:solidFill>
              <a:latin typeface="Montserrat"/>
              <a:ea typeface="Montserrat"/>
              <a:cs typeface="Montserrat"/>
              <a:sym typeface="Montserrat"/>
            </a:endParaRPr>
          </a:p>
          <a:p>
            <a:pPr indent="0" lvl="0" marL="0" rtl="0" algn="l">
              <a:lnSpc>
                <a:spcPct val="150000"/>
              </a:lnSpc>
              <a:spcBef>
                <a:spcPts val="0"/>
              </a:spcBef>
              <a:spcAft>
                <a:spcPts val="0"/>
              </a:spcAft>
              <a:buNone/>
            </a:pPr>
            <a:r>
              <a:rPr b="1" lang="en-US" sz="3000">
                <a:solidFill>
                  <a:schemeClr val="accent2"/>
                </a:solidFill>
                <a:latin typeface="Montserrat"/>
                <a:ea typeface="Montserrat"/>
                <a:cs typeface="Montserrat"/>
                <a:sym typeface="Montserrat"/>
              </a:rPr>
              <a:t>Nghịch lý doanh thu:</a:t>
            </a:r>
            <a:endParaRPr sz="3000">
              <a:solidFill>
                <a:schemeClr val="dk1"/>
              </a:solidFill>
              <a:latin typeface="Montserrat"/>
              <a:ea typeface="Montserrat"/>
              <a:cs typeface="Montserrat"/>
              <a:sym typeface="Montserrat"/>
            </a:endParaRPr>
          </a:p>
          <a:p>
            <a:pPr indent="-419100" lvl="0" marL="457200" rtl="0" algn="l">
              <a:lnSpc>
                <a:spcPct val="150000"/>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Furniture</a:t>
            </a:r>
            <a:endParaRPr sz="3000">
              <a:solidFill>
                <a:schemeClr val="dk1"/>
              </a:solidFill>
              <a:latin typeface="Montserrat"/>
              <a:ea typeface="Montserrat"/>
              <a:cs typeface="Montserrat"/>
              <a:sym typeface="Montserrat"/>
            </a:endParaRPr>
          </a:p>
          <a:p>
            <a:pPr indent="-419100" lvl="0" marL="457200" rtl="0" algn="l">
              <a:lnSpc>
                <a:spcPct val="150000"/>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Technology</a:t>
            </a:r>
            <a:endParaRPr sz="3000">
              <a:solidFill>
                <a:schemeClr val="dk1"/>
              </a:solidFill>
              <a:latin typeface="Montserrat"/>
              <a:ea typeface="Montserrat"/>
              <a:cs typeface="Montserrat"/>
              <a:sym typeface="Montserrat"/>
            </a:endParaRPr>
          </a:p>
          <a:p>
            <a:pPr indent="0" lvl="0" marL="0" rtl="0" algn="l">
              <a:lnSpc>
                <a:spcPct val="150000"/>
              </a:lnSpc>
              <a:spcBef>
                <a:spcPts val="0"/>
              </a:spcBef>
              <a:spcAft>
                <a:spcPts val="0"/>
              </a:spcAft>
              <a:buNone/>
            </a:pPr>
            <a:r>
              <a:rPr b="1" lang="en-US" sz="3000">
                <a:solidFill>
                  <a:srgbClr val="188038"/>
                </a:solidFill>
                <a:latin typeface="Montserrat"/>
                <a:ea typeface="Montserrat"/>
                <a:cs typeface="Montserrat"/>
                <a:sym typeface="Montserrat"/>
              </a:rPr>
              <a:t>Hành động:</a:t>
            </a:r>
            <a:r>
              <a:rPr lang="en-US" sz="3000">
                <a:solidFill>
                  <a:schemeClr val="dk1"/>
                </a:solidFill>
                <a:latin typeface="Montserrat"/>
                <a:ea typeface="Montserrat"/>
                <a:cs typeface="Montserrat"/>
                <a:sym typeface="Montserrat"/>
              </a:rPr>
              <a:t> </a:t>
            </a:r>
            <a:endParaRPr sz="3000">
              <a:solidFill>
                <a:schemeClr val="dk1"/>
              </a:solidFill>
              <a:latin typeface="Montserrat"/>
              <a:ea typeface="Montserrat"/>
              <a:cs typeface="Montserrat"/>
              <a:sym typeface="Montserrat"/>
            </a:endParaRPr>
          </a:p>
          <a:p>
            <a:pPr indent="-419100" lvl="0" marL="457200" rtl="0" algn="l">
              <a:lnSpc>
                <a:spcPct val="150000"/>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Tối ưu lợi nhuận</a:t>
            </a:r>
            <a:endParaRPr sz="3000">
              <a:solidFill>
                <a:schemeClr val="dk1"/>
              </a:solidFill>
              <a:latin typeface="Montserrat"/>
              <a:ea typeface="Montserrat"/>
              <a:cs typeface="Montserrat"/>
              <a:sym typeface="Montserrat"/>
            </a:endParaRPr>
          </a:p>
          <a:p>
            <a:pPr indent="-419100" lvl="0" marL="457200" rtl="0" algn="l">
              <a:lnSpc>
                <a:spcPct val="150000"/>
              </a:lnSpc>
              <a:spcBef>
                <a:spcPts val="0"/>
              </a:spcBef>
              <a:spcAft>
                <a:spcPts val="0"/>
              </a:spcAft>
              <a:buClr>
                <a:schemeClr val="dk1"/>
              </a:buClr>
              <a:buSzPts val="3000"/>
              <a:buFont typeface="Montserrat"/>
              <a:buChar char="●"/>
            </a:pPr>
            <a:r>
              <a:rPr lang="en-US" sz="3000">
                <a:solidFill>
                  <a:schemeClr val="dk1"/>
                </a:solidFill>
                <a:latin typeface="Montserrat"/>
                <a:ea typeface="Montserrat"/>
                <a:cs typeface="Montserrat"/>
                <a:sym typeface="Montserrat"/>
              </a:rPr>
              <a:t>Chiến lược Cross-sell</a:t>
            </a:r>
            <a:endParaRPr sz="3000">
              <a:solidFill>
                <a:schemeClr val="dk1"/>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2500">
              <a:solidFill>
                <a:schemeClr val="dk1"/>
              </a:solidFill>
              <a:latin typeface="Montserrat"/>
              <a:ea typeface="Montserrat"/>
              <a:cs typeface="Montserrat"/>
              <a:sym typeface="Montserrat"/>
            </a:endParaRPr>
          </a:p>
        </p:txBody>
      </p:sp>
      <p:pic>
        <p:nvPicPr>
          <p:cNvPr id="757" name="Google Shape;757;g3a9801c9462_1_55"/>
          <p:cNvPicPr preferRelativeResize="0"/>
          <p:nvPr/>
        </p:nvPicPr>
        <p:blipFill>
          <a:blip r:embed="rId3">
            <a:alphaModFix/>
          </a:blip>
          <a:stretch>
            <a:fillRect/>
          </a:stretch>
        </p:blipFill>
        <p:spPr>
          <a:xfrm>
            <a:off x="8947050" y="3200763"/>
            <a:ext cx="9340949" cy="4969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55"/>
                                        </p:tgtEl>
                                        <p:attrNameLst>
                                          <p:attrName>style.visibility</p:attrName>
                                        </p:attrNameLst>
                                      </p:cBhvr>
                                      <p:to>
                                        <p:strVal val="visible"/>
                                      </p:to>
                                    </p:set>
                                    <p:anim calcmode="lin" valueType="num">
                                      <p:cBhvr additive="base">
                                        <p:cTn dur="500"/>
                                        <p:tgtEl>
                                          <p:spTgt spid="755"/>
                                        </p:tgtEl>
                                        <p:attrNameLst>
                                          <p:attrName>ppt_w</p:attrName>
                                        </p:attrNameLst>
                                      </p:cBhvr>
                                      <p:tavLst>
                                        <p:tav fmla="" tm="0">
                                          <p:val>
                                            <p:strVal val="0"/>
                                          </p:val>
                                        </p:tav>
                                        <p:tav fmla="" tm="100000">
                                          <p:val>
                                            <p:strVal val="#ppt_w"/>
                                          </p:val>
                                        </p:tav>
                                      </p:tavLst>
                                    </p:anim>
                                    <p:anim calcmode="lin" valueType="num">
                                      <p:cBhvr additive="base">
                                        <p:cTn dur="500"/>
                                        <p:tgtEl>
                                          <p:spTgt spid="75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grpSp>
        <p:nvGrpSpPr>
          <p:cNvPr id="762" name="Google Shape;762;g3a999e66e07_0_19"/>
          <p:cNvGrpSpPr/>
          <p:nvPr/>
        </p:nvGrpSpPr>
        <p:grpSpPr>
          <a:xfrm>
            <a:off x="12" y="8188650"/>
            <a:ext cx="9591806" cy="2098356"/>
            <a:chOff x="0" y="-38100"/>
            <a:chExt cx="3214520" cy="703226"/>
          </a:xfrm>
        </p:grpSpPr>
        <p:sp>
          <p:nvSpPr>
            <p:cNvPr id="763" name="Google Shape;763;g3a999e66e07_0_19"/>
            <p:cNvSpPr/>
            <p:nvPr/>
          </p:nvSpPr>
          <p:spPr>
            <a:xfrm>
              <a:off x="0" y="0"/>
              <a:ext cx="3214520" cy="665126"/>
            </a:xfrm>
            <a:custGeom>
              <a:rect b="b" l="l" r="r" t="t"/>
              <a:pathLst>
                <a:path extrusionOk="0" h="665126" w="3214520">
                  <a:moveTo>
                    <a:pt x="0" y="0"/>
                  </a:moveTo>
                  <a:lnTo>
                    <a:pt x="3214520" y="0"/>
                  </a:lnTo>
                  <a:lnTo>
                    <a:pt x="3214520" y="665126"/>
                  </a:lnTo>
                  <a:lnTo>
                    <a:pt x="0" y="665126"/>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g3a999e66e07_0_19"/>
            <p:cNvSpPr txBox="1"/>
            <p:nvPr/>
          </p:nvSpPr>
          <p:spPr>
            <a:xfrm>
              <a:off x="0" y="-38100"/>
              <a:ext cx="3214500" cy="7032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765" name="Google Shape;765;g3a999e66e07_0_19"/>
          <p:cNvPicPr preferRelativeResize="0"/>
          <p:nvPr/>
        </p:nvPicPr>
        <p:blipFill rotWithShape="1">
          <a:blip r:embed="rId3">
            <a:alphaModFix/>
          </a:blip>
          <a:srcRect b="0" l="0" r="0" t="0"/>
          <a:stretch/>
        </p:blipFill>
        <p:spPr>
          <a:xfrm>
            <a:off x="8406722" y="9532150"/>
            <a:ext cx="7333203" cy="452225"/>
          </a:xfrm>
          <a:prstGeom prst="rect">
            <a:avLst/>
          </a:prstGeom>
          <a:noFill/>
          <a:ln>
            <a:noFill/>
          </a:ln>
        </p:spPr>
      </p:pic>
      <p:grpSp>
        <p:nvGrpSpPr>
          <p:cNvPr id="766" name="Google Shape;766;g3a999e66e07_0_19"/>
          <p:cNvGrpSpPr/>
          <p:nvPr/>
        </p:nvGrpSpPr>
        <p:grpSpPr>
          <a:xfrm>
            <a:off x="0" y="-113687"/>
            <a:ext cx="4724973" cy="1142377"/>
            <a:chOff x="0" y="-38100"/>
            <a:chExt cx="1583489" cy="382847"/>
          </a:xfrm>
        </p:grpSpPr>
        <p:sp>
          <p:nvSpPr>
            <p:cNvPr id="767" name="Google Shape;767;g3a999e66e07_0_19"/>
            <p:cNvSpPr/>
            <p:nvPr/>
          </p:nvSpPr>
          <p:spPr>
            <a:xfrm>
              <a:off x="0" y="0"/>
              <a:ext cx="1583489" cy="344747"/>
            </a:xfrm>
            <a:custGeom>
              <a:rect b="b" l="l" r="r" t="t"/>
              <a:pathLst>
                <a:path extrusionOk="0" h="344747" w="1583489">
                  <a:moveTo>
                    <a:pt x="0" y="0"/>
                  </a:moveTo>
                  <a:lnTo>
                    <a:pt x="1583489" y="0"/>
                  </a:lnTo>
                  <a:lnTo>
                    <a:pt x="1583489" y="344747"/>
                  </a:lnTo>
                  <a:lnTo>
                    <a:pt x="0" y="344747"/>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g3a999e66e07_0_19"/>
            <p:cNvSpPr txBox="1"/>
            <p:nvPr/>
          </p:nvSpPr>
          <p:spPr>
            <a:xfrm>
              <a:off x="0" y="-38100"/>
              <a:ext cx="1583400" cy="3828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769" name="Google Shape;769;g3a999e66e07_0_19"/>
          <p:cNvSpPr txBox="1"/>
          <p:nvPr/>
        </p:nvSpPr>
        <p:spPr>
          <a:xfrm>
            <a:off x="5123152" y="524375"/>
            <a:ext cx="11403900" cy="113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800"/>
              <a:buFont typeface="Arial"/>
              <a:buNone/>
            </a:pPr>
            <a:r>
              <a:rPr b="1" lang="en-US" sz="7400">
                <a:solidFill>
                  <a:schemeClr val="accent5"/>
                </a:solidFill>
                <a:latin typeface="Montserrat"/>
                <a:ea typeface="Montserrat"/>
                <a:cs typeface="Montserrat"/>
                <a:sym typeface="Montserrat"/>
              </a:rPr>
              <a:t>Ứng dụng AI phân tích</a:t>
            </a:r>
            <a:endParaRPr b="0" i="0" sz="100" u="none" cap="none" strike="noStrike">
              <a:solidFill>
                <a:schemeClr val="accent5"/>
              </a:solidFill>
              <a:latin typeface="Arial"/>
              <a:ea typeface="Arial"/>
              <a:cs typeface="Arial"/>
              <a:sym typeface="Arial"/>
            </a:endParaRPr>
          </a:p>
        </p:txBody>
      </p:sp>
      <p:pic>
        <p:nvPicPr>
          <p:cNvPr id="770" name="Google Shape;770;g3a999e66e07_0_19"/>
          <p:cNvPicPr preferRelativeResize="0"/>
          <p:nvPr/>
        </p:nvPicPr>
        <p:blipFill rotWithShape="1">
          <a:blip r:embed="rId4">
            <a:alphaModFix/>
          </a:blip>
          <a:srcRect b="0" l="0" r="0" t="0"/>
          <a:stretch/>
        </p:blipFill>
        <p:spPr>
          <a:xfrm flipH="1">
            <a:off x="819150" y="524365"/>
            <a:ext cx="423675" cy="2905200"/>
          </a:xfrm>
          <a:prstGeom prst="rect">
            <a:avLst/>
          </a:prstGeom>
          <a:noFill/>
          <a:ln>
            <a:noFill/>
          </a:ln>
        </p:spPr>
      </p:pic>
      <p:pic>
        <p:nvPicPr>
          <p:cNvPr id="771" name="Google Shape;771;g3a999e66e07_0_19"/>
          <p:cNvPicPr preferRelativeResize="0"/>
          <p:nvPr/>
        </p:nvPicPr>
        <p:blipFill>
          <a:blip r:embed="rId5">
            <a:alphaModFix/>
          </a:blip>
          <a:stretch>
            <a:fillRect/>
          </a:stretch>
        </p:blipFill>
        <p:spPr>
          <a:xfrm>
            <a:off x="3579200" y="2487625"/>
            <a:ext cx="11129591" cy="622037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grpSp>
        <p:nvGrpSpPr>
          <p:cNvPr id="776" name="Google Shape;776;g3a3d77955e8_0_16"/>
          <p:cNvGrpSpPr/>
          <p:nvPr/>
        </p:nvGrpSpPr>
        <p:grpSpPr>
          <a:xfrm>
            <a:off x="6637004" y="9802720"/>
            <a:ext cx="11650894" cy="887552"/>
            <a:chOff x="0" y="-38100"/>
            <a:chExt cx="3904586" cy="297447"/>
          </a:xfrm>
        </p:grpSpPr>
        <p:sp>
          <p:nvSpPr>
            <p:cNvPr id="777" name="Google Shape;777;g3a3d77955e8_0_16"/>
            <p:cNvSpPr/>
            <p:nvPr/>
          </p:nvSpPr>
          <p:spPr>
            <a:xfrm>
              <a:off x="0" y="0"/>
              <a:ext cx="3904586" cy="259347"/>
            </a:xfrm>
            <a:custGeom>
              <a:rect b="b" l="l" r="r" t="t"/>
              <a:pathLst>
                <a:path extrusionOk="0" h="259347" w="3904586">
                  <a:moveTo>
                    <a:pt x="0" y="0"/>
                  </a:moveTo>
                  <a:lnTo>
                    <a:pt x="3904586" y="0"/>
                  </a:lnTo>
                  <a:lnTo>
                    <a:pt x="3904586" y="259347"/>
                  </a:lnTo>
                  <a:lnTo>
                    <a:pt x="0" y="259347"/>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8" name="Google Shape;778;g3a3d77955e8_0_16"/>
            <p:cNvSpPr txBox="1"/>
            <p:nvPr/>
          </p:nvSpPr>
          <p:spPr>
            <a:xfrm>
              <a:off x="0" y="-38100"/>
              <a:ext cx="3904500" cy="297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779" name="Google Shape;779;g3a3d77955e8_0_16"/>
          <p:cNvPicPr preferRelativeResize="0"/>
          <p:nvPr/>
        </p:nvPicPr>
        <p:blipFill rotWithShape="1">
          <a:blip r:embed="rId3">
            <a:alphaModFix/>
          </a:blip>
          <a:srcRect b="0" l="0" r="0" t="0"/>
          <a:stretch/>
        </p:blipFill>
        <p:spPr>
          <a:xfrm>
            <a:off x="5891775" y="9696640"/>
            <a:ext cx="7332975" cy="452200"/>
          </a:xfrm>
          <a:prstGeom prst="rect">
            <a:avLst/>
          </a:prstGeom>
          <a:noFill/>
          <a:ln>
            <a:noFill/>
          </a:ln>
        </p:spPr>
      </p:pic>
      <p:pic>
        <p:nvPicPr>
          <p:cNvPr id="780" name="Google Shape;780;g3a3d77955e8_0_16"/>
          <p:cNvPicPr preferRelativeResize="0"/>
          <p:nvPr/>
        </p:nvPicPr>
        <p:blipFill rotWithShape="1">
          <a:blip r:embed="rId4">
            <a:alphaModFix/>
          </a:blip>
          <a:srcRect b="0" l="0" r="0" t="0"/>
          <a:stretch/>
        </p:blipFill>
        <p:spPr>
          <a:xfrm>
            <a:off x="-200150" y="9225993"/>
            <a:ext cx="1028675" cy="1077350"/>
          </a:xfrm>
          <a:prstGeom prst="rect">
            <a:avLst/>
          </a:prstGeom>
          <a:noFill/>
          <a:ln>
            <a:noFill/>
          </a:ln>
        </p:spPr>
      </p:pic>
      <p:sp>
        <p:nvSpPr>
          <p:cNvPr id="781" name="Google Shape;781;g3a3d77955e8_0_16"/>
          <p:cNvSpPr txBox="1"/>
          <p:nvPr/>
        </p:nvSpPr>
        <p:spPr>
          <a:xfrm>
            <a:off x="3025913" y="711000"/>
            <a:ext cx="13064700" cy="585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200"/>
              <a:buFont typeface="Arial"/>
              <a:buNone/>
            </a:pPr>
            <a:r>
              <a:rPr b="1" lang="en-US" sz="3800">
                <a:solidFill>
                  <a:schemeClr val="dk2"/>
                </a:solidFill>
                <a:latin typeface="Montserrat"/>
                <a:ea typeface="Montserrat"/>
                <a:cs typeface="Montserrat"/>
                <a:sym typeface="Montserrat"/>
              </a:rPr>
              <a:t>Tổng quát KPI Dashboard</a:t>
            </a:r>
            <a:endParaRPr sz="3800"/>
          </a:p>
        </p:txBody>
      </p:sp>
      <p:pic>
        <p:nvPicPr>
          <p:cNvPr id="782" name="Google Shape;782;g3a3d77955e8_0_16"/>
          <p:cNvPicPr preferRelativeResize="0"/>
          <p:nvPr/>
        </p:nvPicPr>
        <p:blipFill>
          <a:blip r:embed="rId5">
            <a:alphaModFix/>
          </a:blip>
          <a:stretch>
            <a:fillRect/>
          </a:stretch>
        </p:blipFill>
        <p:spPr>
          <a:xfrm>
            <a:off x="3133663" y="1448400"/>
            <a:ext cx="12849225" cy="7038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81"/>
                                        </p:tgtEl>
                                        <p:attrNameLst>
                                          <p:attrName>style.visibility</p:attrName>
                                        </p:attrNameLst>
                                      </p:cBhvr>
                                      <p:to>
                                        <p:strVal val="visible"/>
                                      </p:to>
                                    </p:set>
                                    <p:anim calcmode="lin" valueType="num">
                                      <p:cBhvr additive="base">
                                        <p:cTn dur="500"/>
                                        <p:tgtEl>
                                          <p:spTgt spid="781"/>
                                        </p:tgtEl>
                                        <p:attrNameLst>
                                          <p:attrName>ppt_w</p:attrName>
                                        </p:attrNameLst>
                                      </p:cBhvr>
                                      <p:tavLst>
                                        <p:tav fmla="" tm="0">
                                          <p:val>
                                            <p:strVal val="0"/>
                                          </p:val>
                                        </p:tav>
                                        <p:tav fmla="" tm="100000">
                                          <p:val>
                                            <p:strVal val="#ppt_w"/>
                                          </p:val>
                                        </p:tav>
                                      </p:tavLst>
                                    </p:anim>
                                    <p:anim calcmode="lin" valueType="num">
                                      <p:cBhvr additive="base">
                                        <p:cTn dur="500"/>
                                        <p:tgtEl>
                                          <p:spTgt spid="78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9"/>
          <p:cNvSpPr/>
          <p:nvPr/>
        </p:nvSpPr>
        <p:spPr>
          <a:xfrm>
            <a:off x="1164350" y="4745930"/>
            <a:ext cx="9518889" cy="3593871"/>
          </a:xfrm>
          <a:custGeom>
            <a:rect b="b" l="l" r="r" t="t"/>
            <a:pathLst>
              <a:path extrusionOk="0" h="394858" w="2738364">
                <a:moveTo>
                  <a:pt x="9475" y="0"/>
                </a:moveTo>
                <a:lnTo>
                  <a:pt x="2728889" y="0"/>
                </a:lnTo>
                <a:cubicBezTo>
                  <a:pt x="2731402" y="0"/>
                  <a:pt x="2733812" y="998"/>
                  <a:pt x="2735589" y="2775"/>
                </a:cubicBezTo>
                <a:cubicBezTo>
                  <a:pt x="2737366" y="4552"/>
                  <a:pt x="2738364" y="6962"/>
                  <a:pt x="2738364" y="9475"/>
                </a:cubicBezTo>
                <a:lnTo>
                  <a:pt x="2738364" y="385384"/>
                </a:lnTo>
                <a:cubicBezTo>
                  <a:pt x="2738364" y="387897"/>
                  <a:pt x="2737366" y="390307"/>
                  <a:pt x="2735589" y="392083"/>
                </a:cubicBezTo>
                <a:cubicBezTo>
                  <a:pt x="2733812" y="393860"/>
                  <a:pt x="2731402" y="394858"/>
                  <a:pt x="2728889" y="394858"/>
                </a:cubicBezTo>
                <a:lnTo>
                  <a:pt x="9475" y="394858"/>
                </a:lnTo>
                <a:cubicBezTo>
                  <a:pt x="4242" y="394858"/>
                  <a:pt x="0" y="390616"/>
                  <a:pt x="0" y="385384"/>
                </a:cubicBezTo>
                <a:lnTo>
                  <a:pt x="0" y="9475"/>
                </a:lnTo>
                <a:cubicBezTo>
                  <a:pt x="0" y="6962"/>
                  <a:pt x="998" y="4552"/>
                  <a:pt x="2775" y="2775"/>
                </a:cubicBezTo>
                <a:cubicBezTo>
                  <a:pt x="4552" y="998"/>
                  <a:pt x="6962" y="0"/>
                  <a:pt x="9475" y="0"/>
                </a:cubicBezTo>
                <a:close/>
              </a:path>
            </a:pathLst>
          </a:custGeom>
          <a:noFill/>
          <a:ln cap="sq" cmpd="sng" w="3810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88" name="Google Shape;788;p19"/>
          <p:cNvGrpSpPr/>
          <p:nvPr/>
        </p:nvGrpSpPr>
        <p:grpSpPr>
          <a:xfrm>
            <a:off x="0" y="9590368"/>
            <a:ext cx="18447701" cy="696632"/>
            <a:chOff x="0" y="-38100"/>
            <a:chExt cx="6182359" cy="233461"/>
          </a:xfrm>
        </p:grpSpPr>
        <p:sp>
          <p:nvSpPr>
            <p:cNvPr id="789" name="Google Shape;789;p19"/>
            <p:cNvSpPr/>
            <p:nvPr/>
          </p:nvSpPr>
          <p:spPr>
            <a:xfrm>
              <a:off x="0" y="0"/>
              <a:ext cx="6182359" cy="195361"/>
            </a:xfrm>
            <a:custGeom>
              <a:rect b="b" l="l" r="r" t="t"/>
              <a:pathLst>
                <a:path extrusionOk="0" h="195361" w="6182359">
                  <a:moveTo>
                    <a:pt x="0" y="0"/>
                  </a:moveTo>
                  <a:lnTo>
                    <a:pt x="6182359" y="0"/>
                  </a:lnTo>
                  <a:lnTo>
                    <a:pt x="6182359" y="195361"/>
                  </a:lnTo>
                  <a:lnTo>
                    <a:pt x="0" y="195361"/>
                  </a:lnTo>
                  <a:close/>
                </a:path>
              </a:pathLst>
            </a:custGeom>
            <a:solidFill>
              <a:srgbClr val="F757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0" name="Google Shape;790;p19"/>
            <p:cNvSpPr txBox="1"/>
            <p:nvPr/>
          </p:nvSpPr>
          <p:spPr>
            <a:xfrm>
              <a:off x="0" y="-38100"/>
              <a:ext cx="6182359" cy="23346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91" name="Google Shape;791;p19"/>
          <p:cNvSpPr txBox="1"/>
          <p:nvPr/>
        </p:nvSpPr>
        <p:spPr>
          <a:xfrm>
            <a:off x="1083622" y="1832287"/>
            <a:ext cx="9599618" cy="21544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0"/>
              <a:buFont typeface="Arial"/>
              <a:buNone/>
            </a:pPr>
            <a:r>
              <a:rPr b="1" i="0" lang="en-US" sz="7000" u="none" cap="none" strike="noStrike">
                <a:solidFill>
                  <a:schemeClr val="accent2"/>
                </a:solidFill>
                <a:latin typeface="Montserrat"/>
                <a:ea typeface="Montserrat"/>
                <a:cs typeface="Montserrat"/>
                <a:sym typeface="Montserrat"/>
              </a:rPr>
              <a:t>CẢM ƠN</a:t>
            </a:r>
            <a:br>
              <a:rPr b="1" i="0" lang="en-US" sz="7000" u="none" cap="none" strike="noStrike">
                <a:solidFill>
                  <a:schemeClr val="accent2"/>
                </a:solidFill>
                <a:latin typeface="Montserrat"/>
                <a:ea typeface="Montserrat"/>
                <a:cs typeface="Montserrat"/>
                <a:sym typeface="Montserrat"/>
              </a:rPr>
            </a:br>
            <a:r>
              <a:rPr b="1" i="0" lang="en-US" sz="7000" u="none" cap="none" strike="noStrike">
                <a:solidFill>
                  <a:schemeClr val="accent2"/>
                </a:solidFill>
                <a:latin typeface="Montserrat"/>
                <a:ea typeface="Montserrat"/>
                <a:cs typeface="Montserrat"/>
                <a:sym typeface="Montserrat"/>
              </a:rPr>
              <a:t>ĐÃ ĐÓN XEM!</a:t>
            </a:r>
            <a:endParaRPr b="0" i="0" sz="7000" u="none" cap="none" strike="noStrike">
              <a:solidFill>
                <a:schemeClr val="accent2"/>
              </a:solidFill>
              <a:latin typeface="Arial"/>
              <a:ea typeface="Arial"/>
              <a:cs typeface="Arial"/>
              <a:sym typeface="Arial"/>
            </a:endParaRPr>
          </a:p>
        </p:txBody>
      </p:sp>
      <p:sp>
        <p:nvSpPr>
          <p:cNvPr id="792" name="Google Shape;792;p19"/>
          <p:cNvSpPr txBox="1"/>
          <p:nvPr/>
        </p:nvSpPr>
        <p:spPr>
          <a:xfrm>
            <a:off x="1790345" y="5027820"/>
            <a:ext cx="7787700" cy="2709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000" u="none" cap="none" strike="noStrike">
                <a:solidFill>
                  <a:schemeClr val="accent5"/>
                </a:solidFill>
                <a:latin typeface="Montserrat"/>
                <a:ea typeface="Montserrat"/>
                <a:cs typeface="Montserrat"/>
                <a:sym typeface="Montserrat"/>
              </a:rPr>
              <a:t>NHÓM </a:t>
            </a:r>
            <a:r>
              <a:rPr b="1" lang="en-US" sz="4000">
                <a:solidFill>
                  <a:schemeClr val="accent5"/>
                </a:solidFill>
                <a:latin typeface="Montserrat"/>
                <a:ea typeface="Montserrat"/>
                <a:cs typeface="Montserrat"/>
                <a:sym typeface="Montserrat"/>
              </a:rPr>
              <a:t>08</a:t>
            </a:r>
            <a:endParaRPr/>
          </a:p>
          <a:p>
            <a:pPr indent="0" lvl="0" marL="0" marR="0" rtl="0" algn="l">
              <a:lnSpc>
                <a:spcPct val="100000"/>
              </a:lnSpc>
              <a:spcBef>
                <a:spcPts val="600"/>
              </a:spcBef>
              <a:spcAft>
                <a:spcPts val="0"/>
              </a:spcAft>
              <a:buNone/>
            </a:pPr>
            <a:r>
              <a:rPr b="0" i="0" lang="en-US" sz="3000" u="none" cap="none" strike="noStrike">
                <a:solidFill>
                  <a:schemeClr val="accent5"/>
                </a:solidFill>
                <a:latin typeface="Montserrat"/>
                <a:ea typeface="Montserrat"/>
                <a:cs typeface="Montserrat"/>
                <a:sym typeface="Montserrat"/>
              </a:rPr>
              <a:t>2212</a:t>
            </a:r>
            <a:r>
              <a:rPr lang="en-US" sz="3000">
                <a:solidFill>
                  <a:schemeClr val="accent5"/>
                </a:solidFill>
                <a:latin typeface="Montserrat"/>
                <a:ea typeface="Montserrat"/>
                <a:cs typeface="Montserrat"/>
                <a:sym typeface="Montserrat"/>
              </a:rPr>
              <a:t>7368</a:t>
            </a:r>
            <a:r>
              <a:rPr b="0" i="0" lang="en-US" sz="3000" u="none" cap="none" strike="noStrike">
                <a:solidFill>
                  <a:schemeClr val="accent5"/>
                </a:solidFill>
                <a:latin typeface="Montserrat"/>
                <a:ea typeface="Montserrat"/>
                <a:cs typeface="Montserrat"/>
                <a:sym typeface="Montserrat"/>
              </a:rPr>
              <a:t> – </a:t>
            </a:r>
            <a:r>
              <a:rPr lang="en-US" sz="3000">
                <a:solidFill>
                  <a:schemeClr val="accent5"/>
                </a:solidFill>
                <a:latin typeface="Montserrat"/>
                <a:ea typeface="Montserrat"/>
                <a:cs typeface="Montserrat"/>
                <a:sym typeface="Montserrat"/>
              </a:rPr>
              <a:t>Nguyễn Minh Sơn</a:t>
            </a:r>
            <a:endParaRPr b="0" i="0" sz="3000" u="none" cap="none" strike="noStrike">
              <a:solidFill>
                <a:schemeClr val="accent5"/>
              </a:solidFill>
              <a:latin typeface="Montserrat"/>
              <a:ea typeface="Montserrat"/>
              <a:cs typeface="Montserrat"/>
              <a:sym typeface="Montserrat"/>
            </a:endParaRPr>
          </a:p>
          <a:p>
            <a:pPr indent="0" lvl="0" marL="0" marR="0" rtl="0" algn="l">
              <a:lnSpc>
                <a:spcPct val="100000"/>
              </a:lnSpc>
              <a:spcBef>
                <a:spcPts val="0"/>
              </a:spcBef>
              <a:spcAft>
                <a:spcPts val="0"/>
              </a:spcAft>
              <a:buNone/>
            </a:pPr>
            <a:r>
              <a:rPr b="0" i="0" lang="en-US" sz="3000" u="none" cap="none" strike="noStrike">
                <a:solidFill>
                  <a:schemeClr val="accent5"/>
                </a:solidFill>
                <a:latin typeface="Montserrat"/>
                <a:ea typeface="Montserrat"/>
                <a:cs typeface="Montserrat"/>
                <a:sym typeface="Montserrat"/>
              </a:rPr>
              <a:t>2212</a:t>
            </a:r>
            <a:r>
              <a:rPr lang="en-US" sz="3000">
                <a:solidFill>
                  <a:schemeClr val="accent5"/>
                </a:solidFill>
                <a:latin typeface="Montserrat"/>
                <a:ea typeface="Montserrat"/>
                <a:cs typeface="Montserrat"/>
                <a:sym typeface="Montserrat"/>
              </a:rPr>
              <a:t>7162</a:t>
            </a:r>
            <a:r>
              <a:rPr b="0" i="0" lang="en-US" sz="3000" u="none" cap="none" strike="noStrike">
                <a:solidFill>
                  <a:schemeClr val="accent5"/>
                </a:solidFill>
                <a:latin typeface="Montserrat"/>
                <a:ea typeface="Montserrat"/>
                <a:cs typeface="Montserrat"/>
                <a:sym typeface="Montserrat"/>
              </a:rPr>
              <a:t> – Phan Th</a:t>
            </a:r>
            <a:r>
              <a:rPr lang="en-US" sz="3000">
                <a:solidFill>
                  <a:schemeClr val="accent5"/>
                </a:solidFill>
                <a:latin typeface="Montserrat"/>
                <a:ea typeface="Montserrat"/>
                <a:cs typeface="Montserrat"/>
                <a:sym typeface="Montserrat"/>
              </a:rPr>
              <a:t>ành Quang Huy</a:t>
            </a:r>
            <a:endParaRPr/>
          </a:p>
          <a:p>
            <a:pPr indent="0" lvl="0" marL="0" marR="0" rtl="0" algn="l">
              <a:lnSpc>
                <a:spcPct val="100000"/>
              </a:lnSpc>
              <a:spcBef>
                <a:spcPts val="0"/>
              </a:spcBef>
              <a:spcAft>
                <a:spcPts val="0"/>
              </a:spcAft>
              <a:buNone/>
            </a:pPr>
            <a:r>
              <a:rPr b="0" i="0" lang="en-US" sz="3000" u="none" cap="none" strike="noStrike">
                <a:solidFill>
                  <a:schemeClr val="accent5"/>
                </a:solidFill>
                <a:latin typeface="Montserrat"/>
                <a:ea typeface="Montserrat"/>
                <a:cs typeface="Montserrat"/>
                <a:sym typeface="Montserrat"/>
              </a:rPr>
              <a:t>22127163 – Trần Đan Huy</a:t>
            </a:r>
            <a:endParaRPr/>
          </a:p>
          <a:p>
            <a:pPr indent="0" lvl="0" marL="0" marR="0" rtl="0" algn="l">
              <a:lnSpc>
                <a:spcPct val="100000"/>
              </a:lnSpc>
              <a:spcBef>
                <a:spcPts val="0"/>
              </a:spcBef>
              <a:spcAft>
                <a:spcPts val="0"/>
              </a:spcAft>
              <a:buNone/>
            </a:pPr>
            <a:r>
              <a:rPr b="0" i="0" lang="en-US" sz="3000" u="none" cap="none" strike="noStrike">
                <a:solidFill>
                  <a:schemeClr val="accent5"/>
                </a:solidFill>
                <a:latin typeface="Montserrat"/>
                <a:ea typeface="Montserrat"/>
                <a:cs typeface="Montserrat"/>
                <a:sym typeface="Montserrat"/>
              </a:rPr>
              <a:t>22127009 – Đinh Gia Hội Anh</a:t>
            </a: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accent5"/>
              </a:solidFill>
              <a:latin typeface="Montserrat"/>
              <a:ea typeface="Montserrat"/>
              <a:cs typeface="Montserrat"/>
              <a:sym typeface="Montserrat"/>
            </a:endParaRPr>
          </a:p>
        </p:txBody>
      </p:sp>
      <p:pic>
        <p:nvPicPr>
          <p:cNvPr id="793" name="Google Shape;793;p19"/>
          <p:cNvPicPr preferRelativeResize="0"/>
          <p:nvPr/>
        </p:nvPicPr>
        <p:blipFill rotWithShape="1">
          <a:blip r:embed="rId3">
            <a:alphaModFix/>
          </a:blip>
          <a:srcRect b="0" l="0" r="0" t="0"/>
          <a:stretch/>
        </p:blipFill>
        <p:spPr>
          <a:xfrm>
            <a:off x="-229530" y="-259809"/>
            <a:ext cx="2019875" cy="1145708"/>
          </a:xfrm>
          <a:prstGeom prst="rect">
            <a:avLst/>
          </a:prstGeom>
          <a:noFill/>
          <a:ln>
            <a:noFill/>
          </a:ln>
        </p:spPr>
      </p:pic>
      <p:pic>
        <p:nvPicPr>
          <p:cNvPr id="794" name="Google Shape;794;p19"/>
          <p:cNvPicPr preferRelativeResize="0"/>
          <p:nvPr/>
        </p:nvPicPr>
        <p:blipFill rotWithShape="1">
          <a:blip r:embed="rId4">
            <a:alphaModFix/>
          </a:blip>
          <a:srcRect b="0" l="0" r="0" t="0"/>
          <a:stretch/>
        </p:blipFill>
        <p:spPr>
          <a:xfrm>
            <a:off x="8396138" y="4451059"/>
            <a:ext cx="2009743" cy="510025"/>
          </a:xfrm>
          <a:prstGeom prst="rect">
            <a:avLst/>
          </a:prstGeom>
          <a:noFill/>
          <a:ln>
            <a:noFill/>
          </a:ln>
        </p:spPr>
      </p:pic>
      <p:grpSp>
        <p:nvGrpSpPr>
          <p:cNvPr descr="Database with solid fill" id="795" name="Google Shape;795;p19"/>
          <p:cNvGrpSpPr/>
          <p:nvPr/>
        </p:nvGrpSpPr>
        <p:grpSpPr>
          <a:xfrm>
            <a:off x="12234132" y="2707010"/>
            <a:ext cx="4621010" cy="6271372"/>
            <a:chOff x="12176329" y="2497375"/>
            <a:chExt cx="4621010" cy="6271372"/>
          </a:xfrm>
        </p:grpSpPr>
        <p:sp>
          <p:nvSpPr>
            <p:cNvPr id="796" name="Google Shape;796;p19"/>
            <p:cNvSpPr/>
            <p:nvPr/>
          </p:nvSpPr>
          <p:spPr>
            <a:xfrm>
              <a:off x="12176329" y="2497375"/>
              <a:ext cx="4621010" cy="1320288"/>
            </a:xfrm>
            <a:custGeom>
              <a:rect b="b" l="l" r="r" t="t"/>
              <a:pathLst>
                <a:path extrusionOk="0" h="1320288" w="4621010">
                  <a:moveTo>
                    <a:pt x="4621011" y="660144"/>
                  </a:moveTo>
                  <a:cubicBezTo>
                    <a:pt x="4621011" y="1024732"/>
                    <a:pt x="3586563" y="1320289"/>
                    <a:pt x="2310506" y="1320289"/>
                  </a:cubicBezTo>
                  <a:cubicBezTo>
                    <a:pt x="1034448" y="1320289"/>
                    <a:pt x="0" y="1024732"/>
                    <a:pt x="0" y="660144"/>
                  </a:cubicBezTo>
                  <a:cubicBezTo>
                    <a:pt x="0" y="295557"/>
                    <a:pt x="1034448" y="0"/>
                    <a:pt x="2310506" y="0"/>
                  </a:cubicBezTo>
                  <a:cubicBezTo>
                    <a:pt x="3586563" y="0"/>
                    <a:pt x="4621011" y="295557"/>
                    <a:pt x="4621011" y="6601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7" name="Google Shape;797;p19"/>
            <p:cNvSpPr/>
            <p:nvPr/>
          </p:nvSpPr>
          <p:spPr>
            <a:xfrm>
              <a:off x="12176329" y="3487592"/>
              <a:ext cx="4621010" cy="1980433"/>
            </a:xfrm>
            <a:custGeom>
              <a:rect b="b" l="l" r="r" t="t"/>
              <a:pathLst>
                <a:path extrusionOk="0" h="1980433" w="4621010">
                  <a:moveTo>
                    <a:pt x="3960867" y="1320289"/>
                  </a:moveTo>
                  <a:cubicBezTo>
                    <a:pt x="3861845" y="1320289"/>
                    <a:pt x="3795831" y="1254275"/>
                    <a:pt x="3795831" y="1155253"/>
                  </a:cubicBezTo>
                  <a:cubicBezTo>
                    <a:pt x="3795831" y="1056231"/>
                    <a:pt x="3861845" y="990217"/>
                    <a:pt x="3960867" y="990217"/>
                  </a:cubicBezTo>
                  <a:cubicBezTo>
                    <a:pt x="4059888" y="990217"/>
                    <a:pt x="4125903" y="1056231"/>
                    <a:pt x="4125903" y="1155253"/>
                  </a:cubicBezTo>
                  <a:cubicBezTo>
                    <a:pt x="4125903" y="1254275"/>
                    <a:pt x="4059888" y="1320289"/>
                    <a:pt x="3960867" y="1320289"/>
                  </a:cubicBezTo>
                  <a:close/>
                  <a:moveTo>
                    <a:pt x="2310506" y="660144"/>
                  </a:moveTo>
                  <a:cubicBezTo>
                    <a:pt x="1039727" y="660144"/>
                    <a:pt x="0" y="363079"/>
                    <a:pt x="0" y="0"/>
                  </a:cubicBezTo>
                  <a:lnTo>
                    <a:pt x="0" y="1320289"/>
                  </a:lnTo>
                  <a:cubicBezTo>
                    <a:pt x="0" y="1683368"/>
                    <a:pt x="1039727" y="1980433"/>
                    <a:pt x="2310506" y="1980433"/>
                  </a:cubicBezTo>
                  <a:cubicBezTo>
                    <a:pt x="3581284" y="1980433"/>
                    <a:pt x="4621011" y="1683368"/>
                    <a:pt x="4621011" y="1320289"/>
                  </a:cubicBezTo>
                  <a:lnTo>
                    <a:pt x="4621011" y="0"/>
                  </a:lnTo>
                  <a:cubicBezTo>
                    <a:pt x="4621011" y="363079"/>
                    <a:pt x="3581284" y="660144"/>
                    <a:pt x="2310506" y="66014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8" name="Google Shape;798;p19"/>
            <p:cNvSpPr/>
            <p:nvPr/>
          </p:nvSpPr>
          <p:spPr>
            <a:xfrm>
              <a:off x="12176329" y="5137953"/>
              <a:ext cx="4621010" cy="1980433"/>
            </a:xfrm>
            <a:custGeom>
              <a:rect b="b" l="l" r="r" t="t"/>
              <a:pathLst>
                <a:path extrusionOk="0" h="1980433" w="4621010">
                  <a:moveTo>
                    <a:pt x="3960867" y="1320289"/>
                  </a:moveTo>
                  <a:cubicBezTo>
                    <a:pt x="3861845" y="1320289"/>
                    <a:pt x="3795831" y="1254275"/>
                    <a:pt x="3795831" y="1155253"/>
                  </a:cubicBezTo>
                  <a:cubicBezTo>
                    <a:pt x="3795831" y="1056231"/>
                    <a:pt x="3861845" y="990217"/>
                    <a:pt x="3960867" y="990217"/>
                  </a:cubicBezTo>
                  <a:cubicBezTo>
                    <a:pt x="4059888" y="990217"/>
                    <a:pt x="4125903" y="1056231"/>
                    <a:pt x="4125903" y="1155253"/>
                  </a:cubicBezTo>
                  <a:cubicBezTo>
                    <a:pt x="4125903" y="1254275"/>
                    <a:pt x="4059888" y="1320289"/>
                    <a:pt x="3960867" y="1320289"/>
                  </a:cubicBezTo>
                  <a:close/>
                  <a:moveTo>
                    <a:pt x="2310506" y="660144"/>
                  </a:moveTo>
                  <a:cubicBezTo>
                    <a:pt x="1039727" y="660144"/>
                    <a:pt x="0" y="363080"/>
                    <a:pt x="0" y="0"/>
                  </a:cubicBezTo>
                  <a:lnTo>
                    <a:pt x="0" y="1320289"/>
                  </a:lnTo>
                  <a:cubicBezTo>
                    <a:pt x="0" y="1683368"/>
                    <a:pt x="1039727" y="1980433"/>
                    <a:pt x="2310506" y="1980433"/>
                  </a:cubicBezTo>
                  <a:cubicBezTo>
                    <a:pt x="3581284" y="1980433"/>
                    <a:pt x="4621011" y="1683368"/>
                    <a:pt x="4621011" y="1320289"/>
                  </a:cubicBezTo>
                  <a:lnTo>
                    <a:pt x="4621011" y="0"/>
                  </a:lnTo>
                  <a:cubicBezTo>
                    <a:pt x="4621011" y="363080"/>
                    <a:pt x="3581284" y="660144"/>
                    <a:pt x="2310506" y="6601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9" name="Google Shape;799;p19"/>
            <p:cNvSpPr/>
            <p:nvPr/>
          </p:nvSpPr>
          <p:spPr>
            <a:xfrm>
              <a:off x="12176329" y="6788314"/>
              <a:ext cx="4621010" cy="1980433"/>
            </a:xfrm>
            <a:custGeom>
              <a:rect b="b" l="l" r="r" t="t"/>
              <a:pathLst>
                <a:path extrusionOk="0" h="1980433" w="4621010">
                  <a:moveTo>
                    <a:pt x="3960867" y="1320289"/>
                  </a:moveTo>
                  <a:cubicBezTo>
                    <a:pt x="3861845" y="1320289"/>
                    <a:pt x="3795831" y="1254274"/>
                    <a:pt x="3795831" y="1155253"/>
                  </a:cubicBezTo>
                  <a:cubicBezTo>
                    <a:pt x="3795831" y="1056231"/>
                    <a:pt x="3861845" y="990217"/>
                    <a:pt x="3960867" y="990217"/>
                  </a:cubicBezTo>
                  <a:cubicBezTo>
                    <a:pt x="4059888" y="990217"/>
                    <a:pt x="4125903" y="1056231"/>
                    <a:pt x="4125903" y="1155253"/>
                  </a:cubicBezTo>
                  <a:cubicBezTo>
                    <a:pt x="4125903" y="1254274"/>
                    <a:pt x="4059888" y="1320289"/>
                    <a:pt x="3960867" y="1320289"/>
                  </a:cubicBezTo>
                  <a:close/>
                  <a:moveTo>
                    <a:pt x="2310506" y="660144"/>
                  </a:moveTo>
                  <a:cubicBezTo>
                    <a:pt x="1039727" y="660144"/>
                    <a:pt x="0" y="363080"/>
                    <a:pt x="0" y="0"/>
                  </a:cubicBezTo>
                  <a:lnTo>
                    <a:pt x="0" y="1320289"/>
                  </a:lnTo>
                  <a:cubicBezTo>
                    <a:pt x="0" y="1683368"/>
                    <a:pt x="1039727" y="1980433"/>
                    <a:pt x="2310506" y="1980433"/>
                  </a:cubicBezTo>
                  <a:cubicBezTo>
                    <a:pt x="3581284" y="1980433"/>
                    <a:pt x="4621011" y="1683368"/>
                    <a:pt x="4621011" y="1320289"/>
                  </a:cubicBezTo>
                  <a:lnTo>
                    <a:pt x="4621011" y="0"/>
                  </a:lnTo>
                  <a:cubicBezTo>
                    <a:pt x="4621011" y="363080"/>
                    <a:pt x="3581284" y="660144"/>
                    <a:pt x="2310506" y="660144"/>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800" name="Google Shape;800;p19"/>
          <p:cNvGrpSpPr/>
          <p:nvPr/>
        </p:nvGrpSpPr>
        <p:grpSpPr>
          <a:xfrm>
            <a:off x="15262584" y="-312204"/>
            <a:ext cx="3185117" cy="1225076"/>
            <a:chOff x="0" y="-38100"/>
            <a:chExt cx="1404154" cy="540073"/>
          </a:xfrm>
        </p:grpSpPr>
        <p:sp>
          <p:nvSpPr>
            <p:cNvPr id="801" name="Google Shape;801;p19"/>
            <p:cNvSpPr/>
            <p:nvPr/>
          </p:nvSpPr>
          <p:spPr>
            <a:xfrm>
              <a:off x="0" y="0"/>
              <a:ext cx="1404154" cy="501973"/>
            </a:xfrm>
            <a:custGeom>
              <a:rect b="b" l="l" r="r" t="t"/>
              <a:pathLst>
                <a:path extrusionOk="0" h="501973" w="1404154">
                  <a:moveTo>
                    <a:pt x="0" y="0"/>
                  </a:moveTo>
                  <a:lnTo>
                    <a:pt x="1404154" y="0"/>
                  </a:lnTo>
                  <a:lnTo>
                    <a:pt x="1404154" y="501973"/>
                  </a:lnTo>
                  <a:lnTo>
                    <a:pt x="0" y="501973"/>
                  </a:lnTo>
                  <a:close/>
                </a:path>
              </a:pathLst>
            </a:custGeom>
            <a:solidFill>
              <a:srgbClr val="3E5B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2" name="Google Shape;802;p19"/>
            <p:cNvSpPr txBox="1"/>
            <p:nvPr/>
          </p:nvSpPr>
          <p:spPr>
            <a:xfrm>
              <a:off x="0" y="-38100"/>
              <a:ext cx="1404154" cy="5400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03" name="Google Shape;803;p19"/>
          <p:cNvGrpSpPr/>
          <p:nvPr/>
        </p:nvGrpSpPr>
        <p:grpSpPr>
          <a:xfrm>
            <a:off x="14953608" y="313045"/>
            <a:ext cx="3185117" cy="772224"/>
            <a:chOff x="0" y="-38100"/>
            <a:chExt cx="1404154" cy="340434"/>
          </a:xfrm>
        </p:grpSpPr>
        <p:sp>
          <p:nvSpPr>
            <p:cNvPr id="804" name="Google Shape;804;p19"/>
            <p:cNvSpPr/>
            <p:nvPr/>
          </p:nvSpPr>
          <p:spPr>
            <a:xfrm>
              <a:off x="0" y="0"/>
              <a:ext cx="1404154" cy="302334"/>
            </a:xfrm>
            <a:custGeom>
              <a:rect b="b" l="l" r="r" t="t"/>
              <a:pathLst>
                <a:path extrusionOk="0" h="302334" w="1404154">
                  <a:moveTo>
                    <a:pt x="0" y="0"/>
                  </a:moveTo>
                  <a:lnTo>
                    <a:pt x="1404154" y="0"/>
                  </a:lnTo>
                  <a:lnTo>
                    <a:pt x="1404154" y="302334"/>
                  </a:lnTo>
                  <a:lnTo>
                    <a:pt x="0" y="302334"/>
                  </a:lnTo>
                  <a:close/>
                </a:path>
              </a:pathLst>
            </a:custGeom>
            <a:solidFill>
              <a:srgbClr val="000000">
                <a:alpha val="0"/>
              </a:srgbClr>
            </a:solidFill>
            <a:ln cap="sq" cmpd="sng" w="38100">
              <a:solidFill>
                <a:srgbClr val="3E5BB2"/>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5" name="Google Shape;805;p19"/>
            <p:cNvSpPr txBox="1"/>
            <p:nvPr/>
          </p:nvSpPr>
          <p:spPr>
            <a:xfrm>
              <a:off x="0" y="-38100"/>
              <a:ext cx="1404154" cy="340434"/>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806" name="Google Shape;806;p19"/>
          <p:cNvPicPr preferRelativeResize="0"/>
          <p:nvPr/>
        </p:nvPicPr>
        <p:blipFill rotWithShape="1">
          <a:blip r:embed="rId5">
            <a:alphaModFix/>
          </a:blip>
          <a:srcRect b="0" l="0" r="0" t="0"/>
          <a:stretch/>
        </p:blipFill>
        <p:spPr>
          <a:xfrm>
            <a:off x="952512" y="5671666"/>
            <a:ext cx="423675" cy="2905200"/>
          </a:xfrm>
          <a:prstGeom prst="rect">
            <a:avLst/>
          </a:prstGeom>
          <a:noFill/>
          <a:ln>
            <a:noFill/>
          </a:ln>
        </p:spPr>
      </p:pic>
    </p:spTree>
  </p:cSld>
  <p:clrMapOvr>
    <a:masterClrMapping/>
  </p:clrMapOvr>
  <mc:AlternateContent>
    <mc:Choice Requires="p14">
      <p:transition spd="slow" p14:dur="900">
        <p14:flythrough dir="out" hasBounce="1"/>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3E5BB2"/>
      </a:dk2>
      <a:lt2>
        <a:srgbClr val="100F0D"/>
      </a:lt2>
      <a:accent1>
        <a:srgbClr val="FBF4E9"/>
      </a:accent1>
      <a:accent2>
        <a:srgbClr val="F7574B"/>
      </a:accent2>
      <a:accent3>
        <a:srgbClr val="888888"/>
      </a:accent3>
      <a:accent4>
        <a:srgbClr val="FFFFFF"/>
      </a:accent4>
      <a:accent5>
        <a:srgbClr val="3E5BB2"/>
      </a:accent5>
      <a:accent6>
        <a:srgbClr val="100F0D"/>
      </a:accent6>
      <a:hlink>
        <a:srgbClr val="FBF4E9"/>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3E5BB2"/>
      </a:dk2>
      <a:lt2>
        <a:srgbClr val="100F0D"/>
      </a:lt2>
      <a:accent1>
        <a:srgbClr val="FBF4E9"/>
      </a:accent1>
      <a:accent2>
        <a:srgbClr val="F7574B"/>
      </a:accent2>
      <a:accent3>
        <a:srgbClr val="888888"/>
      </a:accent3>
      <a:accent4>
        <a:srgbClr val="FFFFFF"/>
      </a:accent4>
      <a:accent5>
        <a:srgbClr val="3E5BB2"/>
      </a:accent5>
      <a:accent6>
        <a:srgbClr val="100F0D"/>
      </a:accent6>
      <a:hlink>
        <a:srgbClr val="FBF4E9"/>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